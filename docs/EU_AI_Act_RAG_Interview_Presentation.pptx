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suggested explanation (not a script to memorize)</a:t>
            </a:r>
          </a:p>
          <a:p>
            <a:r>
              <a:t>Introduce this as an end-to-end engineering project. I built a retrieval-augmented generation assistant that finds relevant Articles from the EU AI Act and uses them as evidence for a generated answer. It is a portfolio and learning project, not a legal advisory system.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suggested explanation (not a script to memorize)</a:t>
            </a:r>
          </a:p>
          <a:p>
            <a:r>
              <a:t>A concise interview answer: I built a Python RAG assistant for the EU AI Act. I extracted the official consolidated PDF, chunked it by Articles and Annexes, compared two embedding models, indexed the vectors with FAISS, and connected retrieval to a Groq-hosted language model. I evaluated retrieval and whether expected Article references appeared in generated answers. The dataset is small, so I do not claim general accuracy.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suggested explanation (not a script to memorize)</a:t>
            </a:r>
          </a:p>
          <a:p>
            <a:r>
              <a:t>Explain the difference between keyword search and semantic search. Users might ask for “rules about AI safety,” but the legislation could use terms such as accuracy, robustness and cybersecurity. We want a search system that understands related meaning, while preserving references to the legal source.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suggested explanation (not a script to memorize)</a:t>
            </a:r>
          </a:p>
          <a:p>
            <a:r>
              <a:t>Define RAG in plain language: retrieval augmented generation. The LLM does not learn the Act by updating its weights. Instead, each time a question arrives, the system searches a prepared index and passes the most relevant text into the prompt. This makes evidence visible and allows the source document to be updated separately.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suggested explanation (not a script to memorize)</a:t>
            </a:r>
          </a:p>
          <a:p>
            <a:r>
              <a:t>Walk left to right. Offline: download the PDF, extract and clean text, create Article-aware chunks, generate BGE embeddings, save them in FAISS. Online: a question becomes a BGE vector, FAISS returns top matches, we expand related Article sections, assemble a limited context, and ask Groq to generate an answer.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suggested explanation (not a script to memorize)</a:t>
            </a:r>
          </a:p>
          <a:p>
            <a:r>
              <a:t>The PDF is the consolidated text from EUR-Lex, not a live API. PyMuPDF gave cleaner extraction than our first attempt. Cleaning matters because PDF layout can create broken words, strange spaces, or line breaks, which can hurt chunking and retrieval. The consolidated text is a reference tool; legal users should check the authentic Official Journal texts.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suggested explanation (not a script to memorize)</a:t>
            </a:r>
          </a:p>
          <a:p>
            <a:r>
              <a:t>We identified 119 Article sections and 14 Annex sections, then split large ones into smaller overlapping chunks. The output was 160 chunks, including 141 Article chunks and 19 Annex chunks. Each chunk stores its section label and chunk number. This is better than blindly cutting the document every fixed number of characters because legal boundaries carry meaning.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suggested explanation (not a script to memorize)</a:t>
            </a:r>
          </a:p>
          <a:p>
            <a:r>
              <a:t>The sentence-transformers model converts both chunks and questions into vectors. Similar meaning should produce vectors that point in similar directions. We tried MiniLM first, then BGE. Both produced 384-dimensional vectors. These are not probabilities or facts; they are numerical representations for similarity search.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suggested explanation (not a script to memorize)</a:t>
            </a:r>
          </a:p>
          <a:p>
            <a:r>
              <a:t>FAISS is a vector-search library, not the language model. We normalize the embeddings and use IndexFlatIP, an exact inner-product index. For normalized vectors, inner product corresponds to cosine similarity. Top K equals five. The highest score only tells us which chunk is most similar to the question; it cannot certify factual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suggested explanation (not a script to memorize)</a:t>
            </a:r>
          </a:p>
          <a:p>
            <a:r>
              <a:t>We used 12 questions with expected Article references. MiniLM got Hit@1 9/12, Hit@3 9/12, Hit@5 10/12. BGE got Hit@1 9/12, Hit@3 12/12, Hit@5 12/12. BGE therefore gave better top-three coverage on our small test set. It is important to say this is a local experiment with curated questions, not a general performance guarantee.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suggested explanation (not a script to memorize)</a:t>
            </a:r>
          </a:p>
          <a:p>
            <a:r>
              <a:t>This was one of the key debugging lessons. Article 5 was split into multiple chunks, and retrieving only chunk one could miss information. Another case had Article 11 ranked second, so expanding only the top section was insufficient. We changed to expanding the top three unique sections. Later, a Groq request exceeded the token-per-minute request size, so we added a 12,000-character context cap. That cap can still omit details; it is a trade-off.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suggested explanation (not a script to memorize)</a:t>
            </a:r>
          </a:p>
          <a:p>
            <a:r>
              <a:t>The Groq API runs the language model openai/gpt-oss-20b. The prompt includes the user question and the selected context, with instructions to use only the provided text, cite Articles, and state when the evidence is insufficient. This is grounding by prompting, not a mathematical guarantee against hallucination. No API key is hardcoded; it is loaded from a local .env file.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suggested explanation (not a script to memorize)</a:t>
            </a:r>
          </a:p>
          <a:p>
            <a:r>
              <a:t>Use the real screenshot to demonstrate retrieval. Article 15 ranked first at 0.8835. Articles 6 and 13 were also selected for context. The generated answer discussed accuracy, resilience and cybersecurity. In the interview, explain why a similarity score is not answer confidence. Avoid claiming legal correctness without a manual audit.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suggested explanation (not a script to memorize)</a:t>
            </a:r>
          </a:p>
          <a:p>
            <a:r>
              <a:t>Article 50 ranked first with similarity 0.8434. The top-three unique sections were Articles 50, 13 and 3; expansion collected seven chunks, using 11,254 characters of context. The generated answer organized obligations for providers and deployers. This is an example of retrieval plus structured explanation, not independent legal review.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suggested explanation (not a script to memorize)</a:t>
            </a:r>
          </a:p>
          <a:p>
            <a:r>
              <a:t>Article 53 ranked first at 0.8766; Articles 54 and 55 were next. The final prompt context had 8,777 characters. Article 53 is about general provider obligations, while Article 55 concerns additional duties for models with systemic risk. The screenshot accidentally includes “Copy question” in the input; explain this if someone notices, or replace the screenshot before a formal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suggested explanation (not a script to memorize)</a:t>
            </a:r>
          </a:p>
          <a:p>
            <a:r>
              <a:t>Explain the two menu choices simply. Option one is like asking a librarian one question and getting a source-based answer. Option two is like giving the librarian a 12-question quiz and checking whether the expected Article is found and mentioned. The evaluation does not grade all the legal content for truthfulness.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suggested explanation (not a script to memorize)</a:t>
            </a:r>
          </a:p>
          <a:p>
            <a:r>
              <a:t>We have two evaluation layers. The embedding benchmark measures whether the expected Article appears among top-K results. The end-to-end script asks all 12 questions, checks whether the expected Article is in the expanded context, and whether the generated answer mentions it. Both were 12 out of 12. The first nine answers were saved before the final context cap; the last three were generated afterward, so this is not one controlled run. We did not manually grade every legal statement.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suggested explanation (not a script to memorize)</a:t>
            </a:r>
          </a:p>
          <a:p>
            <a:r>
              <a:t>This slide is valuable in an interview. Explain the concrete failures: an Article could be split across chunks, and selecting only the first section missed relevant content. Groq requests hit rate limits, timeouts, and once a request was too large. We added section expansion, a context cap, retries, and resumable evaluation. An initial Article mention check failed because the generated text used unusual whitespace, so we normalized whitespace before matching.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suggested explanation (not a script to memorize)</a:t>
            </a:r>
          </a:p>
          <a:p>
            <a:r>
              <a:t>Acknowledge limitations before the interviewer asks. The 12 questions are small and curated. Hit@K measures Article retrieval, not full semantic relevance. Article mention rate is not factual accuracy. The evaluation reused saved answers from two code settings, so a controlled rerun is needed. A future version should manually grade factual support, assess unanswerable questions, and provide exact source citations.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suggested explanation (not a script to memorize)</a:t>
            </a:r>
          </a:p>
          <a:p>
            <a:r>
              <a:t>If asked what I would improve, prioritize stronger evaluation, not just a flashy interface. Run all 12 questions again under the same final code and rate-limit settings. Have a person judge factual support and completeness. Add passage-level citations and tests for questions that the document cannot answer. Then consider a simple Streamlit or FastAPI interface.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suggested explanation (not a script to memorize)</a:t>
            </a:r>
          </a:p>
          <a:p>
            <a:r>
              <a:t>Close in 20 seconds: This project taught me how to build a complete RAG workflow, evaluate the retrieval model instead of guessing, control the context sent to an LLM, and debug real API limitations. I can explain every step and the limitations of the evaluation. I would next strengthen answer-level factual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suggested explanation (not a script to memorize)</a:t>
            </a:r>
          </a:p>
          <a:p>
            <a:r>
              <a:t>If an interviewer asks for code structure, point to these scripts. The GitHub repository also contains baseline MiniLM scripts and retrieval evaluation scripts. Processed chunks and indexes are included so the demo can start without rebuilding embeddings.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suggested explanation (not a script to memorize)</a:t>
            </a:r>
          </a:p>
          <a:p>
            <a:r>
              <a:t>For a live demo, activate the virtual environment and run the pipeline. Choose option one and use the Article 15 question. Verify the Groq API key is configured privately in .env. Do not open .env or show its contents during screen sharing. The application can hit API rate limits, so have screenshots ready as backup.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suggested explanation (not a script to memorize)</a:t>
            </a:r>
          </a:p>
          <a:p>
            <a:r>
              <a:t>Use these definitions only if the interviewer asks. Focus on explaining the architecture and your decisions rather than memorizing technical jargon.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667512"/>
            <a:ext cx="82296" cy="5449824"/>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50976" y="877824"/>
            <a:ext cx="3657600" cy="329184"/>
          </a:xfrm>
          <a:prstGeom prst="roundRect">
            <a:avLst>
              <a:gd name="adj" fmla="val 16000"/>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6696" y="891540"/>
            <a:ext cx="3566160" cy="292608"/>
          </a:xfrm>
          <a:prstGeom prst="rect">
            <a:avLst/>
          </a:prstGeom>
          <a:noFill/>
        </p:spPr>
        <p:txBody>
          <a:bodyPr wrap="square" lIns="36576" rIns="36576" tIns="13716" bIns="13716" anchor="ctr">
            <a:spAutoFit/>
          </a:bodyPr>
          <a:lstStyle/>
          <a:p>
            <a:pPr algn="ctr">
              <a:spcAft>
                <a:spcPts val="0"/>
              </a:spcAft>
              <a:defRPr sz="1000" b="1">
                <a:solidFill>
                  <a:srgbClr val="FFFFFF"/>
                </a:solidFill>
                <a:latin typeface="Aptos"/>
              </a:defRPr>
            </a:pPr>
            <a:r>
              <a:t>TECHNICAL INTERVIEW  /  PROJECT WALKTHROUGH</a:t>
            </a:r>
          </a:p>
        </p:txBody>
      </p:sp>
      <p:sp>
        <p:nvSpPr>
          <p:cNvPr id="6" name="TextBox 5"/>
          <p:cNvSpPr txBox="1"/>
          <p:nvPr/>
        </p:nvSpPr>
        <p:spPr>
          <a:xfrm>
            <a:off x="950976" y="1517904"/>
            <a:ext cx="6583680" cy="1691640"/>
          </a:xfrm>
          <a:prstGeom prst="rect">
            <a:avLst/>
          </a:prstGeom>
          <a:noFill/>
        </p:spPr>
        <p:txBody>
          <a:bodyPr wrap="square" lIns="36576" rIns="36576" tIns="13716" bIns="13716" anchor="t">
            <a:spAutoFit/>
          </a:bodyPr>
          <a:lstStyle/>
          <a:p>
            <a:pPr>
              <a:spcAft>
                <a:spcPts val="0"/>
              </a:spcAft>
              <a:defRPr sz="4300" b="1">
                <a:solidFill>
                  <a:srgbClr val="FFFFFF"/>
                </a:solidFill>
                <a:latin typeface="Aptos"/>
              </a:defRPr>
            </a:pPr>
            <a:r>
              <a:t>EU AI ACT</a:t>
            </a:r>
          </a:p>
          <a:p>
            <a:pPr>
              <a:spcAft>
                <a:spcPts val="0"/>
              </a:spcAft>
              <a:defRPr sz="4300" b="1">
                <a:solidFill>
                  <a:srgbClr val="FFFFFF"/>
                </a:solidFill>
                <a:latin typeface="Aptos"/>
              </a:defRPr>
            </a:pPr>
            <a:r>
              <a:t>RAG ASSISTANT</a:t>
            </a:r>
          </a:p>
        </p:txBody>
      </p:sp>
      <p:sp>
        <p:nvSpPr>
          <p:cNvPr id="7" name="TextBox 6"/>
          <p:cNvSpPr txBox="1"/>
          <p:nvPr/>
        </p:nvSpPr>
        <p:spPr>
          <a:xfrm>
            <a:off x="969264" y="3703320"/>
            <a:ext cx="6400800" cy="603504"/>
          </a:xfrm>
          <a:prstGeom prst="rect">
            <a:avLst/>
          </a:prstGeom>
          <a:noFill/>
        </p:spPr>
        <p:txBody>
          <a:bodyPr wrap="square" lIns="36576" rIns="36576" tIns="13716" bIns="13716" anchor="ctr">
            <a:spAutoFit/>
          </a:bodyPr>
          <a:lstStyle/>
          <a:p>
            <a:pPr>
              <a:spcAft>
                <a:spcPts val="0"/>
              </a:spcAft>
              <a:defRPr sz="2100" b="0">
                <a:solidFill>
                  <a:srgbClr val="B8D2E0"/>
                </a:solidFill>
                <a:latin typeface="Aptos"/>
              </a:defRPr>
            </a:pPr>
            <a:r>
              <a:t>From a 1.3 MB legal PDF to evidence-grounded answers</a:t>
            </a:r>
          </a:p>
        </p:txBody>
      </p:sp>
      <p:sp>
        <p:nvSpPr>
          <p:cNvPr id="8" name="Rounded Rectangle 7"/>
          <p:cNvSpPr/>
          <p:nvPr/>
        </p:nvSpPr>
        <p:spPr>
          <a:xfrm>
            <a:off x="7845552" y="1261872"/>
            <a:ext cx="3401568" cy="4279392"/>
          </a:xfrm>
          <a:prstGeom prst="roundRect">
            <a:avLst>
              <a:gd name="adj" fmla="val 16000"/>
            </a:avLst>
          </a:prstGeom>
          <a:solidFill>
            <a:srgbClr val="183552"/>
          </a:solidFill>
          <a:ln w="12700">
            <a:solidFill>
              <a:srgbClr val="3253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65592" y="1581912"/>
            <a:ext cx="1920240" cy="621792"/>
          </a:xfrm>
          <a:prstGeom prst="rect">
            <a:avLst/>
          </a:prstGeom>
          <a:noFill/>
        </p:spPr>
        <p:txBody>
          <a:bodyPr wrap="square" lIns="36576" rIns="36576" tIns="13716" bIns="13716" anchor="ctr">
            <a:spAutoFit/>
          </a:bodyPr>
          <a:lstStyle/>
          <a:p>
            <a:pPr>
              <a:spcAft>
                <a:spcPts val="0"/>
              </a:spcAft>
              <a:defRPr sz="3100" b="1">
                <a:solidFill>
                  <a:srgbClr val="48C9C3"/>
                </a:solidFill>
                <a:latin typeface="Aptos"/>
              </a:defRPr>
            </a:pPr>
            <a:r>
              <a:t>160</a:t>
            </a:r>
          </a:p>
        </p:txBody>
      </p:sp>
      <p:sp>
        <p:nvSpPr>
          <p:cNvPr id="10" name="TextBox 9"/>
          <p:cNvSpPr txBox="1"/>
          <p:nvPr/>
        </p:nvSpPr>
        <p:spPr>
          <a:xfrm>
            <a:off x="8193024" y="2212848"/>
            <a:ext cx="2651760" cy="320040"/>
          </a:xfrm>
          <a:prstGeom prst="rect">
            <a:avLst/>
          </a:prstGeom>
          <a:noFill/>
        </p:spPr>
        <p:txBody>
          <a:bodyPr wrap="square" lIns="36576" rIns="36576" tIns="13716" bIns="13716" anchor="ctr">
            <a:spAutoFit/>
          </a:bodyPr>
          <a:lstStyle/>
          <a:p>
            <a:pPr>
              <a:spcAft>
                <a:spcPts val="0"/>
              </a:spcAft>
              <a:defRPr sz="1300" b="0">
                <a:solidFill>
                  <a:srgbClr val="C5D6E4"/>
                </a:solidFill>
                <a:latin typeface="Aptos"/>
              </a:defRPr>
            </a:pPr>
            <a:r>
              <a:t>document chunks</a:t>
            </a:r>
          </a:p>
        </p:txBody>
      </p:sp>
      <p:sp>
        <p:nvSpPr>
          <p:cNvPr id="11" name="TextBox 10"/>
          <p:cNvSpPr txBox="1"/>
          <p:nvPr/>
        </p:nvSpPr>
        <p:spPr>
          <a:xfrm>
            <a:off x="8165592" y="2779776"/>
            <a:ext cx="1920240" cy="621792"/>
          </a:xfrm>
          <a:prstGeom prst="rect">
            <a:avLst/>
          </a:prstGeom>
          <a:noFill/>
        </p:spPr>
        <p:txBody>
          <a:bodyPr wrap="square" lIns="36576" rIns="36576" tIns="13716" bIns="13716" anchor="ctr">
            <a:spAutoFit/>
          </a:bodyPr>
          <a:lstStyle/>
          <a:p>
            <a:pPr>
              <a:spcAft>
                <a:spcPts val="0"/>
              </a:spcAft>
              <a:defRPr sz="3100" b="1">
                <a:solidFill>
                  <a:srgbClr val="48C9C3"/>
                </a:solidFill>
                <a:latin typeface="Aptos"/>
              </a:defRPr>
            </a:pPr>
            <a:r>
              <a:t>384</a:t>
            </a:r>
          </a:p>
        </p:txBody>
      </p:sp>
      <p:sp>
        <p:nvSpPr>
          <p:cNvPr id="12" name="TextBox 11"/>
          <p:cNvSpPr txBox="1"/>
          <p:nvPr/>
        </p:nvSpPr>
        <p:spPr>
          <a:xfrm>
            <a:off x="8193024" y="3410712"/>
            <a:ext cx="2651760" cy="320040"/>
          </a:xfrm>
          <a:prstGeom prst="rect">
            <a:avLst/>
          </a:prstGeom>
          <a:noFill/>
        </p:spPr>
        <p:txBody>
          <a:bodyPr wrap="square" lIns="36576" rIns="36576" tIns="13716" bIns="13716" anchor="ctr">
            <a:spAutoFit/>
          </a:bodyPr>
          <a:lstStyle/>
          <a:p>
            <a:pPr>
              <a:spcAft>
                <a:spcPts val="0"/>
              </a:spcAft>
              <a:defRPr sz="1300" b="0">
                <a:solidFill>
                  <a:srgbClr val="C5D6E4"/>
                </a:solidFill>
                <a:latin typeface="Aptos"/>
              </a:defRPr>
            </a:pPr>
            <a:r>
              <a:t>embedding dimensions</a:t>
            </a:r>
          </a:p>
        </p:txBody>
      </p:sp>
      <p:sp>
        <p:nvSpPr>
          <p:cNvPr id="13" name="TextBox 12"/>
          <p:cNvSpPr txBox="1"/>
          <p:nvPr/>
        </p:nvSpPr>
        <p:spPr>
          <a:xfrm>
            <a:off x="8165592" y="3977639"/>
            <a:ext cx="1920240" cy="621792"/>
          </a:xfrm>
          <a:prstGeom prst="rect">
            <a:avLst/>
          </a:prstGeom>
          <a:noFill/>
        </p:spPr>
        <p:txBody>
          <a:bodyPr wrap="square" lIns="36576" rIns="36576" tIns="13716" bIns="13716" anchor="ctr">
            <a:spAutoFit/>
          </a:bodyPr>
          <a:lstStyle/>
          <a:p>
            <a:pPr>
              <a:spcAft>
                <a:spcPts val="0"/>
              </a:spcAft>
              <a:defRPr sz="3100" b="1">
                <a:solidFill>
                  <a:srgbClr val="48C9C3"/>
                </a:solidFill>
                <a:latin typeface="Aptos"/>
              </a:defRPr>
            </a:pPr>
            <a:r>
              <a:t>12</a:t>
            </a:r>
          </a:p>
        </p:txBody>
      </p:sp>
      <p:sp>
        <p:nvSpPr>
          <p:cNvPr id="14" name="TextBox 13"/>
          <p:cNvSpPr txBox="1"/>
          <p:nvPr/>
        </p:nvSpPr>
        <p:spPr>
          <a:xfrm>
            <a:off x="8193024" y="4608575"/>
            <a:ext cx="2651760" cy="320040"/>
          </a:xfrm>
          <a:prstGeom prst="rect">
            <a:avLst/>
          </a:prstGeom>
          <a:noFill/>
        </p:spPr>
        <p:txBody>
          <a:bodyPr wrap="square" lIns="36576" rIns="36576" tIns="13716" bIns="13716" anchor="ctr">
            <a:spAutoFit/>
          </a:bodyPr>
          <a:lstStyle/>
          <a:p>
            <a:pPr>
              <a:spcAft>
                <a:spcPts val="0"/>
              </a:spcAft>
              <a:defRPr sz="1300" b="0">
                <a:solidFill>
                  <a:srgbClr val="C5D6E4"/>
                </a:solidFill>
                <a:latin typeface="Aptos"/>
              </a:defRPr>
            </a:pPr>
            <a:r>
              <a:t>evaluation questions</a:t>
            </a:r>
          </a:p>
        </p:txBody>
      </p:sp>
      <p:sp>
        <p:nvSpPr>
          <p:cNvPr id="15" name="TextBox 14"/>
          <p:cNvSpPr txBox="1"/>
          <p:nvPr/>
        </p:nvSpPr>
        <p:spPr>
          <a:xfrm>
            <a:off x="969264" y="6080760"/>
            <a:ext cx="9875520" cy="292608"/>
          </a:xfrm>
          <a:prstGeom prst="rect">
            <a:avLst/>
          </a:prstGeom>
          <a:noFill/>
        </p:spPr>
        <p:txBody>
          <a:bodyPr wrap="square" lIns="36576" rIns="36576" tIns="13716" bIns="13716" anchor="ctr">
            <a:spAutoFit/>
          </a:bodyPr>
          <a:lstStyle/>
          <a:p>
            <a:pPr>
              <a:spcAft>
                <a:spcPts val="0"/>
              </a:spcAft>
              <a:defRPr sz="1300" b="0">
                <a:solidFill>
                  <a:srgbClr val="9FC0D0"/>
                </a:solidFill>
                <a:latin typeface="Aptos"/>
              </a:defRPr>
            </a:pPr>
            <a:r>
              <a:t>Python  •  PyMuPDF  •  Sentence Transformers  •  FAISS  •  Groq</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19456"/>
            <a:ext cx="10881360" cy="219456"/>
          </a:xfrm>
          <a:prstGeom prst="rect">
            <a:avLst/>
          </a:prstGeom>
          <a:noFill/>
        </p:spPr>
        <p:txBody>
          <a:bodyPr wrap="square" lIns="36576" rIns="36576" tIns="13716" bIns="13716" anchor="ctr">
            <a:spAutoFit/>
          </a:bodyPr>
          <a:lstStyle/>
          <a:p>
            <a:pPr>
              <a:spcAft>
                <a:spcPts val="0"/>
              </a:spcAft>
              <a:defRPr sz="1000" b="1">
                <a:solidFill>
                  <a:srgbClr val="00A99D"/>
                </a:solidFill>
                <a:latin typeface="Aptos"/>
              </a:defRPr>
            </a:pPr>
            <a:r>
              <a:t>01 / OVERVIEW</a:t>
            </a:r>
          </a:p>
        </p:txBody>
      </p:sp>
      <p:sp>
        <p:nvSpPr>
          <p:cNvPr id="5" name="TextBox 4"/>
          <p:cNvSpPr txBox="1"/>
          <p:nvPr/>
        </p:nvSpPr>
        <p:spPr>
          <a:xfrm>
            <a:off x="502920" y="530352"/>
            <a:ext cx="11201400" cy="557784"/>
          </a:xfrm>
          <a:prstGeom prst="rect">
            <a:avLst/>
          </a:prstGeom>
          <a:noFill/>
        </p:spPr>
        <p:txBody>
          <a:bodyPr wrap="square" lIns="36576" rIns="36576" tIns="13716" bIns="13716" anchor="ctr">
            <a:spAutoFit/>
          </a:bodyPr>
          <a:lstStyle/>
          <a:p>
            <a:pPr>
              <a:spcAft>
                <a:spcPts val="0"/>
              </a:spcAft>
              <a:defRPr sz="2800" b="1">
                <a:solidFill>
                  <a:srgbClr val="10253F"/>
                </a:solidFill>
                <a:latin typeface="Aptos"/>
              </a:defRPr>
            </a:pPr>
            <a:r>
              <a:t>The project in 60 seconds</a:t>
            </a:r>
          </a:p>
        </p:txBody>
      </p:sp>
      <p:sp>
        <p:nvSpPr>
          <p:cNvPr id="6" name="TextBox 5"/>
          <p:cNvSpPr txBox="1"/>
          <p:nvPr/>
        </p:nvSpPr>
        <p:spPr>
          <a:xfrm>
            <a:off x="521207" y="1133856"/>
            <a:ext cx="11064240" cy="393192"/>
          </a:xfrm>
          <a:prstGeom prst="rect">
            <a:avLst/>
          </a:prstGeom>
          <a:noFill/>
        </p:spPr>
        <p:txBody>
          <a:bodyPr wrap="square" lIns="36576" rIns="36576" tIns="13716" bIns="13716" anchor="ctr">
            <a:spAutoFit/>
          </a:bodyPr>
          <a:lstStyle/>
          <a:p>
            <a:pPr>
              <a:spcAft>
                <a:spcPts val="0"/>
              </a:spcAft>
              <a:defRPr sz="1400" b="0">
                <a:solidFill>
                  <a:srgbClr val="61758A"/>
                </a:solidFill>
                <a:latin typeface="Aptos"/>
              </a:defRPr>
            </a:pPr>
            <a:r>
              <a:t>One problem, one architecture, one measurable outcome.</a:t>
            </a:r>
          </a:p>
        </p:txBody>
      </p:sp>
      <p:sp>
        <p:nvSpPr>
          <p:cNvPr id="7" name="Rectangle 6"/>
          <p:cNvSpPr/>
          <p:nvPr/>
        </p:nvSpPr>
        <p:spPr>
          <a:xfrm>
            <a:off x="502920" y="6556248"/>
            <a:ext cx="11155680" cy="10972"/>
          </a:xfrm>
          <a:prstGeom prst="rect">
            <a:avLst/>
          </a:prstGeom>
          <a:solidFill>
            <a:srgbClr val="DC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0"/>
            <a:ext cx="8229600" cy="155448"/>
          </a:xfrm>
          <a:prstGeom prst="rect">
            <a:avLst/>
          </a:prstGeom>
          <a:noFill/>
        </p:spPr>
        <p:txBody>
          <a:bodyPr wrap="square" lIns="36576" rIns="36576" tIns="13716" bIns="13716" anchor="ctr">
            <a:spAutoFit/>
          </a:bodyPr>
          <a:lstStyle/>
          <a:p>
            <a:pPr>
              <a:spcAft>
                <a:spcPts val="0"/>
              </a:spcAft>
              <a:defRPr sz="800" b="0">
                <a:solidFill>
                  <a:srgbClr val="61758A"/>
                </a:solidFill>
                <a:latin typeface="Aptos"/>
              </a:defRPr>
            </a:pPr>
            <a:r>
              <a:t>EU AI ACT  •  RAG ENGINEERING PORTFOLIO</a:t>
            </a:r>
          </a:p>
        </p:txBody>
      </p:sp>
      <p:sp>
        <p:nvSpPr>
          <p:cNvPr id="9" name="TextBox 8"/>
          <p:cNvSpPr txBox="1"/>
          <p:nvPr/>
        </p:nvSpPr>
        <p:spPr>
          <a:xfrm>
            <a:off x="11082528" y="6565392"/>
            <a:ext cx="502920" cy="201168"/>
          </a:xfrm>
          <a:prstGeom prst="rect">
            <a:avLst/>
          </a:prstGeom>
          <a:noFill/>
        </p:spPr>
        <p:txBody>
          <a:bodyPr wrap="square" lIns="36576" rIns="36576" tIns="13716" bIns="13716" anchor="ctr">
            <a:spAutoFit/>
          </a:bodyPr>
          <a:lstStyle/>
          <a:p>
            <a:pPr algn="r">
              <a:spcAft>
                <a:spcPts val="0"/>
              </a:spcAft>
              <a:defRPr sz="900" b="1">
                <a:solidFill>
                  <a:srgbClr val="61758A"/>
                </a:solidFill>
                <a:latin typeface="Aptos"/>
              </a:defRPr>
            </a:pPr>
            <a:r>
              <a:t>02</a:t>
            </a:r>
          </a:p>
        </p:txBody>
      </p:sp>
      <p:sp>
        <p:nvSpPr>
          <p:cNvPr id="10" name="Rounded Rectangle 9"/>
          <p:cNvSpPr/>
          <p:nvPr/>
        </p:nvSpPr>
        <p:spPr>
          <a:xfrm>
            <a:off x="594360" y="1810512"/>
            <a:ext cx="3502152" cy="3291840"/>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1810512"/>
            <a:ext cx="59436" cy="3291840"/>
          </a:xfrm>
          <a:prstGeom prst="rect">
            <a:avLst/>
          </a:prstGeom>
          <a:solidFill>
            <a:srgbClr val="2B7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1938528"/>
            <a:ext cx="3090672" cy="384048"/>
          </a:xfrm>
          <a:prstGeom prst="rect">
            <a:avLst/>
          </a:prstGeom>
          <a:noFill/>
        </p:spPr>
        <p:txBody>
          <a:bodyPr wrap="square" lIns="36576" rIns="36576" tIns="13716" bIns="13716" anchor="ctr">
            <a:spAutoFit/>
          </a:bodyPr>
          <a:lstStyle/>
          <a:p>
            <a:pPr>
              <a:spcAft>
                <a:spcPts val="0"/>
              </a:spcAft>
              <a:defRPr sz="1800" b="1">
                <a:solidFill>
                  <a:srgbClr val="10253F"/>
                </a:solidFill>
                <a:latin typeface="Aptos"/>
              </a:defRPr>
            </a:pPr>
            <a:r>
              <a:t>PROBLEM</a:t>
            </a:r>
          </a:p>
        </p:txBody>
      </p:sp>
      <p:sp>
        <p:nvSpPr>
          <p:cNvPr id="13" name="TextBox 12"/>
          <p:cNvSpPr txBox="1"/>
          <p:nvPr/>
        </p:nvSpPr>
        <p:spPr>
          <a:xfrm>
            <a:off x="795528" y="2404872"/>
            <a:ext cx="3063240" cy="2560320"/>
          </a:xfrm>
          <a:prstGeom prst="rect">
            <a:avLst/>
          </a:prstGeom>
          <a:noFill/>
        </p:spPr>
        <p:txBody>
          <a:bodyPr wrap="square" lIns="36576" rIns="36576" tIns="13716" bIns="13716" anchor="t">
            <a:spAutoFit/>
          </a:bodyPr>
          <a:lstStyle/>
          <a:p>
            <a:pPr>
              <a:spcAft>
                <a:spcPts val="0"/>
              </a:spcAft>
              <a:defRPr sz="1700" b="0">
                <a:solidFill>
                  <a:srgbClr val="61758A"/>
                </a:solidFill>
                <a:latin typeface="Aptos"/>
              </a:defRPr>
            </a:pPr>
            <a:r>
              <a:t>The EU AI Act is long. A reader needs to find the right Article, and a general chatbot may answer without evidence.</a:t>
            </a:r>
          </a:p>
        </p:txBody>
      </p:sp>
      <p:sp>
        <p:nvSpPr>
          <p:cNvPr id="14" name="Rounded Rectangle 13"/>
          <p:cNvSpPr/>
          <p:nvPr/>
        </p:nvSpPr>
        <p:spPr>
          <a:xfrm>
            <a:off x="4334256" y="1810512"/>
            <a:ext cx="3502152" cy="3291840"/>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34256" y="1810512"/>
            <a:ext cx="59436" cy="329184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1938528"/>
            <a:ext cx="3090672" cy="384048"/>
          </a:xfrm>
          <a:prstGeom prst="rect">
            <a:avLst/>
          </a:prstGeom>
          <a:noFill/>
        </p:spPr>
        <p:txBody>
          <a:bodyPr wrap="square" lIns="36576" rIns="36576" tIns="13716" bIns="13716" anchor="ctr">
            <a:spAutoFit/>
          </a:bodyPr>
          <a:lstStyle/>
          <a:p>
            <a:pPr>
              <a:spcAft>
                <a:spcPts val="0"/>
              </a:spcAft>
              <a:defRPr sz="1800" b="1">
                <a:solidFill>
                  <a:srgbClr val="10253F"/>
                </a:solidFill>
                <a:latin typeface="Aptos"/>
              </a:defRPr>
            </a:pPr>
            <a:r>
              <a:t>SOLUTION</a:t>
            </a:r>
          </a:p>
        </p:txBody>
      </p:sp>
      <p:sp>
        <p:nvSpPr>
          <p:cNvPr id="17" name="TextBox 16"/>
          <p:cNvSpPr txBox="1"/>
          <p:nvPr/>
        </p:nvSpPr>
        <p:spPr>
          <a:xfrm>
            <a:off x="4535424" y="2404872"/>
            <a:ext cx="3063240" cy="2560320"/>
          </a:xfrm>
          <a:prstGeom prst="rect">
            <a:avLst/>
          </a:prstGeom>
          <a:noFill/>
        </p:spPr>
        <p:txBody>
          <a:bodyPr wrap="square" lIns="36576" rIns="36576" tIns="13716" bIns="13716" anchor="t">
            <a:spAutoFit/>
          </a:bodyPr>
          <a:lstStyle/>
          <a:p>
            <a:pPr>
              <a:spcAft>
                <a:spcPts val="0"/>
              </a:spcAft>
              <a:defRPr sz="1700" b="0">
                <a:solidFill>
                  <a:srgbClr val="61758A"/>
                </a:solidFill>
                <a:latin typeface="Aptos"/>
              </a:defRPr>
            </a:pPr>
            <a:r>
              <a:t>Convert the Act into searchable chunks; retrieve relevant passages; give them to a language model to explain.</a:t>
            </a:r>
          </a:p>
        </p:txBody>
      </p:sp>
      <p:sp>
        <p:nvSpPr>
          <p:cNvPr id="18" name="Rounded Rectangle 17"/>
          <p:cNvSpPr/>
          <p:nvPr/>
        </p:nvSpPr>
        <p:spPr>
          <a:xfrm>
            <a:off x="8074152" y="1810512"/>
            <a:ext cx="3502152" cy="3291840"/>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74152" y="1810512"/>
            <a:ext cx="59436" cy="3291840"/>
          </a:xfrm>
          <a:prstGeom prst="rect">
            <a:avLst/>
          </a:prstGeom>
          <a:solidFill>
            <a:srgbClr val="F4B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38528"/>
            <a:ext cx="3090672" cy="384048"/>
          </a:xfrm>
          <a:prstGeom prst="rect">
            <a:avLst/>
          </a:prstGeom>
          <a:noFill/>
        </p:spPr>
        <p:txBody>
          <a:bodyPr wrap="square" lIns="36576" rIns="36576" tIns="13716" bIns="13716" anchor="ctr">
            <a:spAutoFit/>
          </a:bodyPr>
          <a:lstStyle/>
          <a:p>
            <a:pPr>
              <a:spcAft>
                <a:spcPts val="0"/>
              </a:spcAft>
              <a:defRPr sz="1800" b="1">
                <a:solidFill>
                  <a:srgbClr val="10253F"/>
                </a:solidFill>
                <a:latin typeface="Aptos"/>
              </a:defRPr>
            </a:pPr>
            <a:r>
              <a:t>RESULT</a:t>
            </a:r>
          </a:p>
        </p:txBody>
      </p:sp>
      <p:sp>
        <p:nvSpPr>
          <p:cNvPr id="21" name="TextBox 20"/>
          <p:cNvSpPr txBox="1"/>
          <p:nvPr/>
        </p:nvSpPr>
        <p:spPr>
          <a:xfrm>
            <a:off x="8275320" y="2404872"/>
            <a:ext cx="3063240" cy="2560320"/>
          </a:xfrm>
          <a:prstGeom prst="rect">
            <a:avLst/>
          </a:prstGeom>
          <a:noFill/>
        </p:spPr>
        <p:txBody>
          <a:bodyPr wrap="square" lIns="36576" rIns="36576" tIns="13716" bIns="13716" anchor="t">
            <a:spAutoFit/>
          </a:bodyPr>
          <a:lstStyle/>
          <a:p>
            <a:pPr>
              <a:spcAft>
                <a:spcPts val="0"/>
              </a:spcAft>
              <a:defRPr sz="1600" b="0">
                <a:solidFill>
                  <a:srgbClr val="61758A"/>
                </a:solidFill>
                <a:latin typeface="Aptos"/>
              </a:defRPr>
            </a:pPr>
            <a:r>
              <a:t>BGE reached Hit@3 = 12/12 on a small curated set; the RAG run mentioned the expected Article in 12/12 answers.</a:t>
            </a:r>
          </a:p>
        </p:txBody>
      </p:sp>
      <p:sp>
        <p:nvSpPr>
          <p:cNvPr id="22" name="Rounded Rectangle 21"/>
          <p:cNvSpPr/>
          <p:nvPr/>
        </p:nvSpPr>
        <p:spPr>
          <a:xfrm>
            <a:off x="685800" y="5513832"/>
            <a:ext cx="10835640" cy="475488"/>
          </a:xfrm>
          <a:prstGeom prst="roundRect">
            <a:avLst>
              <a:gd name="adj" fmla="val 16000"/>
            </a:avLst>
          </a:prstGeom>
          <a:solidFill>
            <a:srgbClr val="10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1832" y="5586984"/>
            <a:ext cx="10332720" cy="320040"/>
          </a:xfrm>
          <a:prstGeom prst="rect">
            <a:avLst/>
          </a:prstGeom>
          <a:noFill/>
        </p:spPr>
        <p:txBody>
          <a:bodyPr wrap="square" lIns="36576" rIns="36576" tIns="13716" bIns="13716" anchor="ctr">
            <a:spAutoFit/>
          </a:bodyPr>
          <a:lstStyle/>
          <a:p>
            <a:pPr algn="ctr">
              <a:spcAft>
                <a:spcPts val="0"/>
              </a:spcAft>
              <a:defRPr sz="1500" b="1">
                <a:solidFill>
                  <a:srgbClr val="FFFFFF"/>
                </a:solidFill>
                <a:latin typeface="Aptos"/>
              </a:defRPr>
            </a:pPr>
            <a:r>
              <a:t>Not fine-tuning  •  Retrieval first  •  Source references  •  Honest evaluation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19456"/>
            <a:ext cx="10881360" cy="219456"/>
          </a:xfrm>
          <a:prstGeom prst="rect">
            <a:avLst/>
          </a:prstGeom>
          <a:noFill/>
        </p:spPr>
        <p:txBody>
          <a:bodyPr wrap="square" lIns="36576" rIns="36576" tIns="13716" bIns="13716" anchor="ctr">
            <a:spAutoFit/>
          </a:bodyPr>
          <a:lstStyle/>
          <a:p>
            <a:pPr>
              <a:spcAft>
                <a:spcPts val="0"/>
              </a:spcAft>
              <a:defRPr sz="1000" b="1">
                <a:solidFill>
                  <a:srgbClr val="00A99D"/>
                </a:solidFill>
                <a:latin typeface="Aptos"/>
              </a:defRPr>
            </a:pPr>
            <a:r>
              <a:t>02 / MOTIVATION</a:t>
            </a:r>
          </a:p>
        </p:txBody>
      </p:sp>
      <p:sp>
        <p:nvSpPr>
          <p:cNvPr id="5" name="TextBox 4"/>
          <p:cNvSpPr txBox="1"/>
          <p:nvPr/>
        </p:nvSpPr>
        <p:spPr>
          <a:xfrm>
            <a:off x="502920" y="530352"/>
            <a:ext cx="11201400" cy="557784"/>
          </a:xfrm>
          <a:prstGeom prst="rect">
            <a:avLst/>
          </a:prstGeom>
          <a:noFill/>
        </p:spPr>
        <p:txBody>
          <a:bodyPr wrap="square" lIns="36576" rIns="36576" tIns="13716" bIns="13716" anchor="ctr">
            <a:spAutoFit/>
          </a:bodyPr>
          <a:lstStyle/>
          <a:p>
            <a:pPr>
              <a:spcAft>
                <a:spcPts val="0"/>
              </a:spcAft>
              <a:defRPr sz="2800" b="1">
                <a:solidFill>
                  <a:srgbClr val="10253F"/>
                </a:solidFill>
                <a:latin typeface="Aptos"/>
              </a:defRPr>
            </a:pPr>
            <a:r>
              <a:t>Why build a RAG assistant?</a:t>
            </a:r>
          </a:p>
        </p:txBody>
      </p:sp>
      <p:sp>
        <p:nvSpPr>
          <p:cNvPr id="6" name="TextBox 5"/>
          <p:cNvSpPr txBox="1"/>
          <p:nvPr/>
        </p:nvSpPr>
        <p:spPr>
          <a:xfrm>
            <a:off x="521207" y="1133856"/>
            <a:ext cx="11064240" cy="393192"/>
          </a:xfrm>
          <a:prstGeom prst="rect">
            <a:avLst/>
          </a:prstGeom>
          <a:noFill/>
        </p:spPr>
        <p:txBody>
          <a:bodyPr wrap="square" lIns="36576" rIns="36576" tIns="13716" bIns="13716" anchor="ctr">
            <a:spAutoFit/>
          </a:bodyPr>
          <a:lstStyle/>
          <a:p>
            <a:pPr>
              <a:spcAft>
                <a:spcPts val="0"/>
              </a:spcAft>
              <a:defRPr sz="1400" b="0">
                <a:solidFill>
                  <a:srgbClr val="61758A"/>
                </a:solidFill>
                <a:latin typeface="Aptos"/>
              </a:defRPr>
            </a:pPr>
            <a:r>
              <a:t>The real engineering problem is evidence discovery, not just text generation.</a:t>
            </a:r>
          </a:p>
        </p:txBody>
      </p:sp>
      <p:sp>
        <p:nvSpPr>
          <p:cNvPr id="7" name="Rectangle 6"/>
          <p:cNvSpPr/>
          <p:nvPr/>
        </p:nvSpPr>
        <p:spPr>
          <a:xfrm>
            <a:off x="502920" y="6556248"/>
            <a:ext cx="11155680" cy="10972"/>
          </a:xfrm>
          <a:prstGeom prst="rect">
            <a:avLst/>
          </a:prstGeom>
          <a:solidFill>
            <a:srgbClr val="DC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0"/>
            <a:ext cx="8229600" cy="155448"/>
          </a:xfrm>
          <a:prstGeom prst="rect">
            <a:avLst/>
          </a:prstGeom>
          <a:noFill/>
        </p:spPr>
        <p:txBody>
          <a:bodyPr wrap="square" lIns="36576" rIns="36576" tIns="13716" bIns="13716" anchor="ctr">
            <a:spAutoFit/>
          </a:bodyPr>
          <a:lstStyle/>
          <a:p>
            <a:pPr>
              <a:spcAft>
                <a:spcPts val="0"/>
              </a:spcAft>
              <a:defRPr sz="800" b="0">
                <a:solidFill>
                  <a:srgbClr val="61758A"/>
                </a:solidFill>
                <a:latin typeface="Aptos"/>
              </a:defRPr>
            </a:pPr>
            <a:r>
              <a:t>EU AI ACT  •  RAG ENGINEERING PORTFOLIO</a:t>
            </a:r>
          </a:p>
        </p:txBody>
      </p:sp>
      <p:sp>
        <p:nvSpPr>
          <p:cNvPr id="9" name="TextBox 8"/>
          <p:cNvSpPr txBox="1"/>
          <p:nvPr/>
        </p:nvSpPr>
        <p:spPr>
          <a:xfrm>
            <a:off x="11082528" y="6565392"/>
            <a:ext cx="502920" cy="201168"/>
          </a:xfrm>
          <a:prstGeom prst="rect">
            <a:avLst/>
          </a:prstGeom>
          <a:noFill/>
        </p:spPr>
        <p:txBody>
          <a:bodyPr wrap="square" lIns="36576" rIns="36576" tIns="13716" bIns="13716" anchor="ctr">
            <a:spAutoFit/>
          </a:bodyPr>
          <a:lstStyle/>
          <a:p>
            <a:pPr algn="r">
              <a:spcAft>
                <a:spcPts val="0"/>
              </a:spcAft>
              <a:defRPr sz="900" b="1">
                <a:solidFill>
                  <a:srgbClr val="61758A"/>
                </a:solidFill>
                <a:latin typeface="Aptos"/>
              </a:defRPr>
            </a:pPr>
            <a:r>
              <a:t>03</a:t>
            </a:r>
          </a:p>
        </p:txBody>
      </p:sp>
      <p:sp>
        <p:nvSpPr>
          <p:cNvPr id="10" name="Rounded Rectangle 9"/>
          <p:cNvSpPr/>
          <p:nvPr/>
        </p:nvSpPr>
        <p:spPr>
          <a:xfrm>
            <a:off x="640080" y="1783080"/>
            <a:ext cx="6446520" cy="1060704"/>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1783080"/>
            <a:ext cx="59436" cy="1060704"/>
          </a:xfrm>
          <a:prstGeom prst="rect">
            <a:avLst/>
          </a:prstGeom>
          <a:solidFill>
            <a:srgbClr val="2B7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1911095"/>
            <a:ext cx="6035040" cy="384048"/>
          </a:xfrm>
          <a:prstGeom prst="rect">
            <a:avLst/>
          </a:prstGeom>
          <a:noFill/>
        </p:spPr>
        <p:txBody>
          <a:bodyPr wrap="square" lIns="36576" rIns="36576" tIns="13716" bIns="13716" anchor="ctr">
            <a:spAutoFit/>
          </a:bodyPr>
          <a:lstStyle/>
          <a:p>
            <a:pPr>
              <a:spcAft>
                <a:spcPts val="0"/>
              </a:spcAft>
              <a:defRPr sz="1600" b="1">
                <a:solidFill>
                  <a:srgbClr val="10253F"/>
                </a:solidFill>
                <a:latin typeface="Aptos"/>
              </a:defRPr>
            </a:pPr>
            <a:r>
              <a:t>Long document</a:t>
            </a:r>
          </a:p>
        </p:txBody>
      </p:sp>
      <p:sp>
        <p:nvSpPr>
          <p:cNvPr id="13" name="TextBox 12"/>
          <p:cNvSpPr txBox="1"/>
          <p:nvPr/>
        </p:nvSpPr>
        <p:spPr>
          <a:xfrm>
            <a:off x="841247" y="2377440"/>
            <a:ext cx="6007608" cy="329183"/>
          </a:xfrm>
          <a:prstGeom prst="rect">
            <a:avLst/>
          </a:prstGeom>
          <a:noFill/>
        </p:spPr>
        <p:txBody>
          <a:bodyPr wrap="square" lIns="36576" rIns="36576" tIns="13716" bIns="13716" anchor="t">
            <a:spAutoFit/>
          </a:bodyPr>
          <a:lstStyle/>
          <a:p>
            <a:pPr>
              <a:spcAft>
                <a:spcPts val="0"/>
              </a:spcAft>
              <a:defRPr sz="1300" b="0">
                <a:solidFill>
                  <a:srgbClr val="61758A"/>
                </a:solidFill>
                <a:latin typeface="Aptos"/>
              </a:defRPr>
            </a:pPr>
            <a:r>
              <a:t>Relevant rules are spread across many Articles and Annexes.</a:t>
            </a:r>
          </a:p>
        </p:txBody>
      </p:sp>
      <p:sp>
        <p:nvSpPr>
          <p:cNvPr id="14" name="Rounded Rectangle 13"/>
          <p:cNvSpPr/>
          <p:nvPr/>
        </p:nvSpPr>
        <p:spPr>
          <a:xfrm>
            <a:off x="640080" y="3044952"/>
            <a:ext cx="6446520" cy="1060704"/>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044952"/>
            <a:ext cx="59436" cy="1060704"/>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3172968"/>
            <a:ext cx="6035040" cy="384048"/>
          </a:xfrm>
          <a:prstGeom prst="rect">
            <a:avLst/>
          </a:prstGeom>
          <a:noFill/>
        </p:spPr>
        <p:txBody>
          <a:bodyPr wrap="square" lIns="36576" rIns="36576" tIns="13716" bIns="13716" anchor="ctr">
            <a:spAutoFit/>
          </a:bodyPr>
          <a:lstStyle/>
          <a:p>
            <a:pPr>
              <a:spcAft>
                <a:spcPts val="0"/>
              </a:spcAft>
              <a:defRPr sz="1600" b="1">
                <a:solidFill>
                  <a:srgbClr val="10253F"/>
                </a:solidFill>
                <a:latin typeface="Aptos"/>
              </a:defRPr>
            </a:pPr>
            <a:r>
              <a:t>Exact wording varies</a:t>
            </a:r>
          </a:p>
        </p:txBody>
      </p:sp>
      <p:sp>
        <p:nvSpPr>
          <p:cNvPr id="17" name="TextBox 16"/>
          <p:cNvSpPr txBox="1"/>
          <p:nvPr/>
        </p:nvSpPr>
        <p:spPr>
          <a:xfrm>
            <a:off x="841247" y="3639312"/>
            <a:ext cx="6007608" cy="329183"/>
          </a:xfrm>
          <a:prstGeom prst="rect">
            <a:avLst/>
          </a:prstGeom>
          <a:noFill/>
        </p:spPr>
        <p:txBody>
          <a:bodyPr wrap="square" lIns="36576" rIns="36576" tIns="13716" bIns="13716" anchor="t">
            <a:spAutoFit/>
          </a:bodyPr>
          <a:lstStyle/>
          <a:p>
            <a:pPr>
              <a:spcAft>
                <a:spcPts val="0"/>
              </a:spcAft>
              <a:defRPr sz="1300" b="0">
                <a:solidFill>
                  <a:srgbClr val="61758A"/>
                </a:solidFill>
                <a:latin typeface="Aptos"/>
              </a:defRPr>
            </a:pPr>
            <a:r>
              <a:t>A question can use different words from the legal text.</a:t>
            </a:r>
          </a:p>
        </p:txBody>
      </p:sp>
      <p:sp>
        <p:nvSpPr>
          <p:cNvPr id="18" name="Rounded Rectangle 17"/>
          <p:cNvSpPr/>
          <p:nvPr/>
        </p:nvSpPr>
        <p:spPr>
          <a:xfrm>
            <a:off x="640080" y="4306824"/>
            <a:ext cx="6446520" cy="1060704"/>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4306824"/>
            <a:ext cx="59436" cy="1060704"/>
          </a:xfrm>
          <a:prstGeom prst="rect">
            <a:avLst/>
          </a:prstGeom>
          <a:solidFill>
            <a:srgbClr val="F4B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7" y="4434840"/>
            <a:ext cx="6035040" cy="384048"/>
          </a:xfrm>
          <a:prstGeom prst="rect">
            <a:avLst/>
          </a:prstGeom>
          <a:noFill/>
        </p:spPr>
        <p:txBody>
          <a:bodyPr wrap="square" lIns="36576" rIns="36576" tIns="13716" bIns="13716" anchor="ctr">
            <a:spAutoFit/>
          </a:bodyPr>
          <a:lstStyle/>
          <a:p>
            <a:pPr>
              <a:spcAft>
                <a:spcPts val="0"/>
              </a:spcAft>
              <a:defRPr sz="1600" b="1">
                <a:solidFill>
                  <a:srgbClr val="10253F"/>
                </a:solidFill>
                <a:latin typeface="Aptos"/>
              </a:defRPr>
            </a:pPr>
            <a:r>
              <a:t>LLMs can overstate</a:t>
            </a:r>
          </a:p>
        </p:txBody>
      </p:sp>
      <p:sp>
        <p:nvSpPr>
          <p:cNvPr id="21" name="TextBox 20"/>
          <p:cNvSpPr txBox="1"/>
          <p:nvPr/>
        </p:nvSpPr>
        <p:spPr>
          <a:xfrm>
            <a:off x="841247" y="4901184"/>
            <a:ext cx="6007608" cy="329183"/>
          </a:xfrm>
          <a:prstGeom prst="rect">
            <a:avLst/>
          </a:prstGeom>
          <a:noFill/>
        </p:spPr>
        <p:txBody>
          <a:bodyPr wrap="square" lIns="36576" rIns="36576" tIns="13716" bIns="13716" anchor="t">
            <a:spAutoFit/>
          </a:bodyPr>
          <a:lstStyle/>
          <a:p>
            <a:pPr>
              <a:spcAft>
                <a:spcPts val="0"/>
              </a:spcAft>
              <a:defRPr sz="1300" b="0">
                <a:solidFill>
                  <a:srgbClr val="61758A"/>
                </a:solidFill>
                <a:latin typeface="Aptos"/>
              </a:defRPr>
            </a:pPr>
            <a:r>
              <a:t>A fluent answer is not necessarily supported by the source.</a:t>
            </a:r>
          </a:p>
        </p:txBody>
      </p:sp>
      <p:sp>
        <p:nvSpPr>
          <p:cNvPr id="22" name="Rounded Rectangle 21"/>
          <p:cNvSpPr/>
          <p:nvPr/>
        </p:nvSpPr>
        <p:spPr>
          <a:xfrm>
            <a:off x="7543800" y="1874519"/>
            <a:ext cx="3913632" cy="3657600"/>
          </a:xfrm>
          <a:prstGeom prst="roundRect">
            <a:avLst>
              <a:gd name="adj" fmla="val 16000"/>
            </a:avLst>
          </a:prstGeom>
          <a:solidFill>
            <a:srgbClr val="10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36408" y="2167128"/>
            <a:ext cx="3310128" cy="338328"/>
          </a:xfrm>
          <a:prstGeom prst="rect">
            <a:avLst/>
          </a:prstGeom>
          <a:noFill/>
        </p:spPr>
        <p:txBody>
          <a:bodyPr wrap="square" lIns="36576" rIns="36576" tIns="13716" bIns="13716" anchor="ctr">
            <a:spAutoFit/>
          </a:bodyPr>
          <a:lstStyle/>
          <a:p>
            <a:pPr>
              <a:spcAft>
                <a:spcPts val="0"/>
              </a:spcAft>
              <a:defRPr sz="1300" b="1">
                <a:solidFill>
                  <a:srgbClr val="48C9C3"/>
                </a:solidFill>
                <a:latin typeface="Aptos"/>
              </a:defRPr>
            </a:pPr>
            <a:r>
              <a:t>DESIGN QUESTION</a:t>
            </a:r>
          </a:p>
        </p:txBody>
      </p:sp>
      <p:sp>
        <p:nvSpPr>
          <p:cNvPr id="24" name="TextBox 23"/>
          <p:cNvSpPr txBox="1"/>
          <p:nvPr/>
        </p:nvSpPr>
        <p:spPr>
          <a:xfrm>
            <a:off x="7836408" y="2761488"/>
            <a:ext cx="3291840" cy="2011680"/>
          </a:xfrm>
          <a:prstGeom prst="rect">
            <a:avLst/>
          </a:prstGeom>
          <a:noFill/>
        </p:spPr>
        <p:txBody>
          <a:bodyPr wrap="square" lIns="36576" rIns="36576" tIns="13716" bIns="13716" anchor="t">
            <a:spAutoFit/>
          </a:bodyPr>
          <a:lstStyle/>
          <a:p>
            <a:pPr>
              <a:spcAft>
                <a:spcPts val="0"/>
              </a:spcAft>
              <a:defRPr sz="2300" b="1">
                <a:solidFill>
                  <a:srgbClr val="FFFFFF"/>
                </a:solidFill>
                <a:latin typeface="Aptos"/>
              </a:defRPr>
            </a:pPr>
            <a:r>
              <a:t>Can we find the right Article first — then answer from that evidence?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19456"/>
            <a:ext cx="10881360" cy="219456"/>
          </a:xfrm>
          <a:prstGeom prst="rect">
            <a:avLst/>
          </a:prstGeom>
          <a:noFill/>
        </p:spPr>
        <p:txBody>
          <a:bodyPr wrap="square" lIns="36576" rIns="36576" tIns="13716" bIns="13716" anchor="ctr">
            <a:spAutoFit/>
          </a:bodyPr>
          <a:lstStyle/>
          <a:p>
            <a:pPr>
              <a:spcAft>
                <a:spcPts val="0"/>
              </a:spcAft>
              <a:defRPr sz="1000" b="1">
                <a:solidFill>
                  <a:srgbClr val="00A99D"/>
                </a:solidFill>
                <a:latin typeface="Aptos"/>
              </a:defRPr>
            </a:pPr>
            <a:r>
              <a:t>03 / CORE CONCEPT</a:t>
            </a:r>
          </a:p>
        </p:txBody>
      </p:sp>
      <p:sp>
        <p:nvSpPr>
          <p:cNvPr id="5" name="TextBox 4"/>
          <p:cNvSpPr txBox="1"/>
          <p:nvPr/>
        </p:nvSpPr>
        <p:spPr>
          <a:xfrm>
            <a:off x="502920" y="530352"/>
            <a:ext cx="11201400" cy="557784"/>
          </a:xfrm>
          <a:prstGeom prst="rect">
            <a:avLst/>
          </a:prstGeom>
          <a:noFill/>
        </p:spPr>
        <p:txBody>
          <a:bodyPr wrap="square" lIns="36576" rIns="36576" tIns="13716" bIns="13716" anchor="ctr">
            <a:spAutoFit/>
          </a:bodyPr>
          <a:lstStyle/>
          <a:p>
            <a:pPr>
              <a:spcAft>
                <a:spcPts val="0"/>
              </a:spcAft>
              <a:defRPr sz="2800" b="1">
                <a:solidFill>
                  <a:srgbClr val="10253F"/>
                </a:solidFill>
                <a:latin typeface="Aptos"/>
              </a:defRPr>
            </a:pPr>
            <a:r>
              <a:t>RAG is not fine-tuning</a:t>
            </a:r>
          </a:p>
        </p:txBody>
      </p:sp>
      <p:sp>
        <p:nvSpPr>
          <p:cNvPr id="6" name="TextBox 5"/>
          <p:cNvSpPr txBox="1"/>
          <p:nvPr/>
        </p:nvSpPr>
        <p:spPr>
          <a:xfrm>
            <a:off x="521207" y="1133856"/>
            <a:ext cx="11064240" cy="393192"/>
          </a:xfrm>
          <a:prstGeom prst="rect">
            <a:avLst/>
          </a:prstGeom>
          <a:noFill/>
        </p:spPr>
        <p:txBody>
          <a:bodyPr wrap="square" lIns="36576" rIns="36576" tIns="13716" bIns="13716" anchor="ctr">
            <a:spAutoFit/>
          </a:bodyPr>
          <a:lstStyle/>
          <a:p>
            <a:pPr>
              <a:spcAft>
                <a:spcPts val="0"/>
              </a:spcAft>
              <a:defRPr sz="1400" b="0">
                <a:solidFill>
                  <a:srgbClr val="61758A"/>
                </a:solidFill>
                <a:latin typeface="Aptos"/>
              </a:defRPr>
            </a:pPr>
            <a:r>
              <a:t>Think of a student using an open book rather than memorizing the whole book.</a:t>
            </a:r>
          </a:p>
        </p:txBody>
      </p:sp>
      <p:sp>
        <p:nvSpPr>
          <p:cNvPr id="7" name="Rectangle 6"/>
          <p:cNvSpPr/>
          <p:nvPr/>
        </p:nvSpPr>
        <p:spPr>
          <a:xfrm>
            <a:off x="502920" y="6556248"/>
            <a:ext cx="11155680" cy="10972"/>
          </a:xfrm>
          <a:prstGeom prst="rect">
            <a:avLst/>
          </a:prstGeom>
          <a:solidFill>
            <a:srgbClr val="DC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0"/>
            <a:ext cx="8229600" cy="155448"/>
          </a:xfrm>
          <a:prstGeom prst="rect">
            <a:avLst/>
          </a:prstGeom>
          <a:noFill/>
        </p:spPr>
        <p:txBody>
          <a:bodyPr wrap="square" lIns="36576" rIns="36576" tIns="13716" bIns="13716" anchor="ctr">
            <a:spAutoFit/>
          </a:bodyPr>
          <a:lstStyle/>
          <a:p>
            <a:pPr>
              <a:spcAft>
                <a:spcPts val="0"/>
              </a:spcAft>
              <a:defRPr sz="800" b="0">
                <a:solidFill>
                  <a:srgbClr val="61758A"/>
                </a:solidFill>
                <a:latin typeface="Aptos"/>
              </a:defRPr>
            </a:pPr>
            <a:r>
              <a:t>EU AI ACT  •  RAG ENGINEERING PORTFOLIO</a:t>
            </a:r>
          </a:p>
        </p:txBody>
      </p:sp>
      <p:sp>
        <p:nvSpPr>
          <p:cNvPr id="9" name="TextBox 8"/>
          <p:cNvSpPr txBox="1"/>
          <p:nvPr/>
        </p:nvSpPr>
        <p:spPr>
          <a:xfrm>
            <a:off x="11082528" y="6565392"/>
            <a:ext cx="502920" cy="201168"/>
          </a:xfrm>
          <a:prstGeom prst="rect">
            <a:avLst/>
          </a:prstGeom>
          <a:noFill/>
        </p:spPr>
        <p:txBody>
          <a:bodyPr wrap="square" lIns="36576" rIns="36576" tIns="13716" bIns="13716" anchor="ctr">
            <a:spAutoFit/>
          </a:bodyPr>
          <a:lstStyle/>
          <a:p>
            <a:pPr algn="r">
              <a:spcAft>
                <a:spcPts val="0"/>
              </a:spcAft>
              <a:defRPr sz="900" b="1">
                <a:solidFill>
                  <a:srgbClr val="61758A"/>
                </a:solidFill>
                <a:latin typeface="Aptos"/>
              </a:defRPr>
            </a:pPr>
            <a:r>
              <a:t>04</a:t>
            </a:r>
          </a:p>
        </p:txBody>
      </p:sp>
      <p:sp>
        <p:nvSpPr>
          <p:cNvPr id="10" name="Rounded Rectangle 9"/>
          <p:cNvSpPr/>
          <p:nvPr/>
        </p:nvSpPr>
        <p:spPr>
          <a:xfrm>
            <a:off x="667512" y="1783080"/>
            <a:ext cx="5166360" cy="3429000"/>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67512" y="1783080"/>
            <a:ext cx="59436" cy="342900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911095"/>
            <a:ext cx="4754880" cy="384048"/>
          </a:xfrm>
          <a:prstGeom prst="rect">
            <a:avLst/>
          </a:prstGeom>
          <a:noFill/>
        </p:spPr>
        <p:txBody>
          <a:bodyPr wrap="square" lIns="36576" rIns="36576" tIns="13716" bIns="13716" anchor="ctr">
            <a:spAutoFit/>
          </a:bodyPr>
          <a:lstStyle/>
          <a:p>
            <a:pPr>
              <a:spcAft>
                <a:spcPts val="0"/>
              </a:spcAft>
              <a:defRPr sz="1900" b="1">
                <a:solidFill>
                  <a:srgbClr val="10253F"/>
                </a:solidFill>
                <a:latin typeface="Aptos"/>
              </a:defRPr>
            </a:pPr>
            <a:r>
              <a:t>RETRIEVAL</a:t>
            </a:r>
          </a:p>
        </p:txBody>
      </p:sp>
      <p:sp>
        <p:nvSpPr>
          <p:cNvPr id="13" name="TextBox 12"/>
          <p:cNvSpPr txBox="1"/>
          <p:nvPr/>
        </p:nvSpPr>
        <p:spPr>
          <a:xfrm>
            <a:off x="868680" y="2377440"/>
            <a:ext cx="4727448" cy="2697480"/>
          </a:xfrm>
          <a:prstGeom prst="rect">
            <a:avLst/>
          </a:prstGeom>
          <a:noFill/>
        </p:spPr>
        <p:txBody>
          <a:bodyPr wrap="square" lIns="36576" rIns="36576" tIns="13716" bIns="13716" anchor="t">
            <a:spAutoFit/>
          </a:bodyPr>
          <a:lstStyle/>
          <a:p>
            <a:pPr>
              <a:spcAft>
                <a:spcPts val="0"/>
              </a:spcAft>
              <a:defRPr sz="1800" b="0">
                <a:solidFill>
                  <a:srgbClr val="61758A"/>
                </a:solidFill>
                <a:latin typeface="Aptos"/>
              </a:defRPr>
            </a:pPr>
            <a:r>
              <a:t>Find useful pages in the book before answering. In our system: BGE creates vectors; FAISS finds similar chunks.</a:t>
            </a:r>
          </a:p>
        </p:txBody>
      </p:sp>
      <p:sp>
        <p:nvSpPr>
          <p:cNvPr id="14" name="Rounded Rectangle 13"/>
          <p:cNvSpPr/>
          <p:nvPr/>
        </p:nvSpPr>
        <p:spPr>
          <a:xfrm>
            <a:off x="6327648" y="1783080"/>
            <a:ext cx="5166360" cy="3429000"/>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27648" y="1783080"/>
            <a:ext cx="59436" cy="3429000"/>
          </a:xfrm>
          <a:prstGeom prst="rect">
            <a:avLst/>
          </a:prstGeom>
          <a:solidFill>
            <a:srgbClr val="2B7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28816" y="1911095"/>
            <a:ext cx="4754880" cy="384048"/>
          </a:xfrm>
          <a:prstGeom prst="rect">
            <a:avLst/>
          </a:prstGeom>
          <a:noFill/>
        </p:spPr>
        <p:txBody>
          <a:bodyPr wrap="square" lIns="36576" rIns="36576" tIns="13716" bIns="13716" anchor="ctr">
            <a:spAutoFit/>
          </a:bodyPr>
          <a:lstStyle/>
          <a:p>
            <a:pPr>
              <a:spcAft>
                <a:spcPts val="0"/>
              </a:spcAft>
              <a:defRPr sz="1900" b="1">
                <a:solidFill>
                  <a:srgbClr val="10253F"/>
                </a:solidFill>
                <a:latin typeface="Aptos"/>
              </a:defRPr>
            </a:pPr>
            <a:r>
              <a:t>GENERATION</a:t>
            </a:r>
          </a:p>
        </p:txBody>
      </p:sp>
      <p:sp>
        <p:nvSpPr>
          <p:cNvPr id="17" name="TextBox 16"/>
          <p:cNvSpPr txBox="1"/>
          <p:nvPr/>
        </p:nvSpPr>
        <p:spPr>
          <a:xfrm>
            <a:off x="6528816" y="2377440"/>
            <a:ext cx="4727448" cy="2697480"/>
          </a:xfrm>
          <a:prstGeom prst="rect">
            <a:avLst/>
          </a:prstGeom>
          <a:noFill/>
        </p:spPr>
        <p:txBody>
          <a:bodyPr wrap="square" lIns="36576" rIns="36576" tIns="13716" bIns="13716" anchor="t">
            <a:spAutoFit/>
          </a:bodyPr>
          <a:lstStyle/>
          <a:p>
            <a:pPr>
              <a:spcAft>
                <a:spcPts val="0"/>
              </a:spcAft>
              <a:defRPr sz="1800" b="0">
                <a:solidFill>
                  <a:srgbClr val="61758A"/>
                </a:solidFill>
                <a:latin typeface="Aptos"/>
              </a:defRPr>
            </a:pPr>
            <a:r>
              <a:t>Give the selected pages to the LLM. The model writes an explanation and references the relevant Articles.</a:t>
            </a:r>
          </a:p>
        </p:txBody>
      </p:sp>
      <p:sp>
        <p:nvSpPr>
          <p:cNvPr id="18" name="Rounded Rectangle 17"/>
          <p:cNvSpPr/>
          <p:nvPr/>
        </p:nvSpPr>
        <p:spPr>
          <a:xfrm>
            <a:off x="1956816" y="5532120"/>
            <a:ext cx="8229600" cy="502920"/>
          </a:xfrm>
          <a:prstGeom prst="roundRect">
            <a:avLst>
              <a:gd name="adj" fmla="val 16000"/>
            </a:avLst>
          </a:prstGeom>
          <a:solidFill>
            <a:srgbClr val="10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94560" y="5605272"/>
            <a:ext cx="7754112" cy="301752"/>
          </a:xfrm>
          <a:prstGeom prst="rect">
            <a:avLst/>
          </a:prstGeom>
          <a:noFill/>
        </p:spPr>
        <p:txBody>
          <a:bodyPr wrap="square" lIns="36576" rIns="36576" tIns="13716" bIns="13716" anchor="ctr">
            <a:spAutoFit/>
          </a:bodyPr>
          <a:lstStyle/>
          <a:p>
            <a:pPr algn="ctr">
              <a:spcAft>
                <a:spcPts val="0"/>
              </a:spcAft>
              <a:defRPr sz="1700" b="1">
                <a:solidFill>
                  <a:srgbClr val="FFFFFF"/>
                </a:solidFill>
                <a:latin typeface="Aptos"/>
              </a:defRPr>
            </a:pPr>
            <a:r>
              <a:t>No model weights are retrained on the EU AI Act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19456"/>
            <a:ext cx="10881360" cy="219456"/>
          </a:xfrm>
          <a:prstGeom prst="rect">
            <a:avLst/>
          </a:prstGeom>
          <a:noFill/>
        </p:spPr>
        <p:txBody>
          <a:bodyPr wrap="square" lIns="36576" rIns="36576" tIns="13716" bIns="13716" anchor="ctr">
            <a:spAutoFit/>
          </a:bodyPr>
          <a:lstStyle/>
          <a:p>
            <a:pPr>
              <a:spcAft>
                <a:spcPts val="0"/>
              </a:spcAft>
              <a:defRPr sz="1000" b="1">
                <a:solidFill>
                  <a:srgbClr val="00A99D"/>
                </a:solidFill>
                <a:latin typeface="Aptos"/>
              </a:defRPr>
            </a:pPr>
            <a:r>
              <a:t>04 / SYSTEM DESIGN</a:t>
            </a:r>
          </a:p>
        </p:txBody>
      </p:sp>
      <p:sp>
        <p:nvSpPr>
          <p:cNvPr id="5" name="TextBox 4"/>
          <p:cNvSpPr txBox="1"/>
          <p:nvPr/>
        </p:nvSpPr>
        <p:spPr>
          <a:xfrm>
            <a:off x="502920" y="530352"/>
            <a:ext cx="11201400" cy="557784"/>
          </a:xfrm>
          <a:prstGeom prst="rect">
            <a:avLst/>
          </a:prstGeom>
          <a:noFill/>
        </p:spPr>
        <p:txBody>
          <a:bodyPr wrap="square" lIns="36576" rIns="36576" tIns="13716" bIns="13716" anchor="ctr">
            <a:spAutoFit/>
          </a:bodyPr>
          <a:lstStyle/>
          <a:p>
            <a:pPr>
              <a:spcAft>
                <a:spcPts val="0"/>
              </a:spcAft>
              <a:defRPr sz="2800" b="1">
                <a:solidFill>
                  <a:srgbClr val="10253F"/>
                </a:solidFill>
                <a:latin typeface="Aptos"/>
              </a:defRPr>
            </a:pPr>
            <a:r>
              <a:t>End-to-end architecture</a:t>
            </a:r>
          </a:p>
        </p:txBody>
      </p:sp>
      <p:sp>
        <p:nvSpPr>
          <p:cNvPr id="6" name="TextBox 5"/>
          <p:cNvSpPr txBox="1"/>
          <p:nvPr/>
        </p:nvSpPr>
        <p:spPr>
          <a:xfrm>
            <a:off x="521207" y="1133856"/>
            <a:ext cx="11064240" cy="393192"/>
          </a:xfrm>
          <a:prstGeom prst="rect">
            <a:avLst/>
          </a:prstGeom>
          <a:noFill/>
        </p:spPr>
        <p:txBody>
          <a:bodyPr wrap="square" lIns="36576" rIns="36576" tIns="13716" bIns="13716" anchor="ctr">
            <a:spAutoFit/>
          </a:bodyPr>
          <a:lstStyle/>
          <a:p>
            <a:pPr>
              <a:spcAft>
                <a:spcPts val="0"/>
              </a:spcAft>
              <a:defRPr sz="1400" b="0">
                <a:solidFill>
                  <a:srgbClr val="61758A"/>
                </a:solidFill>
                <a:latin typeface="Aptos"/>
              </a:defRPr>
            </a:pPr>
            <a:r>
              <a:t>Two paths meet at retrieval: offline preparation and online question answering.</a:t>
            </a:r>
          </a:p>
        </p:txBody>
      </p:sp>
      <p:sp>
        <p:nvSpPr>
          <p:cNvPr id="7" name="Rectangle 6"/>
          <p:cNvSpPr/>
          <p:nvPr/>
        </p:nvSpPr>
        <p:spPr>
          <a:xfrm>
            <a:off x="502920" y="6556248"/>
            <a:ext cx="11155680" cy="10972"/>
          </a:xfrm>
          <a:prstGeom prst="rect">
            <a:avLst/>
          </a:prstGeom>
          <a:solidFill>
            <a:srgbClr val="DC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0"/>
            <a:ext cx="8229600" cy="155448"/>
          </a:xfrm>
          <a:prstGeom prst="rect">
            <a:avLst/>
          </a:prstGeom>
          <a:noFill/>
        </p:spPr>
        <p:txBody>
          <a:bodyPr wrap="square" lIns="36576" rIns="36576" tIns="13716" bIns="13716" anchor="ctr">
            <a:spAutoFit/>
          </a:bodyPr>
          <a:lstStyle/>
          <a:p>
            <a:pPr>
              <a:spcAft>
                <a:spcPts val="0"/>
              </a:spcAft>
              <a:defRPr sz="800" b="0">
                <a:solidFill>
                  <a:srgbClr val="61758A"/>
                </a:solidFill>
                <a:latin typeface="Aptos"/>
              </a:defRPr>
            </a:pPr>
            <a:r>
              <a:t>EU AI ACT  •  RAG ENGINEERING PORTFOLIO</a:t>
            </a:r>
          </a:p>
        </p:txBody>
      </p:sp>
      <p:sp>
        <p:nvSpPr>
          <p:cNvPr id="9" name="TextBox 8"/>
          <p:cNvSpPr txBox="1"/>
          <p:nvPr/>
        </p:nvSpPr>
        <p:spPr>
          <a:xfrm>
            <a:off x="11082528" y="6565392"/>
            <a:ext cx="502920" cy="201168"/>
          </a:xfrm>
          <a:prstGeom prst="rect">
            <a:avLst/>
          </a:prstGeom>
          <a:noFill/>
        </p:spPr>
        <p:txBody>
          <a:bodyPr wrap="square" lIns="36576" rIns="36576" tIns="13716" bIns="13716" anchor="ctr">
            <a:spAutoFit/>
          </a:bodyPr>
          <a:lstStyle/>
          <a:p>
            <a:pPr algn="r">
              <a:spcAft>
                <a:spcPts val="0"/>
              </a:spcAft>
              <a:defRPr sz="900" b="1">
                <a:solidFill>
                  <a:srgbClr val="61758A"/>
                </a:solidFill>
                <a:latin typeface="Aptos"/>
              </a:defRPr>
            </a:pPr>
            <a:r>
              <a:t>05</a:t>
            </a:r>
          </a:p>
        </p:txBody>
      </p:sp>
      <p:sp>
        <p:nvSpPr>
          <p:cNvPr id="10" name="Rounded Rectangle 9"/>
          <p:cNvSpPr/>
          <p:nvPr/>
        </p:nvSpPr>
        <p:spPr>
          <a:xfrm>
            <a:off x="685800" y="1600200"/>
            <a:ext cx="2852928" cy="329184"/>
          </a:xfrm>
          <a:prstGeom prst="roundRect">
            <a:avLst>
              <a:gd name="adj" fmla="val 16000"/>
            </a:avLst>
          </a:prstGeom>
          <a:solidFill>
            <a:srgbClr val="2B7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613916"/>
            <a:ext cx="2761488" cy="292608"/>
          </a:xfrm>
          <a:prstGeom prst="rect">
            <a:avLst/>
          </a:prstGeom>
          <a:noFill/>
        </p:spPr>
        <p:txBody>
          <a:bodyPr wrap="square" lIns="36576" rIns="36576" tIns="13716" bIns="13716" anchor="ctr">
            <a:spAutoFit/>
          </a:bodyPr>
          <a:lstStyle/>
          <a:p>
            <a:pPr algn="ctr">
              <a:spcAft>
                <a:spcPts val="0"/>
              </a:spcAft>
              <a:defRPr sz="1000" b="1">
                <a:solidFill>
                  <a:srgbClr val="FFFFFF"/>
                </a:solidFill>
                <a:latin typeface="Aptos"/>
              </a:defRPr>
            </a:pPr>
            <a:r>
              <a:t>OFFLINE — PREPARE THE KNOWLEDGE</a:t>
            </a:r>
          </a:p>
        </p:txBody>
      </p:sp>
      <p:sp>
        <p:nvSpPr>
          <p:cNvPr id="12" name="Rounded Rectangle 11"/>
          <p:cNvSpPr/>
          <p:nvPr/>
        </p:nvSpPr>
        <p:spPr>
          <a:xfrm>
            <a:off x="704088" y="2029968"/>
            <a:ext cx="1901952" cy="786384"/>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130552"/>
            <a:ext cx="1755648" cy="548640"/>
          </a:xfrm>
          <a:prstGeom prst="rect">
            <a:avLst/>
          </a:prstGeom>
          <a:noFill/>
        </p:spPr>
        <p:txBody>
          <a:bodyPr wrap="square" lIns="36576" rIns="36576" tIns="13716" bIns="13716" anchor="ctr">
            <a:spAutoFit/>
          </a:bodyPr>
          <a:lstStyle/>
          <a:p>
            <a:pPr algn="ctr">
              <a:spcAft>
                <a:spcPts val="0"/>
              </a:spcAft>
              <a:defRPr sz="1500" b="1">
                <a:solidFill>
                  <a:srgbClr val="10253F"/>
                </a:solidFill>
                <a:latin typeface="Aptos"/>
              </a:defRPr>
            </a:pPr>
            <a:r>
              <a:t>EU AI Act</a:t>
            </a:r>
          </a:p>
          <a:p>
            <a:pPr algn="ctr">
              <a:spcAft>
                <a:spcPts val="0"/>
              </a:spcAft>
              <a:defRPr sz="1500" b="1">
                <a:solidFill>
                  <a:srgbClr val="10253F"/>
                </a:solidFill>
                <a:latin typeface="Aptos"/>
              </a:defRPr>
            </a:pPr>
            <a:r>
              <a:t>PDF</a:t>
            </a:r>
          </a:p>
        </p:txBody>
      </p:sp>
      <p:cxnSp>
        <p:nvCxnSpPr>
          <p:cNvPr id="14" name="Connector 13"/>
          <p:cNvCxnSpPr/>
          <p:nvPr/>
        </p:nvCxnSpPr>
        <p:spPr>
          <a:xfrm>
            <a:off x="2606040" y="2423160"/>
            <a:ext cx="274320" cy="0"/>
          </a:xfrm>
          <a:prstGeom prst="line">
            <a:avLst/>
          </a:prstGeom>
          <a:ln w="25400">
            <a:solidFill>
              <a:srgbClr val="2B76B7"/>
            </a:solidFill>
          </a:ln>
        </p:spPr>
        <p:style>
          <a:lnRef idx="2">
            <a:schemeClr val="accent1"/>
          </a:lnRef>
          <a:fillRef idx="0">
            <a:schemeClr val="accent1"/>
          </a:fillRef>
          <a:effectRef idx="1">
            <a:schemeClr val="accent1"/>
          </a:effectRef>
          <a:fontRef idx="minor">
            <a:schemeClr val="tx1"/>
          </a:fontRef>
        </p:style>
      </p:cxnSp>
      <p:sp>
        <p:nvSpPr>
          <p:cNvPr id="15" name="Chevron 14"/>
          <p:cNvSpPr/>
          <p:nvPr/>
        </p:nvSpPr>
        <p:spPr>
          <a:xfrm>
            <a:off x="2816352" y="2359152"/>
            <a:ext cx="128016" cy="128016"/>
          </a:xfrm>
          <a:prstGeom prst="chevron">
            <a:avLst/>
          </a:prstGeom>
          <a:solidFill>
            <a:srgbClr val="2B7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907792" y="2029968"/>
            <a:ext cx="1901952" cy="786384"/>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80944" y="2130552"/>
            <a:ext cx="1755648" cy="548640"/>
          </a:xfrm>
          <a:prstGeom prst="rect">
            <a:avLst/>
          </a:prstGeom>
          <a:noFill/>
        </p:spPr>
        <p:txBody>
          <a:bodyPr wrap="square" lIns="36576" rIns="36576" tIns="13716" bIns="13716" anchor="ctr">
            <a:spAutoFit/>
          </a:bodyPr>
          <a:lstStyle/>
          <a:p>
            <a:pPr algn="ctr">
              <a:spcAft>
                <a:spcPts val="0"/>
              </a:spcAft>
              <a:defRPr sz="1500" b="1">
                <a:solidFill>
                  <a:srgbClr val="10253F"/>
                </a:solidFill>
                <a:latin typeface="Aptos"/>
              </a:defRPr>
            </a:pPr>
            <a:r>
              <a:t>Extract +</a:t>
            </a:r>
          </a:p>
          <a:p>
            <a:pPr algn="ctr">
              <a:spcAft>
                <a:spcPts val="0"/>
              </a:spcAft>
              <a:defRPr sz="1500" b="1">
                <a:solidFill>
                  <a:srgbClr val="10253F"/>
                </a:solidFill>
                <a:latin typeface="Aptos"/>
              </a:defRPr>
            </a:pPr>
            <a:r>
              <a:t>clean</a:t>
            </a:r>
          </a:p>
        </p:txBody>
      </p:sp>
      <p:cxnSp>
        <p:nvCxnSpPr>
          <p:cNvPr id="18" name="Connector 17"/>
          <p:cNvCxnSpPr/>
          <p:nvPr/>
        </p:nvCxnSpPr>
        <p:spPr>
          <a:xfrm>
            <a:off x="4809744" y="2423160"/>
            <a:ext cx="274320" cy="0"/>
          </a:xfrm>
          <a:prstGeom prst="line">
            <a:avLst/>
          </a:prstGeom>
          <a:ln w="25400">
            <a:solidFill>
              <a:srgbClr val="2B76B7"/>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a:off x="5020056" y="2359152"/>
            <a:ext cx="128016" cy="128016"/>
          </a:xfrm>
          <a:prstGeom prst="chevron">
            <a:avLst/>
          </a:prstGeom>
          <a:solidFill>
            <a:srgbClr val="2B7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11496" y="2029968"/>
            <a:ext cx="1901952" cy="786384"/>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84648" y="2130552"/>
            <a:ext cx="1755648" cy="548640"/>
          </a:xfrm>
          <a:prstGeom prst="rect">
            <a:avLst/>
          </a:prstGeom>
          <a:noFill/>
        </p:spPr>
        <p:txBody>
          <a:bodyPr wrap="square" lIns="36576" rIns="36576" tIns="13716" bIns="13716" anchor="ctr">
            <a:spAutoFit/>
          </a:bodyPr>
          <a:lstStyle/>
          <a:p>
            <a:pPr algn="ctr">
              <a:spcAft>
                <a:spcPts val="0"/>
              </a:spcAft>
              <a:defRPr sz="1500" b="1">
                <a:solidFill>
                  <a:srgbClr val="10253F"/>
                </a:solidFill>
                <a:latin typeface="Aptos"/>
              </a:defRPr>
            </a:pPr>
            <a:r>
              <a:t>160 labelled</a:t>
            </a:r>
          </a:p>
          <a:p>
            <a:pPr algn="ctr">
              <a:spcAft>
                <a:spcPts val="0"/>
              </a:spcAft>
              <a:defRPr sz="1500" b="1">
                <a:solidFill>
                  <a:srgbClr val="10253F"/>
                </a:solidFill>
                <a:latin typeface="Aptos"/>
              </a:defRPr>
            </a:pPr>
            <a:r>
              <a:t>chunks</a:t>
            </a:r>
          </a:p>
        </p:txBody>
      </p:sp>
      <p:cxnSp>
        <p:nvCxnSpPr>
          <p:cNvPr id="22" name="Connector 21"/>
          <p:cNvCxnSpPr/>
          <p:nvPr/>
        </p:nvCxnSpPr>
        <p:spPr>
          <a:xfrm>
            <a:off x="7013448" y="2423160"/>
            <a:ext cx="274320" cy="0"/>
          </a:xfrm>
          <a:prstGeom prst="line">
            <a:avLst/>
          </a:prstGeom>
          <a:ln w="25400">
            <a:solidFill>
              <a:srgbClr val="2B76B7"/>
            </a:solidFill>
          </a:ln>
        </p:spPr>
        <p:style>
          <a:lnRef idx="2">
            <a:schemeClr val="accent1"/>
          </a:lnRef>
          <a:fillRef idx="0">
            <a:schemeClr val="accent1"/>
          </a:fillRef>
          <a:effectRef idx="1">
            <a:schemeClr val="accent1"/>
          </a:effectRef>
          <a:fontRef idx="minor">
            <a:schemeClr val="tx1"/>
          </a:fontRef>
        </p:style>
      </p:cxnSp>
      <p:sp>
        <p:nvSpPr>
          <p:cNvPr id="23" name="Chevron 22"/>
          <p:cNvSpPr/>
          <p:nvPr/>
        </p:nvSpPr>
        <p:spPr>
          <a:xfrm>
            <a:off x="7223759" y="2359152"/>
            <a:ext cx="128016" cy="128016"/>
          </a:xfrm>
          <a:prstGeom prst="chevron">
            <a:avLst/>
          </a:prstGeom>
          <a:solidFill>
            <a:srgbClr val="2B7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15200" y="2029968"/>
            <a:ext cx="1901952" cy="786384"/>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88352" y="2130552"/>
            <a:ext cx="1755648" cy="548640"/>
          </a:xfrm>
          <a:prstGeom prst="rect">
            <a:avLst/>
          </a:prstGeom>
          <a:noFill/>
        </p:spPr>
        <p:txBody>
          <a:bodyPr wrap="square" lIns="36576" rIns="36576" tIns="13716" bIns="13716" anchor="ctr">
            <a:spAutoFit/>
          </a:bodyPr>
          <a:lstStyle/>
          <a:p>
            <a:pPr algn="ctr">
              <a:spcAft>
                <a:spcPts val="0"/>
              </a:spcAft>
              <a:defRPr sz="1500" b="1">
                <a:solidFill>
                  <a:srgbClr val="10253F"/>
                </a:solidFill>
                <a:latin typeface="Aptos"/>
              </a:defRPr>
            </a:pPr>
            <a:r>
              <a:t>BGE</a:t>
            </a:r>
          </a:p>
          <a:p>
            <a:pPr algn="ctr">
              <a:spcAft>
                <a:spcPts val="0"/>
              </a:spcAft>
              <a:defRPr sz="1500" b="1">
                <a:solidFill>
                  <a:srgbClr val="10253F"/>
                </a:solidFill>
                <a:latin typeface="Aptos"/>
              </a:defRPr>
            </a:pPr>
            <a:r>
              <a:t>embeddings</a:t>
            </a:r>
          </a:p>
        </p:txBody>
      </p:sp>
      <p:cxnSp>
        <p:nvCxnSpPr>
          <p:cNvPr id="26" name="Connector 25"/>
          <p:cNvCxnSpPr/>
          <p:nvPr/>
        </p:nvCxnSpPr>
        <p:spPr>
          <a:xfrm>
            <a:off x="9217152" y="2423160"/>
            <a:ext cx="274320" cy="0"/>
          </a:xfrm>
          <a:prstGeom prst="line">
            <a:avLst/>
          </a:prstGeom>
          <a:ln w="25400">
            <a:solidFill>
              <a:srgbClr val="2B76B7"/>
            </a:solidFill>
          </a:ln>
        </p:spPr>
        <p:style>
          <a:lnRef idx="2">
            <a:schemeClr val="accent1"/>
          </a:lnRef>
          <a:fillRef idx="0">
            <a:schemeClr val="accent1"/>
          </a:fillRef>
          <a:effectRef idx="1">
            <a:schemeClr val="accent1"/>
          </a:effectRef>
          <a:fontRef idx="minor">
            <a:schemeClr val="tx1"/>
          </a:fontRef>
        </p:style>
      </p:cxnSp>
      <p:sp>
        <p:nvSpPr>
          <p:cNvPr id="27" name="Chevron 26"/>
          <p:cNvSpPr/>
          <p:nvPr/>
        </p:nvSpPr>
        <p:spPr>
          <a:xfrm>
            <a:off x="9427463" y="2359152"/>
            <a:ext cx="128016" cy="128016"/>
          </a:xfrm>
          <a:prstGeom prst="chevron">
            <a:avLst/>
          </a:prstGeom>
          <a:solidFill>
            <a:srgbClr val="2B7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518904" y="2029968"/>
            <a:ext cx="1901952" cy="786384"/>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92056" y="2130552"/>
            <a:ext cx="1755648" cy="548640"/>
          </a:xfrm>
          <a:prstGeom prst="rect">
            <a:avLst/>
          </a:prstGeom>
          <a:noFill/>
        </p:spPr>
        <p:txBody>
          <a:bodyPr wrap="square" lIns="36576" rIns="36576" tIns="13716" bIns="13716" anchor="ctr">
            <a:spAutoFit/>
          </a:bodyPr>
          <a:lstStyle/>
          <a:p>
            <a:pPr algn="ctr">
              <a:spcAft>
                <a:spcPts val="0"/>
              </a:spcAft>
              <a:defRPr sz="1500" b="1">
                <a:solidFill>
                  <a:srgbClr val="10253F"/>
                </a:solidFill>
                <a:latin typeface="Aptos"/>
              </a:defRPr>
            </a:pPr>
            <a:r>
              <a:t>FAISS</a:t>
            </a:r>
          </a:p>
          <a:p>
            <a:pPr algn="ctr">
              <a:spcAft>
                <a:spcPts val="0"/>
              </a:spcAft>
              <a:defRPr sz="1500" b="1">
                <a:solidFill>
                  <a:srgbClr val="10253F"/>
                </a:solidFill>
                <a:latin typeface="Aptos"/>
              </a:defRPr>
            </a:pPr>
            <a:r>
              <a:t>index</a:t>
            </a:r>
          </a:p>
        </p:txBody>
      </p:sp>
      <p:sp>
        <p:nvSpPr>
          <p:cNvPr id="30" name="Rounded Rectangle 29"/>
          <p:cNvSpPr/>
          <p:nvPr/>
        </p:nvSpPr>
        <p:spPr>
          <a:xfrm>
            <a:off x="685800" y="3657600"/>
            <a:ext cx="2907792" cy="329184"/>
          </a:xfrm>
          <a:prstGeom prst="roundRect">
            <a:avLst>
              <a:gd name="adj" fmla="val 16000"/>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3671315"/>
            <a:ext cx="2816352" cy="292608"/>
          </a:xfrm>
          <a:prstGeom prst="rect">
            <a:avLst/>
          </a:prstGeom>
          <a:noFill/>
        </p:spPr>
        <p:txBody>
          <a:bodyPr wrap="square" lIns="36576" rIns="36576" tIns="13716" bIns="13716" anchor="ctr">
            <a:spAutoFit/>
          </a:bodyPr>
          <a:lstStyle/>
          <a:p>
            <a:pPr algn="ctr">
              <a:spcAft>
                <a:spcPts val="0"/>
              </a:spcAft>
              <a:defRPr sz="1000" b="1">
                <a:solidFill>
                  <a:srgbClr val="FFFFFF"/>
                </a:solidFill>
                <a:latin typeface="Aptos"/>
              </a:defRPr>
            </a:pPr>
            <a:r>
              <a:t>ONLINE — ANSWER THE QUESTION</a:t>
            </a:r>
          </a:p>
        </p:txBody>
      </p:sp>
      <p:sp>
        <p:nvSpPr>
          <p:cNvPr id="32" name="Rounded Rectangle 31"/>
          <p:cNvSpPr/>
          <p:nvPr/>
        </p:nvSpPr>
        <p:spPr>
          <a:xfrm>
            <a:off x="704088" y="4069080"/>
            <a:ext cx="1901952" cy="786384"/>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4178808"/>
            <a:ext cx="1755648" cy="548640"/>
          </a:xfrm>
          <a:prstGeom prst="rect">
            <a:avLst/>
          </a:prstGeom>
          <a:noFill/>
        </p:spPr>
        <p:txBody>
          <a:bodyPr wrap="square" lIns="36576" rIns="36576" tIns="13716" bIns="13716" anchor="ctr">
            <a:spAutoFit/>
          </a:bodyPr>
          <a:lstStyle/>
          <a:p>
            <a:pPr algn="ctr">
              <a:spcAft>
                <a:spcPts val="0"/>
              </a:spcAft>
              <a:defRPr sz="1500" b="1">
                <a:solidFill>
                  <a:srgbClr val="10253F"/>
                </a:solidFill>
                <a:latin typeface="Aptos"/>
              </a:defRPr>
            </a:pPr>
            <a:r>
              <a:t>User</a:t>
            </a:r>
          </a:p>
          <a:p>
            <a:pPr algn="ctr">
              <a:spcAft>
                <a:spcPts val="0"/>
              </a:spcAft>
              <a:defRPr sz="1500" b="1">
                <a:solidFill>
                  <a:srgbClr val="10253F"/>
                </a:solidFill>
                <a:latin typeface="Aptos"/>
              </a:defRPr>
            </a:pPr>
            <a:r>
              <a:t>question</a:t>
            </a:r>
          </a:p>
        </p:txBody>
      </p:sp>
      <p:cxnSp>
        <p:nvCxnSpPr>
          <p:cNvPr id="34" name="Connector 33"/>
          <p:cNvCxnSpPr/>
          <p:nvPr/>
        </p:nvCxnSpPr>
        <p:spPr>
          <a:xfrm>
            <a:off x="2606040" y="4462272"/>
            <a:ext cx="274320" cy="0"/>
          </a:xfrm>
          <a:prstGeom prst="line">
            <a:avLst/>
          </a:prstGeom>
          <a:ln w="25400">
            <a:solidFill>
              <a:srgbClr val="00A99D"/>
            </a:solidFill>
          </a:ln>
        </p:spPr>
        <p:style>
          <a:lnRef idx="2">
            <a:schemeClr val="accent1"/>
          </a:lnRef>
          <a:fillRef idx="0">
            <a:schemeClr val="accent1"/>
          </a:fillRef>
          <a:effectRef idx="1">
            <a:schemeClr val="accent1"/>
          </a:effectRef>
          <a:fontRef idx="minor">
            <a:schemeClr val="tx1"/>
          </a:fontRef>
        </p:style>
      </p:cxnSp>
      <p:sp>
        <p:nvSpPr>
          <p:cNvPr id="35" name="Chevron 34"/>
          <p:cNvSpPr/>
          <p:nvPr/>
        </p:nvSpPr>
        <p:spPr>
          <a:xfrm>
            <a:off x="2816352" y="4398264"/>
            <a:ext cx="128016" cy="128016"/>
          </a:xfrm>
          <a:prstGeom prst="chevron">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2907792" y="4069080"/>
            <a:ext cx="1901952" cy="786384"/>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980944" y="4178808"/>
            <a:ext cx="1755648" cy="548640"/>
          </a:xfrm>
          <a:prstGeom prst="rect">
            <a:avLst/>
          </a:prstGeom>
          <a:noFill/>
        </p:spPr>
        <p:txBody>
          <a:bodyPr wrap="square" lIns="36576" rIns="36576" tIns="13716" bIns="13716" anchor="ctr">
            <a:spAutoFit/>
          </a:bodyPr>
          <a:lstStyle/>
          <a:p>
            <a:pPr algn="ctr">
              <a:spcAft>
                <a:spcPts val="0"/>
              </a:spcAft>
              <a:defRPr sz="1500" b="1">
                <a:solidFill>
                  <a:srgbClr val="10253F"/>
                </a:solidFill>
                <a:latin typeface="Aptos"/>
              </a:defRPr>
            </a:pPr>
            <a:r>
              <a:t>BGE</a:t>
            </a:r>
          </a:p>
          <a:p>
            <a:pPr algn="ctr">
              <a:spcAft>
                <a:spcPts val="0"/>
              </a:spcAft>
              <a:defRPr sz="1500" b="1">
                <a:solidFill>
                  <a:srgbClr val="10253F"/>
                </a:solidFill>
                <a:latin typeface="Aptos"/>
              </a:defRPr>
            </a:pPr>
            <a:r>
              <a:t>query vector</a:t>
            </a:r>
          </a:p>
        </p:txBody>
      </p:sp>
      <p:cxnSp>
        <p:nvCxnSpPr>
          <p:cNvPr id="38" name="Connector 37"/>
          <p:cNvCxnSpPr/>
          <p:nvPr/>
        </p:nvCxnSpPr>
        <p:spPr>
          <a:xfrm>
            <a:off x="4809744" y="4462272"/>
            <a:ext cx="274320" cy="0"/>
          </a:xfrm>
          <a:prstGeom prst="line">
            <a:avLst/>
          </a:prstGeom>
          <a:ln w="25400">
            <a:solidFill>
              <a:srgbClr val="00A99D"/>
            </a:solidFill>
          </a:ln>
        </p:spPr>
        <p:style>
          <a:lnRef idx="2">
            <a:schemeClr val="accent1"/>
          </a:lnRef>
          <a:fillRef idx="0">
            <a:schemeClr val="accent1"/>
          </a:fillRef>
          <a:effectRef idx="1">
            <a:schemeClr val="accent1"/>
          </a:effectRef>
          <a:fontRef idx="minor">
            <a:schemeClr val="tx1"/>
          </a:fontRef>
        </p:style>
      </p:cxnSp>
      <p:sp>
        <p:nvSpPr>
          <p:cNvPr id="39" name="Chevron 38"/>
          <p:cNvSpPr/>
          <p:nvPr/>
        </p:nvSpPr>
        <p:spPr>
          <a:xfrm>
            <a:off x="5020056" y="4398264"/>
            <a:ext cx="128016" cy="128016"/>
          </a:xfrm>
          <a:prstGeom prst="chevron">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5111496" y="4069080"/>
            <a:ext cx="1901952" cy="786384"/>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184648" y="4178808"/>
            <a:ext cx="1755648" cy="548640"/>
          </a:xfrm>
          <a:prstGeom prst="rect">
            <a:avLst/>
          </a:prstGeom>
          <a:noFill/>
        </p:spPr>
        <p:txBody>
          <a:bodyPr wrap="square" lIns="36576" rIns="36576" tIns="13716" bIns="13716" anchor="ctr">
            <a:spAutoFit/>
          </a:bodyPr>
          <a:lstStyle/>
          <a:p>
            <a:pPr algn="ctr">
              <a:spcAft>
                <a:spcPts val="0"/>
              </a:spcAft>
              <a:defRPr sz="1500" b="1">
                <a:solidFill>
                  <a:srgbClr val="10253F"/>
                </a:solidFill>
                <a:latin typeface="Aptos"/>
              </a:defRPr>
            </a:pPr>
            <a:r>
              <a:t>Top-5 +</a:t>
            </a:r>
          </a:p>
          <a:p>
            <a:pPr algn="ctr">
              <a:spcAft>
                <a:spcPts val="0"/>
              </a:spcAft>
              <a:defRPr sz="1500" b="1">
                <a:solidFill>
                  <a:srgbClr val="10253F"/>
                </a:solidFill>
                <a:latin typeface="Aptos"/>
              </a:defRPr>
            </a:pPr>
            <a:r>
              <a:t>expand</a:t>
            </a:r>
          </a:p>
        </p:txBody>
      </p:sp>
      <p:cxnSp>
        <p:nvCxnSpPr>
          <p:cNvPr id="42" name="Connector 41"/>
          <p:cNvCxnSpPr/>
          <p:nvPr/>
        </p:nvCxnSpPr>
        <p:spPr>
          <a:xfrm>
            <a:off x="7013448" y="4462272"/>
            <a:ext cx="274320" cy="0"/>
          </a:xfrm>
          <a:prstGeom prst="line">
            <a:avLst/>
          </a:prstGeom>
          <a:ln w="25400">
            <a:solidFill>
              <a:srgbClr val="00A99D"/>
            </a:solidFill>
          </a:ln>
        </p:spPr>
        <p:style>
          <a:lnRef idx="2">
            <a:schemeClr val="accent1"/>
          </a:lnRef>
          <a:fillRef idx="0">
            <a:schemeClr val="accent1"/>
          </a:fillRef>
          <a:effectRef idx="1">
            <a:schemeClr val="accent1"/>
          </a:effectRef>
          <a:fontRef idx="minor">
            <a:schemeClr val="tx1"/>
          </a:fontRef>
        </p:style>
      </p:cxnSp>
      <p:sp>
        <p:nvSpPr>
          <p:cNvPr id="43" name="Chevron 42"/>
          <p:cNvSpPr/>
          <p:nvPr/>
        </p:nvSpPr>
        <p:spPr>
          <a:xfrm>
            <a:off x="7223759" y="4398264"/>
            <a:ext cx="128016" cy="128016"/>
          </a:xfrm>
          <a:prstGeom prst="chevron">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7315200" y="4069080"/>
            <a:ext cx="1901952" cy="786384"/>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88352" y="4178808"/>
            <a:ext cx="1755648" cy="548640"/>
          </a:xfrm>
          <a:prstGeom prst="rect">
            <a:avLst/>
          </a:prstGeom>
          <a:noFill/>
        </p:spPr>
        <p:txBody>
          <a:bodyPr wrap="square" lIns="36576" rIns="36576" tIns="13716" bIns="13716" anchor="ctr">
            <a:spAutoFit/>
          </a:bodyPr>
          <a:lstStyle/>
          <a:p>
            <a:pPr algn="ctr">
              <a:spcAft>
                <a:spcPts val="0"/>
              </a:spcAft>
              <a:defRPr sz="1500" b="1">
                <a:solidFill>
                  <a:srgbClr val="10253F"/>
                </a:solidFill>
                <a:latin typeface="Aptos"/>
              </a:defRPr>
            </a:pPr>
            <a:r>
              <a:t>Groq</a:t>
            </a:r>
          </a:p>
          <a:p>
            <a:pPr algn="ctr">
              <a:spcAft>
                <a:spcPts val="0"/>
              </a:spcAft>
              <a:defRPr sz="1500" b="1">
                <a:solidFill>
                  <a:srgbClr val="10253F"/>
                </a:solidFill>
                <a:latin typeface="Aptos"/>
              </a:defRPr>
            </a:pPr>
            <a:r>
              <a:t>LLM</a:t>
            </a:r>
          </a:p>
        </p:txBody>
      </p:sp>
      <p:cxnSp>
        <p:nvCxnSpPr>
          <p:cNvPr id="46" name="Connector 45"/>
          <p:cNvCxnSpPr/>
          <p:nvPr/>
        </p:nvCxnSpPr>
        <p:spPr>
          <a:xfrm>
            <a:off x="9217152" y="4462272"/>
            <a:ext cx="274320" cy="0"/>
          </a:xfrm>
          <a:prstGeom prst="line">
            <a:avLst/>
          </a:prstGeom>
          <a:ln w="25400">
            <a:solidFill>
              <a:srgbClr val="00A99D"/>
            </a:solidFill>
          </a:ln>
        </p:spPr>
        <p:style>
          <a:lnRef idx="2">
            <a:schemeClr val="accent1"/>
          </a:lnRef>
          <a:fillRef idx="0">
            <a:schemeClr val="accent1"/>
          </a:fillRef>
          <a:effectRef idx="1">
            <a:schemeClr val="accent1"/>
          </a:effectRef>
          <a:fontRef idx="minor">
            <a:schemeClr val="tx1"/>
          </a:fontRef>
        </p:style>
      </p:cxnSp>
      <p:sp>
        <p:nvSpPr>
          <p:cNvPr id="47" name="Chevron 46"/>
          <p:cNvSpPr/>
          <p:nvPr/>
        </p:nvSpPr>
        <p:spPr>
          <a:xfrm>
            <a:off x="9427463" y="4398264"/>
            <a:ext cx="128016" cy="128016"/>
          </a:xfrm>
          <a:prstGeom prst="chevron">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9518904" y="4069080"/>
            <a:ext cx="1901952" cy="786384"/>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592056" y="4178808"/>
            <a:ext cx="1755648" cy="548640"/>
          </a:xfrm>
          <a:prstGeom prst="rect">
            <a:avLst/>
          </a:prstGeom>
          <a:noFill/>
        </p:spPr>
        <p:txBody>
          <a:bodyPr wrap="square" lIns="36576" rIns="36576" tIns="13716" bIns="13716" anchor="ctr">
            <a:spAutoFit/>
          </a:bodyPr>
          <a:lstStyle/>
          <a:p>
            <a:pPr algn="ctr">
              <a:spcAft>
                <a:spcPts val="0"/>
              </a:spcAft>
              <a:defRPr sz="1500" b="1">
                <a:solidFill>
                  <a:srgbClr val="10253F"/>
                </a:solidFill>
                <a:latin typeface="Aptos"/>
              </a:defRPr>
            </a:pPr>
            <a:r>
              <a:t>Answer +</a:t>
            </a:r>
          </a:p>
          <a:p>
            <a:pPr algn="ctr">
              <a:spcAft>
                <a:spcPts val="0"/>
              </a:spcAft>
              <a:defRPr sz="1500" b="1">
                <a:solidFill>
                  <a:srgbClr val="10253F"/>
                </a:solidFill>
                <a:latin typeface="Aptos"/>
              </a:defRPr>
            </a:pPr>
            <a:r>
              <a:t>Articles</a:t>
            </a:r>
          </a:p>
        </p:txBody>
      </p:sp>
      <p:cxnSp>
        <p:nvCxnSpPr>
          <p:cNvPr id="50" name="Connector 49"/>
          <p:cNvCxnSpPr/>
          <p:nvPr/>
        </p:nvCxnSpPr>
        <p:spPr>
          <a:xfrm flipH="1">
            <a:off x="5989320" y="2816352"/>
            <a:ext cx="4480560" cy="1252728"/>
          </a:xfrm>
          <a:prstGeom prst="line">
            <a:avLst/>
          </a:prstGeom>
          <a:ln w="25400">
            <a:solidFill>
              <a:srgbClr val="F4B544"/>
            </a:solidFill>
          </a:ln>
        </p:spPr>
        <p:style>
          <a:lnRef idx="2">
            <a:schemeClr val="accent1"/>
          </a:lnRef>
          <a:fillRef idx="0">
            <a:schemeClr val="accent1"/>
          </a:fillRef>
          <a:effectRef idx="1">
            <a:schemeClr val="accent1"/>
          </a:effectRef>
          <a:fontRef idx="minor">
            <a:schemeClr val="tx1"/>
          </a:fontRef>
        </p:style>
      </p:cxnSp>
      <p:sp>
        <p:nvSpPr>
          <p:cNvPr id="51" name="Chevron 50"/>
          <p:cNvSpPr/>
          <p:nvPr/>
        </p:nvSpPr>
        <p:spPr>
          <a:xfrm rot="9862767">
            <a:off x="5925312" y="4005072"/>
            <a:ext cx="128016" cy="128016"/>
          </a:xfrm>
          <a:prstGeom prst="chevron">
            <a:avLst/>
          </a:prstGeom>
          <a:solidFill>
            <a:srgbClr val="F4B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315200" y="3090672"/>
            <a:ext cx="2926080" cy="347472"/>
          </a:xfrm>
          <a:prstGeom prst="rect">
            <a:avLst/>
          </a:prstGeom>
          <a:noFill/>
        </p:spPr>
        <p:txBody>
          <a:bodyPr wrap="square" lIns="36576" rIns="36576" tIns="13716" bIns="13716" anchor="ctr">
            <a:spAutoFit/>
          </a:bodyPr>
          <a:lstStyle/>
          <a:p>
            <a:pPr>
              <a:spcAft>
                <a:spcPts val="0"/>
              </a:spcAft>
              <a:defRPr sz="1200" b="1">
                <a:solidFill>
                  <a:srgbClr val="61758A"/>
                </a:solidFill>
                <a:latin typeface="Aptos"/>
              </a:defRPr>
            </a:pPr>
            <a:r>
              <a:t>Saved index supplies retrieval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19456"/>
            <a:ext cx="10881360" cy="219456"/>
          </a:xfrm>
          <a:prstGeom prst="rect">
            <a:avLst/>
          </a:prstGeom>
          <a:noFill/>
        </p:spPr>
        <p:txBody>
          <a:bodyPr wrap="square" lIns="36576" rIns="36576" tIns="13716" bIns="13716" anchor="ctr">
            <a:spAutoFit/>
          </a:bodyPr>
          <a:lstStyle/>
          <a:p>
            <a:pPr>
              <a:spcAft>
                <a:spcPts val="0"/>
              </a:spcAft>
              <a:defRPr sz="1000" b="1">
                <a:solidFill>
                  <a:srgbClr val="00A99D"/>
                </a:solidFill>
                <a:latin typeface="Aptos"/>
              </a:defRPr>
            </a:pPr>
            <a:r>
              <a:t>05 / DATA ENGINEERING</a:t>
            </a:r>
          </a:p>
        </p:txBody>
      </p:sp>
      <p:sp>
        <p:nvSpPr>
          <p:cNvPr id="5" name="TextBox 4"/>
          <p:cNvSpPr txBox="1"/>
          <p:nvPr/>
        </p:nvSpPr>
        <p:spPr>
          <a:xfrm>
            <a:off x="502920" y="530352"/>
            <a:ext cx="11201400" cy="557784"/>
          </a:xfrm>
          <a:prstGeom prst="rect">
            <a:avLst/>
          </a:prstGeom>
          <a:noFill/>
        </p:spPr>
        <p:txBody>
          <a:bodyPr wrap="square" lIns="36576" rIns="36576" tIns="13716" bIns="13716" anchor="ctr">
            <a:spAutoFit/>
          </a:bodyPr>
          <a:lstStyle/>
          <a:p>
            <a:pPr>
              <a:spcAft>
                <a:spcPts val="0"/>
              </a:spcAft>
              <a:defRPr sz="2800" b="1">
                <a:solidFill>
                  <a:srgbClr val="10253F"/>
                </a:solidFill>
                <a:latin typeface="Aptos"/>
              </a:defRPr>
            </a:pPr>
            <a:r>
              <a:t>Step 1–2  |  Acquire, extract and clean</a:t>
            </a:r>
          </a:p>
        </p:txBody>
      </p:sp>
      <p:sp>
        <p:nvSpPr>
          <p:cNvPr id="6" name="TextBox 5"/>
          <p:cNvSpPr txBox="1"/>
          <p:nvPr/>
        </p:nvSpPr>
        <p:spPr>
          <a:xfrm>
            <a:off x="521207" y="1133856"/>
            <a:ext cx="11064240" cy="393192"/>
          </a:xfrm>
          <a:prstGeom prst="rect">
            <a:avLst/>
          </a:prstGeom>
          <a:noFill/>
        </p:spPr>
        <p:txBody>
          <a:bodyPr wrap="square" lIns="36576" rIns="36576" tIns="13716" bIns="13716" anchor="ctr">
            <a:spAutoFit/>
          </a:bodyPr>
          <a:lstStyle/>
          <a:p>
            <a:pPr>
              <a:spcAft>
                <a:spcPts val="0"/>
              </a:spcAft>
              <a:defRPr sz="1400" b="0">
                <a:solidFill>
                  <a:srgbClr val="61758A"/>
                </a:solidFill>
                <a:latin typeface="Aptos"/>
              </a:defRPr>
            </a:pPr>
            <a:r>
              <a:t>Source: consolidated EU AI Act, EUR-Lex version dated 27 July 2026.</a:t>
            </a:r>
          </a:p>
        </p:txBody>
      </p:sp>
      <p:sp>
        <p:nvSpPr>
          <p:cNvPr id="7" name="Rectangle 6"/>
          <p:cNvSpPr/>
          <p:nvPr/>
        </p:nvSpPr>
        <p:spPr>
          <a:xfrm>
            <a:off x="502920" y="6556248"/>
            <a:ext cx="11155680" cy="10972"/>
          </a:xfrm>
          <a:prstGeom prst="rect">
            <a:avLst/>
          </a:prstGeom>
          <a:solidFill>
            <a:srgbClr val="DC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0"/>
            <a:ext cx="8229600" cy="155448"/>
          </a:xfrm>
          <a:prstGeom prst="rect">
            <a:avLst/>
          </a:prstGeom>
          <a:noFill/>
        </p:spPr>
        <p:txBody>
          <a:bodyPr wrap="square" lIns="36576" rIns="36576" tIns="13716" bIns="13716" anchor="ctr">
            <a:spAutoFit/>
          </a:bodyPr>
          <a:lstStyle/>
          <a:p>
            <a:pPr>
              <a:spcAft>
                <a:spcPts val="0"/>
              </a:spcAft>
              <a:defRPr sz="800" b="0">
                <a:solidFill>
                  <a:srgbClr val="61758A"/>
                </a:solidFill>
                <a:latin typeface="Aptos"/>
              </a:defRPr>
            </a:pPr>
            <a:r>
              <a:t>EU AI ACT  •  RAG ENGINEERING PORTFOLIO</a:t>
            </a:r>
          </a:p>
        </p:txBody>
      </p:sp>
      <p:sp>
        <p:nvSpPr>
          <p:cNvPr id="9" name="TextBox 8"/>
          <p:cNvSpPr txBox="1"/>
          <p:nvPr/>
        </p:nvSpPr>
        <p:spPr>
          <a:xfrm>
            <a:off x="11082528" y="6565392"/>
            <a:ext cx="502920" cy="201168"/>
          </a:xfrm>
          <a:prstGeom prst="rect">
            <a:avLst/>
          </a:prstGeom>
          <a:noFill/>
        </p:spPr>
        <p:txBody>
          <a:bodyPr wrap="square" lIns="36576" rIns="36576" tIns="13716" bIns="13716" anchor="ctr">
            <a:spAutoFit/>
          </a:bodyPr>
          <a:lstStyle/>
          <a:p>
            <a:pPr algn="r">
              <a:spcAft>
                <a:spcPts val="0"/>
              </a:spcAft>
              <a:defRPr sz="900" b="1">
                <a:solidFill>
                  <a:srgbClr val="61758A"/>
                </a:solidFill>
                <a:latin typeface="Aptos"/>
              </a:defRPr>
            </a:pPr>
            <a:r>
              <a:t>06</a:t>
            </a:r>
          </a:p>
        </p:txBody>
      </p:sp>
      <p:sp>
        <p:nvSpPr>
          <p:cNvPr id="10" name="Rounded Rectangle 9"/>
          <p:cNvSpPr/>
          <p:nvPr/>
        </p:nvSpPr>
        <p:spPr>
          <a:xfrm>
            <a:off x="685800" y="1828800"/>
            <a:ext cx="3429000" cy="3108960"/>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32104" y="1993392"/>
            <a:ext cx="393192" cy="393192"/>
          </a:xfrm>
          <a:prstGeom prst="roundRect">
            <a:avLst>
              <a:gd name="adj" fmla="val 16000"/>
            </a:avLst>
          </a:prstGeom>
          <a:solidFill>
            <a:srgbClr val="2B7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 y="1993392"/>
            <a:ext cx="393192" cy="393192"/>
          </a:xfrm>
          <a:prstGeom prst="rect">
            <a:avLst/>
          </a:prstGeom>
          <a:noFill/>
        </p:spPr>
        <p:txBody>
          <a:bodyPr wrap="square" lIns="36576" rIns="36576" tIns="13716" bIns="13716" anchor="ctr">
            <a:spAutoFit/>
          </a:bodyPr>
          <a:lstStyle/>
          <a:p>
            <a:pPr algn="ctr">
              <a:spcAft>
                <a:spcPts val="0"/>
              </a:spcAft>
              <a:defRPr sz="1300" b="1">
                <a:solidFill>
                  <a:srgbClr val="FFFFFF"/>
                </a:solidFill>
                <a:latin typeface="Aptos"/>
              </a:defRPr>
            </a:pPr>
            <a:r>
              <a:t>1</a:t>
            </a:r>
          </a:p>
        </p:txBody>
      </p:sp>
      <p:sp>
        <p:nvSpPr>
          <p:cNvPr id="13" name="TextBox 12"/>
          <p:cNvSpPr txBox="1"/>
          <p:nvPr/>
        </p:nvSpPr>
        <p:spPr>
          <a:xfrm>
            <a:off x="1316736" y="1965960"/>
            <a:ext cx="2651760" cy="347472"/>
          </a:xfrm>
          <a:prstGeom prst="rect">
            <a:avLst/>
          </a:prstGeom>
          <a:noFill/>
        </p:spPr>
        <p:txBody>
          <a:bodyPr wrap="square" lIns="36576" rIns="36576" tIns="13716" bIns="13716" anchor="ctr">
            <a:spAutoFit/>
          </a:bodyPr>
          <a:lstStyle/>
          <a:p>
            <a:pPr>
              <a:spcAft>
                <a:spcPts val="0"/>
              </a:spcAft>
              <a:defRPr sz="1600" b="1">
                <a:solidFill>
                  <a:srgbClr val="10253F"/>
                </a:solidFill>
                <a:latin typeface="Aptos"/>
              </a:defRPr>
            </a:pPr>
            <a:r>
              <a:t>Collect</a:t>
            </a:r>
          </a:p>
        </p:txBody>
      </p:sp>
      <p:sp>
        <p:nvSpPr>
          <p:cNvPr id="14" name="TextBox 13"/>
          <p:cNvSpPr txBox="1"/>
          <p:nvPr/>
        </p:nvSpPr>
        <p:spPr>
          <a:xfrm>
            <a:off x="850392" y="2468880"/>
            <a:ext cx="3118104" cy="2377439"/>
          </a:xfrm>
          <a:prstGeom prst="rect">
            <a:avLst/>
          </a:prstGeom>
          <a:noFill/>
        </p:spPr>
        <p:txBody>
          <a:bodyPr wrap="square" lIns="36576" rIns="36576" tIns="13716" bIns="13716" anchor="t">
            <a:spAutoFit/>
          </a:bodyPr>
          <a:lstStyle/>
          <a:p>
            <a:pPr>
              <a:spcAft>
                <a:spcPts val="0"/>
              </a:spcAft>
              <a:defRPr sz="1200" b="0">
                <a:solidFill>
                  <a:srgbClr val="61758A"/>
                </a:solidFill>
                <a:latin typeface="Aptos"/>
              </a:defRPr>
            </a:pPr>
            <a:r>
              <a:t>Download the ~1.3 MB consolidated EU AI Act PDF from EUR-Lex.</a:t>
            </a:r>
          </a:p>
        </p:txBody>
      </p:sp>
      <p:sp>
        <p:nvSpPr>
          <p:cNvPr id="15" name="Rounded Rectangle 14"/>
          <p:cNvSpPr/>
          <p:nvPr/>
        </p:nvSpPr>
        <p:spPr>
          <a:xfrm>
            <a:off x="4379976" y="1828800"/>
            <a:ext cx="3429000" cy="3108960"/>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526280" y="1993392"/>
            <a:ext cx="393192" cy="393192"/>
          </a:xfrm>
          <a:prstGeom prst="roundRect">
            <a:avLst>
              <a:gd name="adj" fmla="val 16000"/>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1993392"/>
            <a:ext cx="393192" cy="393192"/>
          </a:xfrm>
          <a:prstGeom prst="rect">
            <a:avLst/>
          </a:prstGeom>
          <a:noFill/>
        </p:spPr>
        <p:txBody>
          <a:bodyPr wrap="square" lIns="36576" rIns="36576" tIns="13716" bIns="13716" anchor="ctr">
            <a:spAutoFit/>
          </a:bodyPr>
          <a:lstStyle/>
          <a:p>
            <a:pPr algn="ctr">
              <a:spcAft>
                <a:spcPts val="0"/>
              </a:spcAft>
              <a:defRPr sz="1300" b="1">
                <a:solidFill>
                  <a:srgbClr val="FFFFFF"/>
                </a:solidFill>
                <a:latin typeface="Aptos"/>
              </a:defRPr>
            </a:pPr>
            <a:r>
              <a:t>2</a:t>
            </a:r>
          </a:p>
        </p:txBody>
      </p:sp>
      <p:sp>
        <p:nvSpPr>
          <p:cNvPr id="18" name="TextBox 17"/>
          <p:cNvSpPr txBox="1"/>
          <p:nvPr/>
        </p:nvSpPr>
        <p:spPr>
          <a:xfrm>
            <a:off x="5010912" y="1965960"/>
            <a:ext cx="2651760" cy="347472"/>
          </a:xfrm>
          <a:prstGeom prst="rect">
            <a:avLst/>
          </a:prstGeom>
          <a:noFill/>
        </p:spPr>
        <p:txBody>
          <a:bodyPr wrap="square" lIns="36576" rIns="36576" tIns="13716" bIns="13716" anchor="ctr">
            <a:spAutoFit/>
          </a:bodyPr>
          <a:lstStyle/>
          <a:p>
            <a:pPr>
              <a:spcAft>
                <a:spcPts val="0"/>
              </a:spcAft>
              <a:defRPr sz="1600" b="1">
                <a:solidFill>
                  <a:srgbClr val="10253F"/>
                </a:solidFill>
                <a:latin typeface="Aptos"/>
              </a:defRPr>
            </a:pPr>
            <a:r>
              <a:t>Extract</a:t>
            </a:r>
          </a:p>
        </p:txBody>
      </p:sp>
      <p:sp>
        <p:nvSpPr>
          <p:cNvPr id="19" name="TextBox 18"/>
          <p:cNvSpPr txBox="1"/>
          <p:nvPr/>
        </p:nvSpPr>
        <p:spPr>
          <a:xfrm>
            <a:off x="4544568" y="2468880"/>
            <a:ext cx="3118104" cy="2377439"/>
          </a:xfrm>
          <a:prstGeom prst="rect">
            <a:avLst/>
          </a:prstGeom>
          <a:noFill/>
        </p:spPr>
        <p:txBody>
          <a:bodyPr wrap="square" lIns="36576" rIns="36576" tIns="13716" bIns="13716" anchor="t">
            <a:spAutoFit/>
          </a:bodyPr>
          <a:lstStyle/>
          <a:p>
            <a:pPr>
              <a:spcAft>
                <a:spcPts val="0"/>
              </a:spcAft>
              <a:defRPr sz="1200" b="0">
                <a:solidFill>
                  <a:srgbClr val="61758A"/>
                </a:solidFill>
                <a:latin typeface="Aptos"/>
              </a:defRPr>
            </a:pPr>
            <a:r>
              <a:t>Use PyMuPDF to read PDF text into a plain-text file.</a:t>
            </a:r>
          </a:p>
        </p:txBody>
      </p:sp>
      <p:sp>
        <p:nvSpPr>
          <p:cNvPr id="20" name="Rounded Rectangle 19"/>
          <p:cNvSpPr/>
          <p:nvPr/>
        </p:nvSpPr>
        <p:spPr>
          <a:xfrm>
            <a:off x="8074152" y="1828800"/>
            <a:ext cx="3429000" cy="3108960"/>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220456" y="1993392"/>
            <a:ext cx="393192" cy="393192"/>
          </a:xfrm>
          <a:prstGeom prst="roundRect">
            <a:avLst>
              <a:gd name="adj" fmla="val 16000"/>
            </a:avLst>
          </a:prstGeom>
          <a:solidFill>
            <a:srgbClr val="F4B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0456" y="1993392"/>
            <a:ext cx="393192" cy="393192"/>
          </a:xfrm>
          <a:prstGeom prst="rect">
            <a:avLst/>
          </a:prstGeom>
          <a:noFill/>
        </p:spPr>
        <p:txBody>
          <a:bodyPr wrap="square" lIns="36576" rIns="36576" tIns="13716" bIns="13716" anchor="ctr">
            <a:spAutoFit/>
          </a:bodyPr>
          <a:lstStyle/>
          <a:p>
            <a:pPr algn="ctr">
              <a:spcAft>
                <a:spcPts val="0"/>
              </a:spcAft>
              <a:defRPr sz="1300" b="1">
                <a:solidFill>
                  <a:srgbClr val="FFFFFF"/>
                </a:solidFill>
                <a:latin typeface="Aptos"/>
              </a:defRPr>
            </a:pPr>
            <a:r>
              <a:t>3</a:t>
            </a:r>
          </a:p>
        </p:txBody>
      </p:sp>
      <p:sp>
        <p:nvSpPr>
          <p:cNvPr id="23" name="TextBox 22"/>
          <p:cNvSpPr txBox="1"/>
          <p:nvPr/>
        </p:nvSpPr>
        <p:spPr>
          <a:xfrm>
            <a:off x="8705088" y="1965960"/>
            <a:ext cx="2651760" cy="347472"/>
          </a:xfrm>
          <a:prstGeom prst="rect">
            <a:avLst/>
          </a:prstGeom>
          <a:noFill/>
        </p:spPr>
        <p:txBody>
          <a:bodyPr wrap="square" lIns="36576" rIns="36576" tIns="13716" bIns="13716" anchor="ctr">
            <a:spAutoFit/>
          </a:bodyPr>
          <a:lstStyle/>
          <a:p>
            <a:pPr>
              <a:spcAft>
                <a:spcPts val="0"/>
              </a:spcAft>
              <a:defRPr sz="1600" b="1">
                <a:solidFill>
                  <a:srgbClr val="10253F"/>
                </a:solidFill>
                <a:latin typeface="Aptos"/>
              </a:defRPr>
            </a:pPr>
            <a:r>
              <a:t>Clean</a:t>
            </a:r>
          </a:p>
        </p:txBody>
      </p:sp>
      <p:sp>
        <p:nvSpPr>
          <p:cNvPr id="24" name="TextBox 23"/>
          <p:cNvSpPr txBox="1"/>
          <p:nvPr/>
        </p:nvSpPr>
        <p:spPr>
          <a:xfrm>
            <a:off x="8238744" y="2468880"/>
            <a:ext cx="3118104" cy="2377439"/>
          </a:xfrm>
          <a:prstGeom prst="rect">
            <a:avLst/>
          </a:prstGeom>
          <a:noFill/>
        </p:spPr>
        <p:txBody>
          <a:bodyPr wrap="square" lIns="36576" rIns="36576" tIns="13716" bIns="13716" anchor="t">
            <a:spAutoFit/>
          </a:bodyPr>
          <a:lstStyle/>
          <a:p>
            <a:pPr>
              <a:spcAft>
                <a:spcPts val="0"/>
              </a:spcAft>
              <a:defRPr sz="1200" b="0">
                <a:solidFill>
                  <a:srgbClr val="61758A"/>
                </a:solidFill>
                <a:latin typeface="Aptos"/>
              </a:defRPr>
            </a:pPr>
            <a:r>
              <a:t>Fix layout artefacts, whitespace and split words before chunking.</a:t>
            </a:r>
          </a:p>
        </p:txBody>
      </p:sp>
      <p:sp>
        <p:nvSpPr>
          <p:cNvPr id="25" name="Rounded Rectangle 24"/>
          <p:cNvSpPr/>
          <p:nvPr/>
        </p:nvSpPr>
        <p:spPr>
          <a:xfrm>
            <a:off x="685800" y="5340096"/>
            <a:ext cx="10835640" cy="557784"/>
          </a:xfrm>
          <a:prstGeom prst="roundRect">
            <a:avLst>
              <a:gd name="adj" fmla="val 16000"/>
            </a:avLst>
          </a:prstGeom>
          <a:solidFill>
            <a:srgbClr val="10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5440680"/>
            <a:ext cx="10378440" cy="338328"/>
          </a:xfrm>
          <a:prstGeom prst="rect">
            <a:avLst/>
          </a:prstGeom>
          <a:noFill/>
        </p:spPr>
        <p:txBody>
          <a:bodyPr wrap="square" lIns="36576" rIns="36576" tIns="13716" bIns="13716" anchor="ctr">
            <a:spAutoFit/>
          </a:bodyPr>
          <a:lstStyle/>
          <a:p>
            <a:pPr algn="ctr">
              <a:spcAft>
                <a:spcPts val="0"/>
              </a:spcAft>
              <a:defRPr sz="1700" b="1">
                <a:solidFill>
                  <a:srgbClr val="FFFFFF"/>
                </a:solidFill>
                <a:latin typeface="Aptos"/>
              </a:defRPr>
            </a:pPr>
            <a:r>
              <a:t>raw PDF  →  extracted .txt  →  cleaned .txt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19456"/>
            <a:ext cx="10881360" cy="219456"/>
          </a:xfrm>
          <a:prstGeom prst="rect">
            <a:avLst/>
          </a:prstGeom>
          <a:noFill/>
        </p:spPr>
        <p:txBody>
          <a:bodyPr wrap="square" lIns="36576" rIns="36576" tIns="13716" bIns="13716" anchor="ctr">
            <a:spAutoFit/>
          </a:bodyPr>
          <a:lstStyle/>
          <a:p>
            <a:pPr>
              <a:spcAft>
                <a:spcPts val="0"/>
              </a:spcAft>
              <a:defRPr sz="1000" b="1">
                <a:solidFill>
                  <a:srgbClr val="00A99D"/>
                </a:solidFill>
                <a:latin typeface="Aptos"/>
              </a:defRPr>
            </a:pPr>
            <a:r>
              <a:t>06 / TEXT SEGMENTATION</a:t>
            </a:r>
          </a:p>
        </p:txBody>
      </p:sp>
      <p:sp>
        <p:nvSpPr>
          <p:cNvPr id="5" name="TextBox 4"/>
          <p:cNvSpPr txBox="1"/>
          <p:nvPr/>
        </p:nvSpPr>
        <p:spPr>
          <a:xfrm>
            <a:off x="502920" y="530352"/>
            <a:ext cx="11201400" cy="557784"/>
          </a:xfrm>
          <a:prstGeom prst="rect">
            <a:avLst/>
          </a:prstGeom>
          <a:noFill/>
        </p:spPr>
        <p:txBody>
          <a:bodyPr wrap="square" lIns="36576" rIns="36576" tIns="13716" bIns="13716" anchor="ctr">
            <a:spAutoFit/>
          </a:bodyPr>
          <a:lstStyle/>
          <a:p>
            <a:pPr>
              <a:spcAft>
                <a:spcPts val="0"/>
              </a:spcAft>
              <a:defRPr sz="2800" b="1">
                <a:solidFill>
                  <a:srgbClr val="10253F"/>
                </a:solidFill>
                <a:latin typeface="Aptos"/>
              </a:defRPr>
            </a:pPr>
            <a:r>
              <a:t>Step 3  |  Chunk by Article, not by accident</a:t>
            </a:r>
          </a:p>
        </p:txBody>
      </p:sp>
      <p:sp>
        <p:nvSpPr>
          <p:cNvPr id="6" name="TextBox 5"/>
          <p:cNvSpPr txBox="1"/>
          <p:nvPr/>
        </p:nvSpPr>
        <p:spPr>
          <a:xfrm>
            <a:off x="521207" y="1133856"/>
            <a:ext cx="11064240" cy="393192"/>
          </a:xfrm>
          <a:prstGeom prst="rect">
            <a:avLst/>
          </a:prstGeom>
          <a:noFill/>
        </p:spPr>
        <p:txBody>
          <a:bodyPr wrap="square" lIns="36576" rIns="36576" tIns="13716" bIns="13716" anchor="ctr">
            <a:spAutoFit/>
          </a:bodyPr>
          <a:lstStyle/>
          <a:p>
            <a:pPr>
              <a:spcAft>
                <a:spcPts val="0"/>
              </a:spcAft>
              <a:defRPr sz="1400" b="0">
                <a:solidFill>
                  <a:srgbClr val="61758A"/>
                </a:solidFill>
                <a:latin typeface="Aptos"/>
              </a:defRPr>
            </a:pPr>
            <a:r>
              <a:t>Preserve the legal structure so a retrieved result is understandable.</a:t>
            </a:r>
          </a:p>
        </p:txBody>
      </p:sp>
      <p:sp>
        <p:nvSpPr>
          <p:cNvPr id="7" name="Rectangle 6"/>
          <p:cNvSpPr/>
          <p:nvPr/>
        </p:nvSpPr>
        <p:spPr>
          <a:xfrm>
            <a:off x="502920" y="6556248"/>
            <a:ext cx="11155680" cy="10972"/>
          </a:xfrm>
          <a:prstGeom prst="rect">
            <a:avLst/>
          </a:prstGeom>
          <a:solidFill>
            <a:srgbClr val="DC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0"/>
            <a:ext cx="8229600" cy="155448"/>
          </a:xfrm>
          <a:prstGeom prst="rect">
            <a:avLst/>
          </a:prstGeom>
          <a:noFill/>
        </p:spPr>
        <p:txBody>
          <a:bodyPr wrap="square" lIns="36576" rIns="36576" tIns="13716" bIns="13716" anchor="ctr">
            <a:spAutoFit/>
          </a:bodyPr>
          <a:lstStyle/>
          <a:p>
            <a:pPr>
              <a:spcAft>
                <a:spcPts val="0"/>
              </a:spcAft>
              <a:defRPr sz="800" b="0">
                <a:solidFill>
                  <a:srgbClr val="61758A"/>
                </a:solidFill>
                <a:latin typeface="Aptos"/>
              </a:defRPr>
            </a:pPr>
            <a:r>
              <a:t>EU AI ACT  •  RAG ENGINEERING PORTFOLIO</a:t>
            </a:r>
          </a:p>
        </p:txBody>
      </p:sp>
      <p:sp>
        <p:nvSpPr>
          <p:cNvPr id="9" name="TextBox 8"/>
          <p:cNvSpPr txBox="1"/>
          <p:nvPr/>
        </p:nvSpPr>
        <p:spPr>
          <a:xfrm>
            <a:off x="11082528" y="6565392"/>
            <a:ext cx="502920" cy="201168"/>
          </a:xfrm>
          <a:prstGeom prst="rect">
            <a:avLst/>
          </a:prstGeom>
          <a:noFill/>
        </p:spPr>
        <p:txBody>
          <a:bodyPr wrap="square" lIns="36576" rIns="36576" tIns="13716" bIns="13716" anchor="ctr">
            <a:spAutoFit/>
          </a:bodyPr>
          <a:lstStyle/>
          <a:p>
            <a:pPr algn="r">
              <a:spcAft>
                <a:spcPts val="0"/>
              </a:spcAft>
              <a:defRPr sz="900" b="1">
                <a:solidFill>
                  <a:srgbClr val="61758A"/>
                </a:solidFill>
                <a:latin typeface="Aptos"/>
              </a:defRPr>
            </a:pPr>
            <a:r>
              <a:t>07</a:t>
            </a:r>
          </a:p>
        </p:txBody>
      </p:sp>
      <p:sp>
        <p:nvSpPr>
          <p:cNvPr id="10" name="Rounded Rectangle 9"/>
          <p:cNvSpPr/>
          <p:nvPr/>
        </p:nvSpPr>
        <p:spPr>
          <a:xfrm>
            <a:off x="685800" y="1801368"/>
            <a:ext cx="3419856" cy="1143000"/>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29384"/>
            <a:ext cx="3145536" cy="539496"/>
          </a:xfrm>
          <a:prstGeom prst="rect">
            <a:avLst/>
          </a:prstGeom>
          <a:noFill/>
        </p:spPr>
        <p:txBody>
          <a:bodyPr wrap="square" lIns="36576" rIns="36576" tIns="13716" bIns="13716" anchor="ctr">
            <a:spAutoFit/>
          </a:bodyPr>
          <a:lstStyle/>
          <a:p>
            <a:pPr algn="ctr">
              <a:spcAft>
                <a:spcPts val="0"/>
              </a:spcAft>
              <a:defRPr sz="2900" b="1">
                <a:solidFill>
                  <a:srgbClr val="2B76B7"/>
                </a:solidFill>
                <a:latin typeface="Aptos"/>
              </a:defRPr>
            </a:pPr>
            <a:r>
              <a:t>119</a:t>
            </a:r>
          </a:p>
        </p:txBody>
      </p:sp>
      <p:sp>
        <p:nvSpPr>
          <p:cNvPr id="12" name="TextBox 11"/>
          <p:cNvSpPr txBox="1"/>
          <p:nvPr/>
        </p:nvSpPr>
        <p:spPr>
          <a:xfrm>
            <a:off x="777240" y="2560320"/>
            <a:ext cx="3236976" cy="256032"/>
          </a:xfrm>
          <a:prstGeom prst="rect">
            <a:avLst/>
          </a:prstGeom>
          <a:noFill/>
        </p:spPr>
        <p:txBody>
          <a:bodyPr wrap="square" lIns="36576" rIns="36576" tIns="13716" bIns="13716" anchor="ctr">
            <a:spAutoFit/>
          </a:bodyPr>
          <a:lstStyle/>
          <a:p>
            <a:pPr algn="ctr">
              <a:spcAft>
                <a:spcPts val="0"/>
              </a:spcAft>
              <a:defRPr sz="1100" b="0">
                <a:solidFill>
                  <a:srgbClr val="61758A"/>
                </a:solidFill>
                <a:latin typeface="Aptos"/>
              </a:defRPr>
            </a:pPr>
            <a:r>
              <a:t>Article sections identified</a:t>
            </a:r>
          </a:p>
        </p:txBody>
      </p:sp>
      <p:sp>
        <p:nvSpPr>
          <p:cNvPr id="13" name="Rounded Rectangle 12"/>
          <p:cNvSpPr/>
          <p:nvPr/>
        </p:nvSpPr>
        <p:spPr>
          <a:xfrm>
            <a:off x="4389120" y="1801368"/>
            <a:ext cx="3419856" cy="1143000"/>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1929384"/>
            <a:ext cx="3145536" cy="539496"/>
          </a:xfrm>
          <a:prstGeom prst="rect">
            <a:avLst/>
          </a:prstGeom>
          <a:noFill/>
        </p:spPr>
        <p:txBody>
          <a:bodyPr wrap="square" lIns="36576" rIns="36576" tIns="13716" bIns="13716" anchor="ctr">
            <a:spAutoFit/>
          </a:bodyPr>
          <a:lstStyle/>
          <a:p>
            <a:pPr algn="ctr">
              <a:spcAft>
                <a:spcPts val="0"/>
              </a:spcAft>
              <a:defRPr sz="2900" b="1">
                <a:solidFill>
                  <a:srgbClr val="00A99D"/>
                </a:solidFill>
                <a:latin typeface="Aptos"/>
              </a:defRPr>
            </a:pPr>
            <a:r>
              <a:t>14</a:t>
            </a:r>
          </a:p>
        </p:txBody>
      </p:sp>
      <p:sp>
        <p:nvSpPr>
          <p:cNvPr id="15" name="TextBox 14"/>
          <p:cNvSpPr txBox="1"/>
          <p:nvPr/>
        </p:nvSpPr>
        <p:spPr>
          <a:xfrm>
            <a:off x="4480559" y="2560320"/>
            <a:ext cx="3236976" cy="256032"/>
          </a:xfrm>
          <a:prstGeom prst="rect">
            <a:avLst/>
          </a:prstGeom>
          <a:noFill/>
        </p:spPr>
        <p:txBody>
          <a:bodyPr wrap="square" lIns="36576" rIns="36576" tIns="13716" bIns="13716" anchor="ctr">
            <a:spAutoFit/>
          </a:bodyPr>
          <a:lstStyle/>
          <a:p>
            <a:pPr algn="ctr">
              <a:spcAft>
                <a:spcPts val="0"/>
              </a:spcAft>
              <a:defRPr sz="1100" b="0">
                <a:solidFill>
                  <a:srgbClr val="61758A"/>
                </a:solidFill>
                <a:latin typeface="Aptos"/>
              </a:defRPr>
            </a:pPr>
            <a:r>
              <a:t>Annex sections identified</a:t>
            </a:r>
          </a:p>
        </p:txBody>
      </p:sp>
      <p:sp>
        <p:nvSpPr>
          <p:cNvPr id="16" name="Rounded Rectangle 15"/>
          <p:cNvSpPr/>
          <p:nvPr/>
        </p:nvSpPr>
        <p:spPr>
          <a:xfrm>
            <a:off x="8092440" y="1801368"/>
            <a:ext cx="3419856" cy="1143000"/>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1929384"/>
            <a:ext cx="3145536" cy="539496"/>
          </a:xfrm>
          <a:prstGeom prst="rect">
            <a:avLst/>
          </a:prstGeom>
          <a:noFill/>
        </p:spPr>
        <p:txBody>
          <a:bodyPr wrap="square" lIns="36576" rIns="36576" tIns="13716" bIns="13716" anchor="ctr">
            <a:spAutoFit/>
          </a:bodyPr>
          <a:lstStyle/>
          <a:p>
            <a:pPr algn="ctr">
              <a:spcAft>
                <a:spcPts val="0"/>
              </a:spcAft>
              <a:defRPr sz="2900" b="1">
                <a:solidFill>
                  <a:srgbClr val="F4B544"/>
                </a:solidFill>
                <a:latin typeface="Aptos"/>
              </a:defRPr>
            </a:pPr>
            <a:r>
              <a:t>160</a:t>
            </a:r>
          </a:p>
        </p:txBody>
      </p:sp>
      <p:sp>
        <p:nvSpPr>
          <p:cNvPr id="18" name="TextBox 17"/>
          <p:cNvSpPr txBox="1"/>
          <p:nvPr/>
        </p:nvSpPr>
        <p:spPr>
          <a:xfrm>
            <a:off x="8183879" y="2560320"/>
            <a:ext cx="3236976" cy="256032"/>
          </a:xfrm>
          <a:prstGeom prst="rect">
            <a:avLst/>
          </a:prstGeom>
          <a:noFill/>
        </p:spPr>
        <p:txBody>
          <a:bodyPr wrap="square" lIns="36576" rIns="36576" tIns="13716" bIns="13716" anchor="ctr">
            <a:spAutoFit/>
          </a:bodyPr>
          <a:lstStyle/>
          <a:p>
            <a:pPr algn="ctr">
              <a:spcAft>
                <a:spcPts val="0"/>
              </a:spcAft>
              <a:defRPr sz="1100" b="0">
                <a:solidFill>
                  <a:srgbClr val="61758A"/>
                </a:solidFill>
                <a:latin typeface="Aptos"/>
              </a:defRPr>
            </a:pPr>
            <a:r>
              <a:t>Final searchable chunks</a:t>
            </a:r>
          </a:p>
        </p:txBody>
      </p:sp>
      <p:sp>
        <p:nvSpPr>
          <p:cNvPr id="19" name="Rounded Rectangle 18"/>
          <p:cNvSpPr/>
          <p:nvPr/>
        </p:nvSpPr>
        <p:spPr>
          <a:xfrm>
            <a:off x="731520" y="3401568"/>
            <a:ext cx="6400800" cy="2157984"/>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 y="3639312"/>
            <a:ext cx="5760720" cy="365760"/>
          </a:xfrm>
          <a:prstGeom prst="rect">
            <a:avLst/>
          </a:prstGeom>
          <a:noFill/>
        </p:spPr>
        <p:txBody>
          <a:bodyPr wrap="square" lIns="36576" rIns="36576" tIns="13716" bIns="13716" anchor="ctr">
            <a:spAutoFit/>
          </a:bodyPr>
          <a:lstStyle/>
          <a:p>
            <a:pPr>
              <a:spcAft>
                <a:spcPts val="0"/>
              </a:spcAft>
              <a:defRPr sz="1800" b="1">
                <a:solidFill>
                  <a:srgbClr val="10253F"/>
                </a:solidFill>
                <a:latin typeface="Aptos"/>
              </a:defRPr>
            </a:pPr>
            <a:r>
              <a:t>Example chunk metadata</a:t>
            </a:r>
          </a:p>
        </p:txBody>
      </p:sp>
      <p:sp>
        <p:nvSpPr>
          <p:cNvPr id="21" name="TextBox 20"/>
          <p:cNvSpPr txBox="1"/>
          <p:nvPr/>
        </p:nvSpPr>
        <p:spPr>
          <a:xfrm>
            <a:off x="987552" y="4096512"/>
            <a:ext cx="5303520" cy="1261872"/>
          </a:xfrm>
          <a:prstGeom prst="rect">
            <a:avLst/>
          </a:prstGeom>
          <a:noFill/>
        </p:spPr>
        <p:txBody>
          <a:bodyPr wrap="square" lIns="36576" rIns="36576" tIns="13716" bIns="13716" anchor="t">
            <a:spAutoFit/>
          </a:bodyPr>
          <a:lstStyle/>
          <a:p>
            <a:pPr>
              <a:spcAft>
                <a:spcPts val="0"/>
              </a:spcAft>
              <a:defRPr sz="1500" b="0">
                <a:solidFill>
                  <a:srgbClr val="1B2C3D"/>
                </a:solidFill>
                <a:latin typeface="Aptos Mono"/>
              </a:defRPr>
            </a:pPr>
            <a:r>
              <a:t>section_type: Article</a:t>
            </a:r>
          </a:p>
          <a:p>
            <a:pPr>
              <a:spcAft>
                <a:spcPts val="0"/>
              </a:spcAft>
              <a:defRPr sz="1500" b="0">
                <a:solidFill>
                  <a:srgbClr val="1B2C3D"/>
                </a:solidFill>
                <a:latin typeface="Aptos Mono"/>
              </a:defRPr>
            </a:pPr>
            <a:r>
              <a:t>section: Article 15</a:t>
            </a:r>
          </a:p>
          <a:p>
            <a:pPr>
              <a:spcAft>
                <a:spcPts val="0"/>
              </a:spcAft>
              <a:defRPr sz="1500" b="0">
                <a:solidFill>
                  <a:srgbClr val="1B2C3D"/>
                </a:solidFill>
                <a:latin typeface="Aptos Mono"/>
              </a:defRPr>
            </a:pPr>
            <a:r>
              <a:t>chunk_number: 1</a:t>
            </a:r>
          </a:p>
          <a:p>
            <a:pPr>
              <a:spcAft>
                <a:spcPts val="0"/>
              </a:spcAft>
              <a:defRPr sz="1500" b="0">
                <a:solidFill>
                  <a:srgbClr val="1B2C3D"/>
                </a:solidFill>
                <a:latin typeface="Aptos Mono"/>
              </a:defRPr>
            </a:pPr>
            <a:r>
              <a:t>text: &lt;legal passage&gt;</a:t>
            </a:r>
          </a:p>
        </p:txBody>
      </p:sp>
      <p:sp>
        <p:nvSpPr>
          <p:cNvPr id="22" name="Rounded Rectangle 21"/>
          <p:cNvSpPr/>
          <p:nvPr/>
        </p:nvSpPr>
        <p:spPr>
          <a:xfrm>
            <a:off x="7360920" y="3401568"/>
            <a:ext cx="4114800" cy="2157984"/>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60920" y="3401568"/>
            <a:ext cx="59436" cy="2157984"/>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62088" y="3529584"/>
            <a:ext cx="3703320" cy="384048"/>
          </a:xfrm>
          <a:prstGeom prst="rect">
            <a:avLst/>
          </a:prstGeom>
          <a:noFill/>
        </p:spPr>
        <p:txBody>
          <a:bodyPr wrap="square" lIns="36576" rIns="36576" tIns="13716" bIns="13716" anchor="ctr">
            <a:spAutoFit/>
          </a:bodyPr>
          <a:lstStyle/>
          <a:p>
            <a:pPr>
              <a:spcAft>
                <a:spcPts val="0"/>
              </a:spcAft>
              <a:defRPr sz="1600" b="1">
                <a:solidFill>
                  <a:srgbClr val="10253F"/>
                </a:solidFill>
                <a:latin typeface="Aptos"/>
              </a:defRPr>
            </a:pPr>
            <a:r>
              <a:t>WHY IT MATTERS</a:t>
            </a:r>
          </a:p>
        </p:txBody>
      </p:sp>
      <p:sp>
        <p:nvSpPr>
          <p:cNvPr id="25" name="TextBox 24"/>
          <p:cNvSpPr txBox="1"/>
          <p:nvPr/>
        </p:nvSpPr>
        <p:spPr>
          <a:xfrm>
            <a:off x="7562088" y="3995928"/>
            <a:ext cx="3675887" cy="1426463"/>
          </a:xfrm>
          <a:prstGeom prst="rect">
            <a:avLst/>
          </a:prstGeom>
          <a:noFill/>
        </p:spPr>
        <p:txBody>
          <a:bodyPr wrap="square" lIns="36576" rIns="36576" tIns="13716" bIns="13716" anchor="t">
            <a:spAutoFit/>
          </a:bodyPr>
          <a:lstStyle/>
          <a:p>
            <a:pPr>
              <a:spcAft>
                <a:spcPts val="0"/>
              </a:spcAft>
              <a:defRPr sz="1400" b="0">
                <a:solidFill>
                  <a:srgbClr val="61758A"/>
                </a:solidFill>
                <a:latin typeface="Aptos"/>
              </a:defRPr>
            </a:pPr>
            <a:r>
              <a:t>Large Articles are split with overlap, but the Article label stays attached. This enables section expansion and citations.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19456"/>
            <a:ext cx="10881360" cy="219456"/>
          </a:xfrm>
          <a:prstGeom prst="rect">
            <a:avLst/>
          </a:prstGeom>
          <a:noFill/>
        </p:spPr>
        <p:txBody>
          <a:bodyPr wrap="square" lIns="36576" rIns="36576" tIns="13716" bIns="13716" anchor="ctr">
            <a:spAutoFit/>
          </a:bodyPr>
          <a:lstStyle/>
          <a:p>
            <a:pPr>
              <a:spcAft>
                <a:spcPts val="0"/>
              </a:spcAft>
              <a:defRPr sz="1000" b="1">
                <a:solidFill>
                  <a:srgbClr val="00A99D"/>
                </a:solidFill>
                <a:latin typeface="Aptos"/>
              </a:defRPr>
            </a:pPr>
            <a:r>
              <a:t>07 / EMBEDDINGS</a:t>
            </a:r>
          </a:p>
        </p:txBody>
      </p:sp>
      <p:sp>
        <p:nvSpPr>
          <p:cNvPr id="5" name="TextBox 4"/>
          <p:cNvSpPr txBox="1"/>
          <p:nvPr/>
        </p:nvSpPr>
        <p:spPr>
          <a:xfrm>
            <a:off x="502920" y="530352"/>
            <a:ext cx="11201400" cy="557784"/>
          </a:xfrm>
          <a:prstGeom prst="rect">
            <a:avLst/>
          </a:prstGeom>
          <a:noFill/>
        </p:spPr>
        <p:txBody>
          <a:bodyPr wrap="square" lIns="36576" rIns="36576" tIns="13716" bIns="13716" anchor="ctr">
            <a:spAutoFit/>
          </a:bodyPr>
          <a:lstStyle/>
          <a:p>
            <a:pPr>
              <a:spcAft>
                <a:spcPts val="0"/>
              </a:spcAft>
              <a:defRPr sz="2800" b="1">
                <a:solidFill>
                  <a:srgbClr val="10253F"/>
                </a:solidFill>
                <a:latin typeface="Aptos"/>
              </a:defRPr>
            </a:pPr>
            <a:r>
              <a:t>Step 4  |  Turn language into vectors</a:t>
            </a:r>
          </a:p>
        </p:txBody>
      </p:sp>
      <p:sp>
        <p:nvSpPr>
          <p:cNvPr id="6" name="TextBox 5"/>
          <p:cNvSpPr txBox="1"/>
          <p:nvPr/>
        </p:nvSpPr>
        <p:spPr>
          <a:xfrm>
            <a:off x="521207" y="1133856"/>
            <a:ext cx="11064240" cy="393192"/>
          </a:xfrm>
          <a:prstGeom prst="rect">
            <a:avLst/>
          </a:prstGeom>
          <a:noFill/>
        </p:spPr>
        <p:txBody>
          <a:bodyPr wrap="square" lIns="36576" rIns="36576" tIns="13716" bIns="13716" anchor="ctr">
            <a:spAutoFit/>
          </a:bodyPr>
          <a:lstStyle/>
          <a:p>
            <a:pPr>
              <a:spcAft>
                <a:spcPts val="0"/>
              </a:spcAft>
              <a:defRPr sz="1400" b="0">
                <a:solidFill>
                  <a:srgbClr val="61758A"/>
                </a:solidFill>
                <a:latin typeface="Aptos"/>
              </a:defRPr>
            </a:pPr>
            <a:r>
              <a:t>An embedding is a numeric fingerprint of a text passage.</a:t>
            </a:r>
          </a:p>
        </p:txBody>
      </p:sp>
      <p:sp>
        <p:nvSpPr>
          <p:cNvPr id="7" name="Rectangle 6"/>
          <p:cNvSpPr/>
          <p:nvPr/>
        </p:nvSpPr>
        <p:spPr>
          <a:xfrm>
            <a:off x="502920" y="6556248"/>
            <a:ext cx="11155680" cy="10972"/>
          </a:xfrm>
          <a:prstGeom prst="rect">
            <a:avLst/>
          </a:prstGeom>
          <a:solidFill>
            <a:srgbClr val="DC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0"/>
            <a:ext cx="8229600" cy="155448"/>
          </a:xfrm>
          <a:prstGeom prst="rect">
            <a:avLst/>
          </a:prstGeom>
          <a:noFill/>
        </p:spPr>
        <p:txBody>
          <a:bodyPr wrap="square" lIns="36576" rIns="36576" tIns="13716" bIns="13716" anchor="ctr">
            <a:spAutoFit/>
          </a:bodyPr>
          <a:lstStyle/>
          <a:p>
            <a:pPr>
              <a:spcAft>
                <a:spcPts val="0"/>
              </a:spcAft>
              <a:defRPr sz="800" b="0">
                <a:solidFill>
                  <a:srgbClr val="61758A"/>
                </a:solidFill>
                <a:latin typeface="Aptos"/>
              </a:defRPr>
            </a:pPr>
            <a:r>
              <a:t>EU AI ACT  •  RAG ENGINEERING PORTFOLIO</a:t>
            </a:r>
          </a:p>
        </p:txBody>
      </p:sp>
      <p:sp>
        <p:nvSpPr>
          <p:cNvPr id="9" name="TextBox 8"/>
          <p:cNvSpPr txBox="1"/>
          <p:nvPr/>
        </p:nvSpPr>
        <p:spPr>
          <a:xfrm>
            <a:off x="11082528" y="6565392"/>
            <a:ext cx="502920" cy="201168"/>
          </a:xfrm>
          <a:prstGeom prst="rect">
            <a:avLst/>
          </a:prstGeom>
          <a:noFill/>
        </p:spPr>
        <p:txBody>
          <a:bodyPr wrap="square" lIns="36576" rIns="36576" tIns="13716" bIns="13716" anchor="ctr">
            <a:spAutoFit/>
          </a:bodyPr>
          <a:lstStyle/>
          <a:p>
            <a:pPr algn="r">
              <a:spcAft>
                <a:spcPts val="0"/>
              </a:spcAft>
              <a:defRPr sz="900" b="1">
                <a:solidFill>
                  <a:srgbClr val="61758A"/>
                </a:solidFill>
                <a:latin typeface="Aptos"/>
              </a:defRPr>
            </a:pPr>
            <a:r>
              <a:t>08</a:t>
            </a:r>
          </a:p>
        </p:txBody>
      </p:sp>
      <p:sp>
        <p:nvSpPr>
          <p:cNvPr id="10" name="Rounded Rectangle 9"/>
          <p:cNvSpPr/>
          <p:nvPr/>
        </p:nvSpPr>
        <p:spPr>
          <a:xfrm>
            <a:off x="685800" y="1810512"/>
            <a:ext cx="4892040" cy="3520440"/>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103120"/>
            <a:ext cx="4389120" cy="685800"/>
          </a:xfrm>
          <a:prstGeom prst="rect">
            <a:avLst/>
          </a:prstGeom>
          <a:noFill/>
        </p:spPr>
        <p:txBody>
          <a:bodyPr wrap="square" lIns="36576" rIns="36576" tIns="13716" bIns="13716" anchor="ctr">
            <a:spAutoFit/>
          </a:bodyPr>
          <a:lstStyle/>
          <a:p>
            <a:pPr>
              <a:spcAft>
                <a:spcPts val="0"/>
              </a:spcAft>
              <a:defRPr sz="2000" b="1">
                <a:solidFill>
                  <a:srgbClr val="10253F"/>
                </a:solidFill>
                <a:latin typeface="Aptos"/>
              </a:defRPr>
            </a:pPr>
            <a:r>
              <a:t>“accuracy, robustness and cybersecurity”</a:t>
            </a:r>
          </a:p>
        </p:txBody>
      </p:sp>
      <p:sp>
        <p:nvSpPr>
          <p:cNvPr id="12" name="TextBox 11"/>
          <p:cNvSpPr txBox="1"/>
          <p:nvPr/>
        </p:nvSpPr>
        <p:spPr>
          <a:xfrm>
            <a:off x="960120" y="3063240"/>
            <a:ext cx="4389120" cy="411480"/>
          </a:xfrm>
          <a:prstGeom prst="rect">
            <a:avLst/>
          </a:prstGeom>
          <a:noFill/>
        </p:spPr>
        <p:txBody>
          <a:bodyPr wrap="square" lIns="36576" rIns="36576" tIns="13716" bIns="13716" anchor="ctr">
            <a:spAutoFit/>
          </a:bodyPr>
          <a:lstStyle/>
          <a:p>
            <a:pPr>
              <a:spcAft>
                <a:spcPts val="0"/>
              </a:spcAft>
              <a:defRPr sz="1700" b="1">
                <a:solidFill>
                  <a:srgbClr val="00A99D"/>
                </a:solidFill>
                <a:latin typeface="Aptos"/>
              </a:defRPr>
            </a:pPr>
            <a:r>
              <a:t>↓  BGE sentence encoder</a:t>
            </a:r>
          </a:p>
        </p:txBody>
      </p:sp>
      <p:sp>
        <p:nvSpPr>
          <p:cNvPr id="13" name="TextBox 12"/>
          <p:cNvSpPr txBox="1"/>
          <p:nvPr/>
        </p:nvSpPr>
        <p:spPr>
          <a:xfrm>
            <a:off x="960120" y="3840480"/>
            <a:ext cx="4389120" cy="521207"/>
          </a:xfrm>
          <a:prstGeom prst="rect">
            <a:avLst/>
          </a:prstGeom>
          <a:noFill/>
        </p:spPr>
        <p:txBody>
          <a:bodyPr wrap="square" lIns="36576" rIns="36576" tIns="13716" bIns="13716" anchor="ctr">
            <a:spAutoFit/>
          </a:bodyPr>
          <a:lstStyle/>
          <a:p>
            <a:pPr>
              <a:spcAft>
                <a:spcPts val="0"/>
              </a:spcAft>
              <a:defRPr sz="1800" b="0">
                <a:solidFill>
                  <a:srgbClr val="1B2C3D"/>
                </a:solidFill>
                <a:latin typeface="Aptos Mono"/>
              </a:defRPr>
            </a:pPr>
            <a:r>
              <a:t>[ 0.12, −0.07, 0.31, ... ]</a:t>
            </a:r>
          </a:p>
        </p:txBody>
      </p:sp>
      <p:sp>
        <p:nvSpPr>
          <p:cNvPr id="14" name="TextBox 13"/>
          <p:cNvSpPr txBox="1"/>
          <p:nvPr/>
        </p:nvSpPr>
        <p:spPr>
          <a:xfrm>
            <a:off x="960120" y="4690872"/>
            <a:ext cx="4389120" cy="320040"/>
          </a:xfrm>
          <a:prstGeom prst="rect">
            <a:avLst/>
          </a:prstGeom>
          <a:noFill/>
        </p:spPr>
        <p:txBody>
          <a:bodyPr wrap="square" lIns="36576" rIns="36576" tIns="13716" bIns="13716" anchor="ctr">
            <a:spAutoFit/>
          </a:bodyPr>
          <a:lstStyle/>
          <a:p>
            <a:pPr>
              <a:spcAft>
                <a:spcPts val="0"/>
              </a:spcAft>
              <a:defRPr sz="1300" b="0">
                <a:solidFill>
                  <a:srgbClr val="61758A"/>
                </a:solidFill>
                <a:latin typeface="Aptos"/>
              </a:defRPr>
            </a:pPr>
            <a:r>
              <a:t>384 numbers per chunk</a:t>
            </a:r>
          </a:p>
        </p:txBody>
      </p:sp>
      <p:sp>
        <p:nvSpPr>
          <p:cNvPr id="15" name="Rounded Rectangle 14"/>
          <p:cNvSpPr/>
          <p:nvPr/>
        </p:nvSpPr>
        <p:spPr>
          <a:xfrm>
            <a:off x="5888736" y="1810512"/>
            <a:ext cx="5596128" cy="1554480"/>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888736" y="1810512"/>
            <a:ext cx="59436" cy="1554480"/>
          </a:xfrm>
          <a:prstGeom prst="rect">
            <a:avLst/>
          </a:prstGeom>
          <a:solidFill>
            <a:srgbClr val="2B7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89904" y="1938528"/>
            <a:ext cx="5184648" cy="384048"/>
          </a:xfrm>
          <a:prstGeom prst="rect">
            <a:avLst/>
          </a:prstGeom>
          <a:noFill/>
        </p:spPr>
        <p:txBody>
          <a:bodyPr wrap="square" lIns="36576" rIns="36576" tIns="13716" bIns="13716" anchor="ctr">
            <a:spAutoFit/>
          </a:bodyPr>
          <a:lstStyle/>
          <a:p>
            <a:pPr>
              <a:spcAft>
                <a:spcPts val="0"/>
              </a:spcAft>
              <a:defRPr sz="1700" b="1">
                <a:solidFill>
                  <a:srgbClr val="10253F"/>
                </a:solidFill>
                <a:latin typeface="Aptos"/>
              </a:defRPr>
            </a:pPr>
            <a:r>
              <a:t>MiniLM baseline</a:t>
            </a:r>
          </a:p>
        </p:txBody>
      </p:sp>
      <p:sp>
        <p:nvSpPr>
          <p:cNvPr id="18" name="TextBox 17"/>
          <p:cNvSpPr txBox="1"/>
          <p:nvPr/>
        </p:nvSpPr>
        <p:spPr>
          <a:xfrm>
            <a:off x="6089904" y="2404872"/>
            <a:ext cx="5157216" cy="822959"/>
          </a:xfrm>
          <a:prstGeom prst="rect">
            <a:avLst/>
          </a:prstGeom>
          <a:noFill/>
        </p:spPr>
        <p:txBody>
          <a:bodyPr wrap="square" lIns="36576" rIns="36576" tIns="13716" bIns="13716" anchor="t">
            <a:spAutoFit/>
          </a:bodyPr>
          <a:lstStyle/>
          <a:p>
            <a:pPr>
              <a:spcAft>
                <a:spcPts val="0"/>
              </a:spcAft>
              <a:defRPr sz="1500" b="0">
                <a:solidFill>
                  <a:srgbClr val="61758A"/>
                </a:solidFill>
                <a:latin typeface="Aptos"/>
              </a:defRPr>
            </a:pPr>
            <a:r>
              <a:t>sentence-transformers/all-MiniLM-L6-v2</a:t>
            </a:r>
          </a:p>
        </p:txBody>
      </p:sp>
      <p:sp>
        <p:nvSpPr>
          <p:cNvPr id="19" name="Rounded Rectangle 18"/>
          <p:cNvSpPr/>
          <p:nvPr/>
        </p:nvSpPr>
        <p:spPr>
          <a:xfrm>
            <a:off x="5888736" y="3694176"/>
            <a:ext cx="5596128" cy="1636776"/>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888736" y="3694176"/>
            <a:ext cx="59436" cy="1636776"/>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89904" y="3822191"/>
            <a:ext cx="5184648" cy="384048"/>
          </a:xfrm>
          <a:prstGeom prst="rect">
            <a:avLst/>
          </a:prstGeom>
          <a:noFill/>
        </p:spPr>
        <p:txBody>
          <a:bodyPr wrap="square" lIns="36576" rIns="36576" tIns="13716" bIns="13716" anchor="ctr">
            <a:spAutoFit/>
          </a:bodyPr>
          <a:lstStyle/>
          <a:p>
            <a:pPr>
              <a:spcAft>
                <a:spcPts val="0"/>
              </a:spcAft>
              <a:defRPr sz="1700" b="1">
                <a:solidFill>
                  <a:srgbClr val="10253F"/>
                </a:solidFill>
                <a:latin typeface="Aptos"/>
              </a:defRPr>
            </a:pPr>
            <a:r>
              <a:t>Selected BGE model</a:t>
            </a:r>
          </a:p>
        </p:txBody>
      </p:sp>
      <p:sp>
        <p:nvSpPr>
          <p:cNvPr id="22" name="TextBox 21"/>
          <p:cNvSpPr txBox="1"/>
          <p:nvPr/>
        </p:nvSpPr>
        <p:spPr>
          <a:xfrm>
            <a:off x="6089904" y="4288536"/>
            <a:ext cx="5157216" cy="905256"/>
          </a:xfrm>
          <a:prstGeom prst="rect">
            <a:avLst/>
          </a:prstGeom>
          <a:noFill/>
        </p:spPr>
        <p:txBody>
          <a:bodyPr wrap="square" lIns="36576" rIns="36576" tIns="13716" bIns="13716" anchor="t">
            <a:spAutoFit/>
          </a:bodyPr>
          <a:lstStyle/>
          <a:p>
            <a:pPr>
              <a:spcAft>
                <a:spcPts val="0"/>
              </a:spcAft>
              <a:defRPr sz="1500" b="0">
                <a:solidFill>
                  <a:srgbClr val="61758A"/>
                </a:solidFill>
                <a:latin typeface="Aptos"/>
              </a:defRPr>
            </a:pPr>
            <a:r>
              <a:t>BAAI/bge-small-en-v1.5  •  384 dimensions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19456"/>
            <a:ext cx="10881360" cy="219456"/>
          </a:xfrm>
          <a:prstGeom prst="rect">
            <a:avLst/>
          </a:prstGeom>
          <a:noFill/>
        </p:spPr>
        <p:txBody>
          <a:bodyPr wrap="square" lIns="36576" rIns="36576" tIns="13716" bIns="13716" anchor="ctr">
            <a:spAutoFit/>
          </a:bodyPr>
          <a:lstStyle/>
          <a:p>
            <a:pPr>
              <a:spcAft>
                <a:spcPts val="0"/>
              </a:spcAft>
              <a:defRPr sz="1000" b="1">
                <a:solidFill>
                  <a:srgbClr val="00A99D"/>
                </a:solidFill>
                <a:latin typeface="Aptos"/>
              </a:defRPr>
            </a:pPr>
            <a:r>
              <a:t>08 / VECTOR RETRIEVAL</a:t>
            </a:r>
          </a:p>
        </p:txBody>
      </p:sp>
      <p:sp>
        <p:nvSpPr>
          <p:cNvPr id="5" name="TextBox 4"/>
          <p:cNvSpPr txBox="1"/>
          <p:nvPr/>
        </p:nvSpPr>
        <p:spPr>
          <a:xfrm>
            <a:off x="502920" y="530352"/>
            <a:ext cx="11201400" cy="557784"/>
          </a:xfrm>
          <a:prstGeom prst="rect">
            <a:avLst/>
          </a:prstGeom>
          <a:noFill/>
        </p:spPr>
        <p:txBody>
          <a:bodyPr wrap="square" lIns="36576" rIns="36576" tIns="13716" bIns="13716" anchor="ctr">
            <a:spAutoFit/>
          </a:bodyPr>
          <a:lstStyle/>
          <a:p>
            <a:pPr>
              <a:spcAft>
                <a:spcPts val="0"/>
              </a:spcAft>
              <a:defRPr sz="2800" b="1">
                <a:solidFill>
                  <a:srgbClr val="10253F"/>
                </a:solidFill>
                <a:latin typeface="Aptos"/>
              </a:defRPr>
            </a:pPr>
            <a:r>
              <a:t>Step 5  |  Search with FAISS</a:t>
            </a:r>
          </a:p>
        </p:txBody>
      </p:sp>
      <p:sp>
        <p:nvSpPr>
          <p:cNvPr id="6" name="TextBox 5"/>
          <p:cNvSpPr txBox="1"/>
          <p:nvPr/>
        </p:nvSpPr>
        <p:spPr>
          <a:xfrm>
            <a:off x="521207" y="1133856"/>
            <a:ext cx="11064240" cy="393192"/>
          </a:xfrm>
          <a:prstGeom prst="rect">
            <a:avLst/>
          </a:prstGeom>
          <a:noFill/>
        </p:spPr>
        <p:txBody>
          <a:bodyPr wrap="square" lIns="36576" rIns="36576" tIns="13716" bIns="13716" anchor="ctr">
            <a:spAutoFit/>
          </a:bodyPr>
          <a:lstStyle/>
          <a:p>
            <a:pPr>
              <a:spcAft>
                <a:spcPts val="0"/>
              </a:spcAft>
              <a:defRPr sz="1400" b="0">
                <a:solidFill>
                  <a:srgbClr val="61758A"/>
                </a:solidFill>
                <a:latin typeface="Aptos"/>
              </a:defRPr>
            </a:pPr>
            <a:r>
              <a:t>Normalized vectors + inner product approximate cosine similarity.</a:t>
            </a:r>
          </a:p>
        </p:txBody>
      </p:sp>
      <p:sp>
        <p:nvSpPr>
          <p:cNvPr id="7" name="Rectangle 6"/>
          <p:cNvSpPr/>
          <p:nvPr/>
        </p:nvSpPr>
        <p:spPr>
          <a:xfrm>
            <a:off x="502920" y="6556248"/>
            <a:ext cx="11155680" cy="10972"/>
          </a:xfrm>
          <a:prstGeom prst="rect">
            <a:avLst/>
          </a:prstGeom>
          <a:solidFill>
            <a:srgbClr val="DC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0"/>
            <a:ext cx="8229600" cy="155448"/>
          </a:xfrm>
          <a:prstGeom prst="rect">
            <a:avLst/>
          </a:prstGeom>
          <a:noFill/>
        </p:spPr>
        <p:txBody>
          <a:bodyPr wrap="square" lIns="36576" rIns="36576" tIns="13716" bIns="13716" anchor="ctr">
            <a:spAutoFit/>
          </a:bodyPr>
          <a:lstStyle/>
          <a:p>
            <a:pPr>
              <a:spcAft>
                <a:spcPts val="0"/>
              </a:spcAft>
              <a:defRPr sz="800" b="0">
                <a:solidFill>
                  <a:srgbClr val="61758A"/>
                </a:solidFill>
                <a:latin typeface="Aptos"/>
              </a:defRPr>
            </a:pPr>
            <a:r>
              <a:t>EU AI ACT  •  RAG ENGINEERING PORTFOLIO</a:t>
            </a:r>
          </a:p>
        </p:txBody>
      </p:sp>
      <p:sp>
        <p:nvSpPr>
          <p:cNvPr id="9" name="TextBox 8"/>
          <p:cNvSpPr txBox="1"/>
          <p:nvPr/>
        </p:nvSpPr>
        <p:spPr>
          <a:xfrm>
            <a:off x="11082528" y="6565392"/>
            <a:ext cx="502920" cy="201168"/>
          </a:xfrm>
          <a:prstGeom prst="rect">
            <a:avLst/>
          </a:prstGeom>
          <a:noFill/>
        </p:spPr>
        <p:txBody>
          <a:bodyPr wrap="square" lIns="36576" rIns="36576" tIns="13716" bIns="13716" anchor="ctr">
            <a:spAutoFit/>
          </a:bodyPr>
          <a:lstStyle/>
          <a:p>
            <a:pPr algn="r">
              <a:spcAft>
                <a:spcPts val="0"/>
              </a:spcAft>
              <a:defRPr sz="900" b="1">
                <a:solidFill>
                  <a:srgbClr val="61758A"/>
                </a:solidFill>
                <a:latin typeface="Aptos"/>
              </a:defRPr>
            </a:pPr>
            <a:r>
              <a:t>09</a:t>
            </a:r>
          </a:p>
        </p:txBody>
      </p:sp>
      <p:sp>
        <p:nvSpPr>
          <p:cNvPr id="10" name="Rounded Rectangle 9"/>
          <p:cNvSpPr/>
          <p:nvPr/>
        </p:nvSpPr>
        <p:spPr>
          <a:xfrm>
            <a:off x="713232" y="1828800"/>
            <a:ext cx="4800600" cy="3474720"/>
          </a:xfrm>
          <a:prstGeom prst="roundRect">
            <a:avLst>
              <a:gd name="adj" fmla="val 16000"/>
            </a:avLst>
          </a:prstGeom>
          <a:solidFill>
            <a:srgbClr val="10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103120"/>
            <a:ext cx="4160520" cy="320040"/>
          </a:xfrm>
          <a:prstGeom prst="rect">
            <a:avLst/>
          </a:prstGeom>
          <a:noFill/>
        </p:spPr>
        <p:txBody>
          <a:bodyPr wrap="square" lIns="36576" rIns="36576" tIns="13716" bIns="13716" anchor="ctr">
            <a:spAutoFit/>
          </a:bodyPr>
          <a:lstStyle/>
          <a:p>
            <a:pPr>
              <a:spcAft>
                <a:spcPts val="0"/>
              </a:spcAft>
              <a:defRPr sz="1400" b="1">
                <a:solidFill>
                  <a:srgbClr val="48C9C3"/>
                </a:solidFill>
                <a:latin typeface="Aptos"/>
              </a:defRPr>
            </a:pPr>
            <a:r>
              <a:t>QUERY VECTOR</a:t>
            </a:r>
          </a:p>
        </p:txBody>
      </p:sp>
      <p:sp>
        <p:nvSpPr>
          <p:cNvPr id="12" name="TextBox 11"/>
          <p:cNvSpPr txBox="1"/>
          <p:nvPr/>
        </p:nvSpPr>
        <p:spPr>
          <a:xfrm>
            <a:off x="1005840" y="2770632"/>
            <a:ext cx="4160520" cy="548640"/>
          </a:xfrm>
          <a:prstGeom prst="rect">
            <a:avLst/>
          </a:prstGeom>
          <a:noFill/>
        </p:spPr>
        <p:txBody>
          <a:bodyPr wrap="square" lIns="36576" rIns="36576" tIns="13716" bIns="13716" anchor="ctr">
            <a:spAutoFit/>
          </a:bodyPr>
          <a:lstStyle/>
          <a:p>
            <a:pPr>
              <a:spcAft>
                <a:spcPts val="0"/>
              </a:spcAft>
              <a:defRPr sz="2400" b="1">
                <a:solidFill>
                  <a:srgbClr val="FFFFFF"/>
                </a:solidFill>
                <a:latin typeface="Aptos"/>
              </a:defRPr>
            </a:pPr>
            <a:r>
              <a:t>[ q₁, q₂, ... q₃₈₄ ]</a:t>
            </a:r>
          </a:p>
        </p:txBody>
      </p:sp>
      <p:sp>
        <p:nvSpPr>
          <p:cNvPr id="13" name="TextBox 12"/>
          <p:cNvSpPr txBox="1"/>
          <p:nvPr/>
        </p:nvSpPr>
        <p:spPr>
          <a:xfrm>
            <a:off x="1005840" y="3776472"/>
            <a:ext cx="4160520" cy="457200"/>
          </a:xfrm>
          <a:prstGeom prst="rect">
            <a:avLst/>
          </a:prstGeom>
          <a:noFill/>
        </p:spPr>
        <p:txBody>
          <a:bodyPr wrap="square" lIns="36576" rIns="36576" tIns="13716" bIns="13716" anchor="ctr">
            <a:spAutoFit/>
          </a:bodyPr>
          <a:lstStyle/>
          <a:p>
            <a:pPr>
              <a:spcAft>
                <a:spcPts val="0"/>
              </a:spcAft>
              <a:defRPr sz="2200" b="1">
                <a:solidFill>
                  <a:srgbClr val="FFFFFF"/>
                </a:solidFill>
                <a:latin typeface="Aptos"/>
              </a:defRPr>
            </a:pPr>
            <a:r>
              <a:t>FAISS IndexFlatIP</a:t>
            </a:r>
          </a:p>
        </p:txBody>
      </p:sp>
      <p:sp>
        <p:nvSpPr>
          <p:cNvPr id="14" name="TextBox 13"/>
          <p:cNvSpPr txBox="1"/>
          <p:nvPr/>
        </p:nvSpPr>
        <p:spPr>
          <a:xfrm>
            <a:off x="1005840" y="4407408"/>
            <a:ext cx="4160520" cy="320040"/>
          </a:xfrm>
          <a:prstGeom prst="rect">
            <a:avLst/>
          </a:prstGeom>
          <a:noFill/>
        </p:spPr>
        <p:txBody>
          <a:bodyPr wrap="square" lIns="36576" rIns="36576" tIns="13716" bIns="13716" anchor="ctr">
            <a:spAutoFit/>
          </a:bodyPr>
          <a:lstStyle/>
          <a:p>
            <a:pPr>
              <a:spcAft>
                <a:spcPts val="0"/>
              </a:spcAft>
              <a:defRPr sz="1400" b="0">
                <a:solidFill>
                  <a:srgbClr val="B9D1DF"/>
                </a:solidFill>
                <a:latin typeface="Aptos"/>
              </a:defRPr>
            </a:pPr>
            <a:r>
              <a:t>160 stored document vectors</a:t>
            </a:r>
          </a:p>
        </p:txBody>
      </p:sp>
      <p:sp>
        <p:nvSpPr>
          <p:cNvPr id="15" name="Rounded Rectangle 14"/>
          <p:cNvSpPr/>
          <p:nvPr/>
        </p:nvSpPr>
        <p:spPr>
          <a:xfrm>
            <a:off x="5897880" y="1828800"/>
            <a:ext cx="5559552" cy="1042415"/>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897880" y="1828800"/>
            <a:ext cx="59436" cy="1042415"/>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8" y="1956816"/>
            <a:ext cx="5148072" cy="384048"/>
          </a:xfrm>
          <a:prstGeom prst="rect">
            <a:avLst/>
          </a:prstGeom>
          <a:noFill/>
        </p:spPr>
        <p:txBody>
          <a:bodyPr wrap="square" lIns="36576" rIns="36576" tIns="13716" bIns="13716" anchor="ctr">
            <a:spAutoFit/>
          </a:bodyPr>
          <a:lstStyle/>
          <a:p>
            <a:pPr>
              <a:spcAft>
                <a:spcPts val="0"/>
              </a:spcAft>
              <a:defRPr sz="1600" b="1">
                <a:solidFill>
                  <a:srgbClr val="10253F"/>
                </a:solidFill>
                <a:latin typeface="Aptos"/>
              </a:defRPr>
            </a:pPr>
            <a:r>
              <a:t>TOP-K = 5</a:t>
            </a:r>
          </a:p>
        </p:txBody>
      </p:sp>
      <p:sp>
        <p:nvSpPr>
          <p:cNvPr id="18" name="TextBox 17"/>
          <p:cNvSpPr txBox="1"/>
          <p:nvPr/>
        </p:nvSpPr>
        <p:spPr>
          <a:xfrm>
            <a:off x="6099048" y="2423160"/>
            <a:ext cx="5120640" cy="310895"/>
          </a:xfrm>
          <a:prstGeom prst="rect">
            <a:avLst/>
          </a:prstGeom>
          <a:noFill/>
        </p:spPr>
        <p:txBody>
          <a:bodyPr wrap="square" lIns="36576" rIns="36576" tIns="13716" bIns="13716" anchor="t">
            <a:spAutoFit/>
          </a:bodyPr>
          <a:lstStyle/>
          <a:p>
            <a:pPr>
              <a:spcAft>
                <a:spcPts val="0"/>
              </a:spcAft>
              <a:defRPr sz="1300" b="0">
                <a:solidFill>
                  <a:srgbClr val="61758A"/>
                </a:solidFill>
                <a:latin typeface="Aptos"/>
              </a:defRPr>
            </a:pPr>
            <a:r>
              <a:t>Return five highest-scoring chunk matches.</a:t>
            </a:r>
          </a:p>
        </p:txBody>
      </p:sp>
      <p:sp>
        <p:nvSpPr>
          <p:cNvPr id="19" name="Rounded Rectangle 18"/>
          <p:cNvSpPr/>
          <p:nvPr/>
        </p:nvSpPr>
        <p:spPr>
          <a:xfrm>
            <a:off x="5897880" y="3099816"/>
            <a:ext cx="5559552" cy="1042415"/>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897880" y="3099816"/>
            <a:ext cx="59436" cy="1042415"/>
          </a:xfrm>
          <a:prstGeom prst="rect">
            <a:avLst/>
          </a:prstGeom>
          <a:solidFill>
            <a:srgbClr val="F4B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8" y="3227832"/>
            <a:ext cx="5148072" cy="384048"/>
          </a:xfrm>
          <a:prstGeom prst="rect">
            <a:avLst/>
          </a:prstGeom>
          <a:noFill/>
        </p:spPr>
        <p:txBody>
          <a:bodyPr wrap="square" lIns="36576" rIns="36576" tIns="13716" bIns="13716" anchor="ctr">
            <a:spAutoFit/>
          </a:bodyPr>
          <a:lstStyle/>
          <a:p>
            <a:pPr>
              <a:spcAft>
                <a:spcPts val="0"/>
              </a:spcAft>
              <a:defRPr sz="1600" b="1">
                <a:solidFill>
                  <a:srgbClr val="10253F"/>
                </a:solidFill>
                <a:latin typeface="Aptos"/>
              </a:defRPr>
            </a:pPr>
            <a:r>
              <a:t>SIMILARITY ≠ ACCURACY</a:t>
            </a:r>
          </a:p>
        </p:txBody>
      </p:sp>
      <p:sp>
        <p:nvSpPr>
          <p:cNvPr id="22" name="TextBox 21"/>
          <p:cNvSpPr txBox="1"/>
          <p:nvPr/>
        </p:nvSpPr>
        <p:spPr>
          <a:xfrm>
            <a:off x="6099048" y="3694176"/>
            <a:ext cx="5120640" cy="310895"/>
          </a:xfrm>
          <a:prstGeom prst="rect">
            <a:avLst/>
          </a:prstGeom>
          <a:noFill/>
        </p:spPr>
        <p:txBody>
          <a:bodyPr wrap="square" lIns="36576" rIns="36576" tIns="13716" bIns="13716" anchor="t">
            <a:spAutoFit/>
          </a:bodyPr>
          <a:lstStyle/>
          <a:p>
            <a:pPr>
              <a:spcAft>
                <a:spcPts val="0"/>
              </a:spcAft>
              <a:defRPr sz="1300" b="0">
                <a:solidFill>
                  <a:srgbClr val="61758A"/>
                </a:solidFill>
                <a:latin typeface="Aptos"/>
              </a:defRPr>
            </a:pPr>
            <a:r>
              <a:t>0.8835 is a relevance signal, not an 88.35% correctness claim.</a:t>
            </a:r>
          </a:p>
        </p:txBody>
      </p:sp>
      <p:sp>
        <p:nvSpPr>
          <p:cNvPr id="23" name="Rounded Rectangle 22"/>
          <p:cNvSpPr/>
          <p:nvPr/>
        </p:nvSpPr>
        <p:spPr>
          <a:xfrm>
            <a:off x="5897880" y="4370832"/>
            <a:ext cx="5559552" cy="1042415"/>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897880" y="4370832"/>
            <a:ext cx="59436" cy="1042415"/>
          </a:xfrm>
          <a:prstGeom prst="rect">
            <a:avLst/>
          </a:prstGeom>
          <a:solidFill>
            <a:srgbClr val="2B7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99048" y="4498848"/>
            <a:ext cx="5148072" cy="384048"/>
          </a:xfrm>
          <a:prstGeom prst="rect">
            <a:avLst/>
          </a:prstGeom>
          <a:noFill/>
        </p:spPr>
        <p:txBody>
          <a:bodyPr wrap="square" lIns="36576" rIns="36576" tIns="13716" bIns="13716" anchor="ctr">
            <a:spAutoFit/>
          </a:bodyPr>
          <a:lstStyle/>
          <a:p>
            <a:pPr>
              <a:spcAft>
                <a:spcPts val="0"/>
              </a:spcAft>
              <a:defRPr sz="1600" b="1">
                <a:solidFill>
                  <a:srgbClr val="10253F"/>
                </a:solidFill>
                <a:latin typeface="Aptos"/>
              </a:defRPr>
            </a:pPr>
            <a:r>
              <a:t>WHY FAISS?</a:t>
            </a:r>
          </a:p>
        </p:txBody>
      </p:sp>
      <p:sp>
        <p:nvSpPr>
          <p:cNvPr id="26" name="TextBox 25"/>
          <p:cNvSpPr txBox="1"/>
          <p:nvPr/>
        </p:nvSpPr>
        <p:spPr>
          <a:xfrm>
            <a:off x="6099048" y="4965192"/>
            <a:ext cx="5120640" cy="310895"/>
          </a:xfrm>
          <a:prstGeom prst="rect">
            <a:avLst/>
          </a:prstGeom>
          <a:noFill/>
        </p:spPr>
        <p:txBody>
          <a:bodyPr wrap="square" lIns="36576" rIns="36576" tIns="13716" bIns="13716" anchor="t">
            <a:spAutoFit/>
          </a:bodyPr>
          <a:lstStyle/>
          <a:p>
            <a:pPr>
              <a:spcAft>
                <a:spcPts val="0"/>
              </a:spcAft>
              <a:defRPr sz="1300" b="0">
                <a:solidFill>
                  <a:srgbClr val="61758A"/>
                </a:solidFill>
                <a:latin typeface="Aptos"/>
              </a:defRPr>
            </a:pPr>
            <a:r>
              <a:t>Fast, local similarity search over precomputed vectors.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19456"/>
            <a:ext cx="10881360" cy="219456"/>
          </a:xfrm>
          <a:prstGeom prst="rect">
            <a:avLst/>
          </a:prstGeom>
          <a:noFill/>
        </p:spPr>
        <p:txBody>
          <a:bodyPr wrap="square" lIns="36576" rIns="36576" tIns="13716" bIns="13716" anchor="ctr">
            <a:spAutoFit/>
          </a:bodyPr>
          <a:lstStyle/>
          <a:p>
            <a:pPr>
              <a:spcAft>
                <a:spcPts val="0"/>
              </a:spcAft>
              <a:defRPr sz="1000" b="1">
                <a:solidFill>
                  <a:srgbClr val="00A99D"/>
                </a:solidFill>
                <a:latin typeface="Aptos"/>
              </a:defRPr>
            </a:pPr>
            <a:r>
              <a:t>09 / EMBEDDING EVALUATION</a:t>
            </a:r>
          </a:p>
        </p:txBody>
      </p:sp>
      <p:sp>
        <p:nvSpPr>
          <p:cNvPr id="5" name="TextBox 4"/>
          <p:cNvSpPr txBox="1"/>
          <p:nvPr/>
        </p:nvSpPr>
        <p:spPr>
          <a:xfrm>
            <a:off x="502920" y="530352"/>
            <a:ext cx="11201400" cy="557784"/>
          </a:xfrm>
          <a:prstGeom prst="rect">
            <a:avLst/>
          </a:prstGeom>
          <a:noFill/>
        </p:spPr>
        <p:txBody>
          <a:bodyPr wrap="square" lIns="36576" rIns="36576" tIns="13716" bIns="13716" anchor="ctr">
            <a:spAutoFit/>
          </a:bodyPr>
          <a:lstStyle/>
          <a:p>
            <a:pPr>
              <a:spcAft>
                <a:spcPts val="0"/>
              </a:spcAft>
              <a:defRPr sz="2800" b="1">
                <a:solidFill>
                  <a:srgbClr val="10253F"/>
                </a:solidFill>
                <a:latin typeface="Aptos"/>
              </a:defRPr>
            </a:pPr>
            <a:r>
              <a:t>Why we selected BGE</a:t>
            </a:r>
          </a:p>
        </p:txBody>
      </p:sp>
      <p:sp>
        <p:nvSpPr>
          <p:cNvPr id="6" name="TextBox 5"/>
          <p:cNvSpPr txBox="1"/>
          <p:nvPr/>
        </p:nvSpPr>
        <p:spPr>
          <a:xfrm>
            <a:off x="521207" y="1133856"/>
            <a:ext cx="11064240" cy="393192"/>
          </a:xfrm>
          <a:prstGeom prst="rect">
            <a:avLst/>
          </a:prstGeom>
          <a:noFill/>
        </p:spPr>
        <p:txBody>
          <a:bodyPr wrap="square" lIns="36576" rIns="36576" tIns="13716" bIns="13716" anchor="ctr">
            <a:spAutoFit/>
          </a:bodyPr>
          <a:lstStyle/>
          <a:p>
            <a:pPr>
              <a:spcAft>
                <a:spcPts val="0"/>
              </a:spcAft>
              <a:defRPr sz="1400" b="0">
                <a:solidFill>
                  <a:srgbClr val="61758A"/>
                </a:solidFill>
                <a:latin typeface="Aptos"/>
              </a:defRPr>
            </a:pPr>
            <a:r>
              <a:t>Hit@K: did the expected Article appear among the first K results?</a:t>
            </a:r>
          </a:p>
        </p:txBody>
      </p:sp>
      <p:sp>
        <p:nvSpPr>
          <p:cNvPr id="7" name="Rectangle 6"/>
          <p:cNvSpPr/>
          <p:nvPr/>
        </p:nvSpPr>
        <p:spPr>
          <a:xfrm>
            <a:off x="502920" y="6556248"/>
            <a:ext cx="11155680" cy="10972"/>
          </a:xfrm>
          <a:prstGeom prst="rect">
            <a:avLst/>
          </a:prstGeom>
          <a:solidFill>
            <a:srgbClr val="DC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0"/>
            <a:ext cx="8229600" cy="155448"/>
          </a:xfrm>
          <a:prstGeom prst="rect">
            <a:avLst/>
          </a:prstGeom>
          <a:noFill/>
        </p:spPr>
        <p:txBody>
          <a:bodyPr wrap="square" lIns="36576" rIns="36576" tIns="13716" bIns="13716" anchor="ctr">
            <a:spAutoFit/>
          </a:bodyPr>
          <a:lstStyle/>
          <a:p>
            <a:pPr>
              <a:spcAft>
                <a:spcPts val="0"/>
              </a:spcAft>
              <a:defRPr sz="800" b="0">
                <a:solidFill>
                  <a:srgbClr val="61758A"/>
                </a:solidFill>
                <a:latin typeface="Aptos"/>
              </a:defRPr>
            </a:pPr>
            <a:r>
              <a:t>EU AI ACT  •  RAG ENGINEERING PORTFOLIO</a:t>
            </a:r>
          </a:p>
        </p:txBody>
      </p:sp>
      <p:sp>
        <p:nvSpPr>
          <p:cNvPr id="9" name="TextBox 8"/>
          <p:cNvSpPr txBox="1"/>
          <p:nvPr/>
        </p:nvSpPr>
        <p:spPr>
          <a:xfrm>
            <a:off x="11082528" y="6565392"/>
            <a:ext cx="502920" cy="201168"/>
          </a:xfrm>
          <a:prstGeom prst="rect">
            <a:avLst/>
          </a:prstGeom>
          <a:noFill/>
        </p:spPr>
        <p:txBody>
          <a:bodyPr wrap="square" lIns="36576" rIns="36576" tIns="13716" bIns="13716" anchor="ctr">
            <a:spAutoFit/>
          </a:bodyPr>
          <a:lstStyle/>
          <a:p>
            <a:pPr algn="r">
              <a:spcAft>
                <a:spcPts val="0"/>
              </a:spcAft>
              <a:defRPr sz="900" b="1">
                <a:solidFill>
                  <a:srgbClr val="61758A"/>
                </a:solidFill>
                <a:latin typeface="Aptos"/>
              </a:defRPr>
            </a:pPr>
            <a:r>
              <a:t>10</a:t>
            </a:r>
          </a:p>
        </p:txBody>
      </p:sp>
      <p:sp>
        <p:nvSpPr>
          <p:cNvPr id="10" name="TextBox 9"/>
          <p:cNvSpPr txBox="1"/>
          <p:nvPr/>
        </p:nvSpPr>
        <p:spPr>
          <a:xfrm>
            <a:off x="804672" y="1975104"/>
            <a:ext cx="1371600" cy="310896"/>
          </a:xfrm>
          <a:prstGeom prst="rect">
            <a:avLst/>
          </a:prstGeom>
          <a:noFill/>
        </p:spPr>
        <p:txBody>
          <a:bodyPr wrap="square" lIns="36576" rIns="36576" tIns="13716" bIns="13716" anchor="ctr">
            <a:spAutoFit/>
          </a:bodyPr>
          <a:lstStyle/>
          <a:p>
            <a:pPr>
              <a:spcAft>
                <a:spcPts val="0"/>
              </a:spcAft>
              <a:defRPr sz="1700" b="1">
                <a:solidFill>
                  <a:srgbClr val="10253F"/>
                </a:solidFill>
                <a:latin typeface="Aptos"/>
              </a:defRPr>
            </a:pPr>
            <a:r>
              <a:t>Hit@1</a:t>
            </a:r>
          </a:p>
        </p:txBody>
      </p:sp>
      <p:sp>
        <p:nvSpPr>
          <p:cNvPr id="11" name="Rounded Rectangle 10"/>
          <p:cNvSpPr/>
          <p:nvPr/>
        </p:nvSpPr>
        <p:spPr>
          <a:xfrm>
            <a:off x="2176272" y="1984248"/>
            <a:ext cx="6858000" cy="246888"/>
          </a:xfrm>
          <a:prstGeom prst="roundRect">
            <a:avLst>
              <a:gd name="adj" fmla="val 16000"/>
            </a:avLst>
          </a:prstGeom>
          <a:solidFill>
            <a:srgbClr val="E4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176272" y="1984248"/>
            <a:ext cx="5143500" cy="246888"/>
          </a:xfrm>
          <a:prstGeom prst="roundRect">
            <a:avLst>
              <a:gd name="adj" fmla="val 16000"/>
            </a:avLst>
          </a:prstGeom>
          <a:solidFill>
            <a:srgbClr val="2B7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176272" y="2331720"/>
            <a:ext cx="6858000" cy="246888"/>
          </a:xfrm>
          <a:prstGeom prst="roundRect">
            <a:avLst>
              <a:gd name="adj" fmla="val 16000"/>
            </a:avLst>
          </a:prstGeom>
          <a:solidFill>
            <a:srgbClr val="E4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176272" y="2331720"/>
            <a:ext cx="5143500" cy="246888"/>
          </a:xfrm>
          <a:prstGeom prst="roundRect">
            <a:avLst>
              <a:gd name="adj" fmla="val 16000"/>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81160" y="1965960"/>
            <a:ext cx="1005840" cy="265176"/>
          </a:xfrm>
          <a:prstGeom prst="rect">
            <a:avLst/>
          </a:prstGeom>
          <a:noFill/>
        </p:spPr>
        <p:txBody>
          <a:bodyPr wrap="square" lIns="36576" rIns="36576" tIns="13716" bIns="13716" anchor="ctr">
            <a:spAutoFit/>
          </a:bodyPr>
          <a:lstStyle/>
          <a:p>
            <a:pPr>
              <a:spcAft>
                <a:spcPts val="0"/>
              </a:spcAft>
              <a:defRPr sz="1300" b="1">
                <a:solidFill>
                  <a:srgbClr val="2B76B7"/>
                </a:solidFill>
                <a:latin typeface="Aptos"/>
              </a:defRPr>
            </a:pPr>
            <a:r>
              <a:t>75.0%</a:t>
            </a:r>
          </a:p>
        </p:txBody>
      </p:sp>
      <p:sp>
        <p:nvSpPr>
          <p:cNvPr id="16" name="TextBox 15"/>
          <p:cNvSpPr txBox="1"/>
          <p:nvPr/>
        </p:nvSpPr>
        <p:spPr>
          <a:xfrm>
            <a:off x="9281160" y="2331720"/>
            <a:ext cx="1005840" cy="265176"/>
          </a:xfrm>
          <a:prstGeom prst="rect">
            <a:avLst/>
          </a:prstGeom>
          <a:noFill/>
        </p:spPr>
        <p:txBody>
          <a:bodyPr wrap="square" lIns="36576" rIns="36576" tIns="13716" bIns="13716" anchor="ctr">
            <a:spAutoFit/>
          </a:bodyPr>
          <a:lstStyle/>
          <a:p>
            <a:pPr>
              <a:spcAft>
                <a:spcPts val="0"/>
              </a:spcAft>
              <a:defRPr sz="1300" b="1">
                <a:solidFill>
                  <a:srgbClr val="00A99D"/>
                </a:solidFill>
                <a:latin typeface="Aptos"/>
              </a:defRPr>
            </a:pPr>
            <a:r>
              <a:t>75.0%</a:t>
            </a:r>
          </a:p>
        </p:txBody>
      </p:sp>
      <p:sp>
        <p:nvSpPr>
          <p:cNvPr id="17" name="TextBox 16"/>
          <p:cNvSpPr txBox="1"/>
          <p:nvPr/>
        </p:nvSpPr>
        <p:spPr>
          <a:xfrm>
            <a:off x="804672" y="3172968"/>
            <a:ext cx="1371600" cy="310896"/>
          </a:xfrm>
          <a:prstGeom prst="rect">
            <a:avLst/>
          </a:prstGeom>
          <a:noFill/>
        </p:spPr>
        <p:txBody>
          <a:bodyPr wrap="square" lIns="36576" rIns="36576" tIns="13716" bIns="13716" anchor="ctr">
            <a:spAutoFit/>
          </a:bodyPr>
          <a:lstStyle/>
          <a:p>
            <a:pPr>
              <a:spcAft>
                <a:spcPts val="0"/>
              </a:spcAft>
              <a:defRPr sz="1700" b="1">
                <a:solidFill>
                  <a:srgbClr val="10253F"/>
                </a:solidFill>
                <a:latin typeface="Aptos"/>
              </a:defRPr>
            </a:pPr>
            <a:r>
              <a:t>Hit@3</a:t>
            </a:r>
          </a:p>
        </p:txBody>
      </p:sp>
      <p:sp>
        <p:nvSpPr>
          <p:cNvPr id="18" name="Rounded Rectangle 17"/>
          <p:cNvSpPr/>
          <p:nvPr/>
        </p:nvSpPr>
        <p:spPr>
          <a:xfrm>
            <a:off x="2176272" y="3182112"/>
            <a:ext cx="6858000" cy="246888"/>
          </a:xfrm>
          <a:prstGeom prst="roundRect">
            <a:avLst>
              <a:gd name="adj" fmla="val 16000"/>
            </a:avLst>
          </a:prstGeom>
          <a:solidFill>
            <a:srgbClr val="E4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176272" y="3182112"/>
            <a:ext cx="5143500" cy="246888"/>
          </a:xfrm>
          <a:prstGeom prst="roundRect">
            <a:avLst>
              <a:gd name="adj" fmla="val 16000"/>
            </a:avLst>
          </a:prstGeom>
          <a:solidFill>
            <a:srgbClr val="2B7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176272" y="3529584"/>
            <a:ext cx="6858000" cy="246888"/>
          </a:xfrm>
          <a:prstGeom prst="roundRect">
            <a:avLst>
              <a:gd name="adj" fmla="val 16000"/>
            </a:avLst>
          </a:prstGeom>
          <a:solidFill>
            <a:srgbClr val="E4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176272" y="3529584"/>
            <a:ext cx="6858000" cy="246888"/>
          </a:xfrm>
          <a:prstGeom prst="roundRect">
            <a:avLst>
              <a:gd name="adj" fmla="val 16000"/>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81160" y="3163824"/>
            <a:ext cx="1005840" cy="265176"/>
          </a:xfrm>
          <a:prstGeom prst="rect">
            <a:avLst/>
          </a:prstGeom>
          <a:noFill/>
        </p:spPr>
        <p:txBody>
          <a:bodyPr wrap="square" lIns="36576" rIns="36576" tIns="13716" bIns="13716" anchor="ctr">
            <a:spAutoFit/>
          </a:bodyPr>
          <a:lstStyle/>
          <a:p>
            <a:pPr>
              <a:spcAft>
                <a:spcPts val="0"/>
              </a:spcAft>
              <a:defRPr sz="1300" b="1">
                <a:solidFill>
                  <a:srgbClr val="2B76B7"/>
                </a:solidFill>
                <a:latin typeface="Aptos"/>
              </a:defRPr>
            </a:pPr>
            <a:r>
              <a:t>75.0%</a:t>
            </a:r>
          </a:p>
        </p:txBody>
      </p:sp>
      <p:sp>
        <p:nvSpPr>
          <p:cNvPr id="23" name="TextBox 22"/>
          <p:cNvSpPr txBox="1"/>
          <p:nvPr/>
        </p:nvSpPr>
        <p:spPr>
          <a:xfrm>
            <a:off x="9281160" y="3529584"/>
            <a:ext cx="1005840" cy="265176"/>
          </a:xfrm>
          <a:prstGeom prst="rect">
            <a:avLst/>
          </a:prstGeom>
          <a:noFill/>
        </p:spPr>
        <p:txBody>
          <a:bodyPr wrap="square" lIns="36576" rIns="36576" tIns="13716" bIns="13716" anchor="ctr">
            <a:spAutoFit/>
          </a:bodyPr>
          <a:lstStyle/>
          <a:p>
            <a:pPr>
              <a:spcAft>
                <a:spcPts val="0"/>
              </a:spcAft>
              <a:defRPr sz="1300" b="1">
                <a:solidFill>
                  <a:srgbClr val="00A99D"/>
                </a:solidFill>
                <a:latin typeface="Aptos"/>
              </a:defRPr>
            </a:pPr>
            <a:r>
              <a:t>100.0%</a:t>
            </a:r>
          </a:p>
        </p:txBody>
      </p:sp>
      <p:sp>
        <p:nvSpPr>
          <p:cNvPr id="24" name="TextBox 23"/>
          <p:cNvSpPr txBox="1"/>
          <p:nvPr/>
        </p:nvSpPr>
        <p:spPr>
          <a:xfrm>
            <a:off x="804672" y="4370832"/>
            <a:ext cx="1371600" cy="310896"/>
          </a:xfrm>
          <a:prstGeom prst="rect">
            <a:avLst/>
          </a:prstGeom>
          <a:noFill/>
        </p:spPr>
        <p:txBody>
          <a:bodyPr wrap="square" lIns="36576" rIns="36576" tIns="13716" bIns="13716" anchor="ctr">
            <a:spAutoFit/>
          </a:bodyPr>
          <a:lstStyle/>
          <a:p>
            <a:pPr>
              <a:spcAft>
                <a:spcPts val="0"/>
              </a:spcAft>
              <a:defRPr sz="1700" b="1">
                <a:solidFill>
                  <a:srgbClr val="10253F"/>
                </a:solidFill>
                <a:latin typeface="Aptos"/>
              </a:defRPr>
            </a:pPr>
            <a:r>
              <a:t>Hit@5</a:t>
            </a:r>
          </a:p>
        </p:txBody>
      </p:sp>
      <p:sp>
        <p:nvSpPr>
          <p:cNvPr id="25" name="Rounded Rectangle 24"/>
          <p:cNvSpPr/>
          <p:nvPr/>
        </p:nvSpPr>
        <p:spPr>
          <a:xfrm>
            <a:off x="2176272" y="4379976"/>
            <a:ext cx="6858000" cy="246888"/>
          </a:xfrm>
          <a:prstGeom prst="roundRect">
            <a:avLst>
              <a:gd name="adj" fmla="val 16000"/>
            </a:avLst>
          </a:prstGeom>
          <a:solidFill>
            <a:srgbClr val="E4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176272" y="4379976"/>
            <a:ext cx="5712714" cy="246888"/>
          </a:xfrm>
          <a:prstGeom prst="roundRect">
            <a:avLst>
              <a:gd name="adj" fmla="val 16000"/>
            </a:avLst>
          </a:prstGeom>
          <a:solidFill>
            <a:srgbClr val="2B7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176272" y="4727448"/>
            <a:ext cx="6858000" cy="246888"/>
          </a:xfrm>
          <a:prstGeom prst="roundRect">
            <a:avLst>
              <a:gd name="adj" fmla="val 16000"/>
            </a:avLst>
          </a:prstGeom>
          <a:solidFill>
            <a:srgbClr val="E4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176272" y="4727448"/>
            <a:ext cx="6858000" cy="246888"/>
          </a:xfrm>
          <a:prstGeom prst="roundRect">
            <a:avLst>
              <a:gd name="adj" fmla="val 16000"/>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81160" y="4361688"/>
            <a:ext cx="1005840" cy="265176"/>
          </a:xfrm>
          <a:prstGeom prst="rect">
            <a:avLst/>
          </a:prstGeom>
          <a:noFill/>
        </p:spPr>
        <p:txBody>
          <a:bodyPr wrap="square" lIns="36576" rIns="36576" tIns="13716" bIns="13716" anchor="ctr">
            <a:spAutoFit/>
          </a:bodyPr>
          <a:lstStyle/>
          <a:p>
            <a:pPr>
              <a:spcAft>
                <a:spcPts val="0"/>
              </a:spcAft>
              <a:defRPr sz="1300" b="1">
                <a:solidFill>
                  <a:srgbClr val="2B76B7"/>
                </a:solidFill>
                <a:latin typeface="Aptos"/>
              </a:defRPr>
            </a:pPr>
            <a:r>
              <a:t>83.3%</a:t>
            </a:r>
          </a:p>
        </p:txBody>
      </p:sp>
      <p:sp>
        <p:nvSpPr>
          <p:cNvPr id="30" name="TextBox 29"/>
          <p:cNvSpPr txBox="1"/>
          <p:nvPr/>
        </p:nvSpPr>
        <p:spPr>
          <a:xfrm>
            <a:off x="9281160" y="4727448"/>
            <a:ext cx="1005840" cy="265176"/>
          </a:xfrm>
          <a:prstGeom prst="rect">
            <a:avLst/>
          </a:prstGeom>
          <a:noFill/>
        </p:spPr>
        <p:txBody>
          <a:bodyPr wrap="square" lIns="36576" rIns="36576" tIns="13716" bIns="13716" anchor="ctr">
            <a:spAutoFit/>
          </a:bodyPr>
          <a:lstStyle/>
          <a:p>
            <a:pPr>
              <a:spcAft>
                <a:spcPts val="0"/>
              </a:spcAft>
              <a:defRPr sz="1300" b="1">
                <a:solidFill>
                  <a:srgbClr val="00A99D"/>
                </a:solidFill>
                <a:latin typeface="Aptos"/>
              </a:defRPr>
            </a:pPr>
            <a:r>
              <a:t>100.0%</a:t>
            </a:r>
          </a:p>
        </p:txBody>
      </p:sp>
      <p:sp>
        <p:nvSpPr>
          <p:cNvPr id="31" name="Rectangle 30"/>
          <p:cNvSpPr/>
          <p:nvPr/>
        </p:nvSpPr>
        <p:spPr>
          <a:xfrm>
            <a:off x="2203704" y="5715000"/>
            <a:ext cx="201168" cy="164592"/>
          </a:xfrm>
          <a:prstGeom prst="rect">
            <a:avLst/>
          </a:prstGeom>
          <a:solidFill>
            <a:srgbClr val="2B7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487168" y="5641848"/>
            <a:ext cx="1261872" cy="301752"/>
          </a:xfrm>
          <a:prstGeom prst="rect">
            <a:avLst/>
          </a:prstGeom>
          <a:noFill/>
        </p:spPr>
        <p:txBody>
          <a:bodyPr wrap="square" lIns="36576" rIns="36576" tIns="13716" bIns="13716" anchor="ctr">
            <a:spAutoFit/>
          </a:bodyPr>
          <a:lstStyle/>
          <a:p>
            <a:pPr>
              <a:spcAft>
                <a:spcPts val="0"/>
              </a:spcAft>
              <a:defRPr sz="1300" b="0">
                <a:solidFill>
                  <a:srgbClr val="61758A"/>
                </a:solidFill>
                <a:latin typeface="Aptos"/>
              </a:defRPr>
            </a:pPr>
            <a:r>
              <a:t>MiniLM</a:t>
            </a:r>
          </a:p>
        </p:txBody>
      </p:sp>
      <p:sp>
        <p:nvSpPr>
          <p:cNvPr id="33" name="Rectangle 32"/>
          <p:cNvSpPr/>
          <p:nvPr/>
        </p:nvSpPr>
        <p:spPr>
          <a:xfrm>
            <a:off x="3995928" y="5715000"/>
            <a:ext cx="201168" cy="164592"/>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79392" y="5641848"/>
            <a:ext cx="1143000" cy="301752"/>
          </a:xfrm>
          <a:prstGeom prst="rect">
            <a:avLst/>
          </a:prstGeom>
          <a:noFill/>
        </p:spPr>
        <p:txBody>
          <a:bodyPr wrap="square" lIns="36576" rIns="36576" tIns="13716" bIns="13716" anchor="ctr">
            <a:spAutoFit/>
          </a:bodyPr>
          <a:lstStyle/>
          <a:p>
            <a:pPr>
              <a:spcAft>
                <a:spcPts val="0"/>
              </a:spcAft>
              <a:defRPr sz="1300" b="0">
                <a:solidFill>
                  <a:srgbClr val="61758A"/>
                </a:solidFill>
                <a:latin typeface="Aptos"/>
              </a:defRPr>
            </a:pPr>
            <a:r>
              <a:t>BGE</a:t>
            </a:r>
          </a:p>
        </p:txBody>
      </p:sp>
      <p:sp>
        <p:nvSpPr>
          <p:cNvPr id="35" name="TextBox 34"/>
          <p:cNvSpPr txBox="1"/>
          <p:nvPr/>
        </p:nvSpPr>
        <p:spPr>
          <a:xfrm>
            <a:off x="6400800" y="5641848"/>
            <a:ext cx="4572000" cy="329184"/>
          </a:xfrm>
          <a:prstGeom prst="rect">
            <a:avLst/>
          </a:prstGeom>
          <a:noFill/>
        </p:spPr>
        <p:txBody>
          <a:bodyPr wrap="square" lIns="36576" rIns="36576" tIns="13716" bIns="13716" anchor="ctr">
            <a:spAutoFit/>
          </a:bodyPr>
          <a:lstStyle/>
          <a:p>
            <a:pPr algn="r">
              <a:spcAft>
                <a:spcPts val="0"/>
              </a:spcAft>
              <a:defRPr sz="1200" b="0">
                <a:solidFill>
                  <a:srgbClr val="61758A"/>
                </a:solidFill>
                <a:latin typeface="Aptos"/>
              </a:defRPr>
            </a:pPr>
            <a:r>
              <a:t>12 curated questions  •  not a general benchmark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19456"/>
            <a:ext cx="10881360" cy="219456"/>
          </a:xfrm>
          <a:prstGeom prst="rect">
            <a:avLst/>
          </a:prstGeom>
          <a:noFill/>
        </p:spPr>
        <p:txBody>
          <a:bodyPr wrap="square" lIns="36576" rIns="36576" tIns="13716" bIns="13716" anchor="ctr">
            <a:spAutoFit/>
          </a:bodyPr>
          <a:lstStyle/>
          <a:p>
            <a:pPr>
              <a:spcAft>
                <a:spcPts val="0"/>
              </a:spcAft>
              <a:defRPr sz="1000" b="1">
                <a:solidFill>
                  <a:srgbClr val="00A99D"/>
                </a:solidFill>
                <a:latin typeface="Aptos"/>
              </a:defRPr>
            </a:pPr>
            <a:r>
              <a:t>10 / CONTEXT ENGINEERING</a:t>
            </a:r>
          </a:p>
        </p:txBody>
      </p:sp>
      <p:sp>
        <p:nvSpPr>
          <p:cNvPr id="5" name="TextBox 4"/>
          <p:cNvSpPr txBox="1"/>
          <p:nvPr/>
        </p:nvSpPr>
        <p:spPr>
          <a:xfrm>
            <a:off x="502920" y="530352"/>
            <a:ext cx="11201400" cy="557784"/>
          </a:xfrm>
          <a:prstGeom prst="rect">
            <a:avLst/>
          </a:prstGeom>
          <a:noFill/>
        </p:spPr>
        <p:txBody>
          <a:bodyPr wrap="square" lIns="36576" rIns="36576" tIns="13716" bIns="13716" anchor="ctr">
            <a:spAutoFit/>
          </a:bodyPr>
          <a:lstStyle/>
          <a:p>
            <a:pPr>
              <a:spcAft>
                <a:spcPts val="0"/>
              </a:spcAft>
              <a:defRPr sz="2800" b="1">
                <a:solidFill>
                  <a:srgbClr val="10253F"/>
                </a:solidFill>
                <a:latin typeface="Aptos"/>
              </a:defRPr>
            </a:pPr>
            <a:r>
              <a:t>Step 6  |  Expand sections before generation</a:t>
            </a:r>
          </a:p>
        </p:txBody>
      </p:sp>
      <p:sp>
        <p:nvSpPr>
          <p:cNvPr id="6" name="TextBox 5"/>
          <p:cNvSpPr txBox="1"/>
          <p:nvPr/>
        </p:nvSpPr>
        <p:spPr>
          <a:xfrm>
            <a:off x="521207" y="1133856"/>
            <a:ext cx="11064240" cy="393192"/>
          </a:xfrm>
          <a:prstGeom prst="rect">
            <a:avLst/>
          </a:prstGeom>
          <a:noFill/>
        </p:spPr>
        <p:txBody>
          <a:bodyPr wrap="square" lIns="36576" rIns="36576" tIns="13716" bIns="13716" anchor="ctr">
            <a:spAutoFit/>
          </a:bodyPr>
          <a:lstStyle/>
          <a:p>
            <a:pPr>
              <a:spcAft>
                <a:spcPts val="0"/>
              </a:spcAft>
              <a:defRPr sz="1400" b="0">
                <a:solidFill>
                  <a:srgbClr val="61758A"/>
                </a:solidFill>
                <a:latin typeface="Aptos"/>
              </a:defRPr>
            </a:pPr>
            <a:r>
              <a:t>A top chunk may not contain the whole legal rule.</a:t>
            </a:r>
          </a:p>
        </p:txBody>
      </p:sp>
      <p:sp>
        <p:nvSpPr>
          <p:cNvPr id="7" name="Rectangle 6"/>
          <p:cNvSpPr/>
          <p:nvPr/>
        </p:nvSpPr>
        <p:spPr>
          <a:xfrm>
            <a:off x="502920" y="6556248"/>
            <a:ext cx="11155680" cy="10972"/>
          </a:xfrm>
          <a:prstGeom prst="rect">
            <a:avLst/>
          </a:prstGeom>
          <a:solidFill>
            <a:srgbClr val="DC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0"/>
            <a:ext cx="8229600" cy="155448"/>
          </a:xfrm>
          <a:prstGeom prst="rect">
            <a:avLst/>
          </a:prstGeom>
          <a:noFill/>
        </p:spPr>
        <p:txBody>
          <a:bodyPr wrap="square" lIns="36576" rIns="36576" tIns="13716" bIns="13716" anchor="ctr">
            <a:spAutoFit/>
          </a:bodyPr>
          <a:lstStyle/>
          <a:p>
            <a:pPr>
              <a:spcAft>
                <a:spcPts val="0"/>
              </a:spcAft>
              <a:defRPr sz="800" b="0">
                <a:solidFill>
                  <a:srgbClr val="61758A"/>
                </a:solidFill>
                <a:latin typeface="Aptos"/>
              </a:defRPr>
            </a:pPr>
            <a:r>
              <a:t>EU AI ACT  •  RAG ENGINEERING PORTFOLIO</a:t>
            </a:r>
          </a:p>
        </p:txBody>
      </p:sp>
      <p:sp>
        <p:nvSpPr>
          <p:cNvPr id="9" name="TextBox 8"/>
          <p:cNvSpPr txBox="1"/>
          <p:nvPr/>
        </p:nvSpPr>
        <p:spPr>
          <a:xfrm>
            <a:off x="11082528" y="6565392"/>
            <a:ext cx="502920" cy="201168"/>
          </a:xfrm>
          <a:prstGeom prst="rect">
            <a:avLst/>
          </a:prstGeom>
          <a:noFill/>
        </p:spPr>
        <p:txBody>
          <a:bodyPr wrap="square" lIns="36576" rIns="36576" tIns="13716" bIns="13716" anchor="ctr">
            <a:spAutoFit/>
          </a:bodyPr>
          <a:lstStyle/>
          <a:p>
            <a:pPr algn="r">
              <a:spcAft>
                <a:spcPts val="0"/>
              </a:spcAft>
              <a:defRPr sz="900" b="1">
                <a:solidFill>
                  <a:srgbClr val="61758A"/>
                </a:solidFill>
                <a:latin typeface="Aptos"/>
              </a:defRPr>
            </a:pPr>
            <a:r>
              <a:t>11</a:t>
            </a:r>
          </a:p>
        </p:txBody>
      </p:sp>
      <p:sp>
        <p:nvSpPr>
          <p:cNvPr id="10" name="Rounded Rectangle 9"/>
          <p:cNvSpPr/>
          <p:nvPr/>
        </p:nvSpPr>
        <p:spPr>
          <a:xfrm>
            <a:off x="694944" y="1801368"/>
            <a:ext cx="5358384" cy="1554480"/>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41248" y="1965960"/>
            <a:ext cx="393192" cy="393192"/>
          </a:xfrm>
          <a:prstGeom prst="roundRect">
            <a:avLst>
              <a:gd name="adj" fmla="val 16000"/>
            </a:avLst>
          </a:prstGeom>
          <a:solidFill>
            <a:srgbClr val="2B7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1965960"/>
            <a:ext cx="393192" cy="393192"/>
          </a:xfrm>
          <a:prstGeom prst="rect">
            <a:avLst/>
          </a:prstGeom>
          <a:noFill/>
        </p:spPr>
        <p:txBody>
          <a:bodyPr wrap="square" lIns="36576" rIns="36576" tIns="13716" bIns="13716" anchor="ctr">
            <a:spAutoFit/>
          </a:bodyPr>
          <a:lstStyle/>
          <a:p>
            <a:pPr algn="ctr">
              <a:spcAft>
                <a:spcPts val="0"/>
              </a:spcAft>
              <a:defRPr sz="1300" b="1">
                <a:solidFill>
                  <a:srgbClr val="FFFFFF"/>
                </a:solidFill>
                <a:latin typeface="Aptos"/>
              </a:defRPr>
            </a:pPr>
            <a:r>
              <a:t>1</a:t>
            </a:r>
          </a:p>
        </p:txBody>
      </p:sp>
      <p:sp>
        <p:nvSpPr>
          <p:cNvPr id="13" name="TextBox 12"/>
          <p:cNvSpPr txBox="1"/>
          <p:nvPr/>
        </p:nvSpPr>
        <p:spPr>
          <a:xfrm>
            <a:off x="1325880" y="1938528"/>
            <a:ext cx="4581144" cy="347472"/>
          </a:xfrm>
          <a:prstGeom prst="rect">
            <a:avLst/>
          </a:prstGeom>
          <a:noFill/>
        </p:spPr>
        <p:txBody>
          <a:bodyPr wrap="square" lIns="36576" rIns="36576" tIns="13716" bIns="13716" anchor="ctr">
            <a:spAutoFit/>
          </a:bodyPr>
          <a:lstStyle/>
          <a:p>
            <a:pPr>
              <a:spcAft>
                <a:spcPts val="0"/>
              </a:spcAft>
              <a:defRPr sz="1600" b="1">
                <a:solidFill>
                  <a:srgbClr val="10253F"/>
                </a:solidFill>
                <a:latin typeface="Aptos"/>
              </a:defRPr>
            </a:pPr>
            <a:r>
              <a:t>Retrieve top five</a:t>
            </a:r>
          </a:p>
        </p:txBody>
      </p:sp>
      <p:sp>
        <p:nvSpPr>
          <p:cNvPr id="14" name="TextBox 13"/>
          <p:cNvSpPr txBox="1"/>
          <p:nvPr/>
        </p:nvSpPr>
        <p:spPr>
          <a:xfrm>
            <a:off x="859536" y="2441448"/>
            <a:ext cx="5047488" cy="822959"/>
          </a:xfrm>
          <a:prstGeom prst="rect">
            <a:avLst/>
          </a:prstGeom>
          <a:noFill/>
        </p:spPr>
        <p:txBody>
          <a:bodyPr wrap="square" lIns="36576" rIns="36576" tIns="13716" bIns="13716" anchor="t">
            <a:spAutoFit/>
          </a:bodyPr>
          <a:lstStyle/>
          <a:p>
            <a:pPr>
              <a:spcAft>
                <a:spcPts val="0"/>
              </a:spcAft>
              <a:defRPr sz="1200" b="0">
                <a:solidFill>
                  <a:srgbClr val="61758A"/>
                </a:solidFill>
                <a:latin typeface="Aptos"/>
              </a:defRPr>
            </a:pPr>
            <a:r>
              <a:t>Rank chunks by semantic similarity.</a:t>
            </a:r>
          </a:p>
        </p:txBody>
      </p:sp>
      <p:sp>
        <p:nvSpPr>
          <p:cNvPr id="15" name="Rounded Rectangle 14"/>
          <p:cNvSpPr/>
          <p:nvPr/>
        </p:nvSpPr>
        <p:spPr>
          <a:xfrm>
            <a:off x="6327648" y="1801368"/>
            <a:ext cx="5358384" cy="1554480"/>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73952" y="1965960"/>
            <a:ext cx="393192" cy="393192"/>
          </a:xfrm>
          <a:prstGeom prst="roundRect">
            <a:avLst>
              <a:gd name="adj" fmla="val 16000"/>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73952" y="1965960"/>
            <a:ext cx="393192" cy="393192"/>
          </a:xfrm>
          <a:prstGeom prst="rect">
            <a:avLst/>
          </a:prstGeom>
          <a:noFill/>
        </p:spPr>
        <p:txBody>
          <a:bodyPr wrap="square" lIns="36576" rIns="36576" tIns="13716" bIns="13716" anchor="ctr">
            <a:spAutoFit/>
          </a:bodyPr>
          <a:lstStyle/>
          <a:p>
            <a:pPr algn="ctr">
              <a:spcAft>
                <a:spcPts val="0"/>
              </a:spcAft>
              <a:defRPr sz="1300" b="1">
                <a:solidFill>
                  <a:srgbClr val="FFFFFF"/>
                </a:solidFill>
                <a:latin typeface="Aptos"/>
              </a:defRPr>
            </a:pPr>
            <a:r>
              <a:t>2</a:t>
            </a:r>
          </a:p>
        </p:txBody>
      </p:sp>
      <p:sp>
        <p:nvSpPr>
          <p:cNvPr id="18" name="TextBox 17"/>
          <p:cNvSpPr txBox="1"/>
          <p:nvPr/>
        </p:nvSpPr>
        <p:spPr>
          <a:xfrm>
            <a:off x="6958583" y="1938528"/>
            <a:ext cx="4581144" cy="347472"/>
          </a:xfrm>
          <a:prstGeom prst="rect">
            <a:avLst/>
          </a:prstGeom>
          <a:noFill/>
        </p:spPr>
        <p:txBody>
          <a:bodyPr wrap="square" lIns="36576" rIns="36576" tIns="13716" bIns="13716" anchor="ctr">
            <a:spAutoFit/>
          </a:bodyPr>
          <a:lstStyle/>
          <a:p>
            <a:pPr>
              <a:spcAft>
                <a:spcPts val="0"/>
              </a:spcAft>
              <a:defRPr sz="1600" b="1">
                <a:solidFill>
                  <a:srgbClr val="10253F"/>
                </a:solidFill>
                <a:latin typeface="Aptos"/>
              </a:defRPr>
            </a:pPr>
            <a:r>
              <a:t>Choose top three sections</a:t>
            </a:r>
          </a:p>
        </p:txBody>
      </p:sp>
      <p:sp>
        <p:nvSpPr>
          <p:cNvPr id="19" name="TextBox 18"/>
          <p:cNvSpPr txBox="1"/>
          <p:nvPr/>
        </p:nvSpPr>
        <p:spPr>
          <a:xfrm>
            <a:off x="6492240" y="2441448"/>
            <a:ext cx="5047488" cy="822959"/>
          </a:xfrm>
          <a:prstGeom prst="rect">
            <a:avLst/>
          </a:prstGeom>
          <a:noFill/>
        </p:spPr>
        <p:txBody>
          <a:bodyPr wrap="square" lIns="36576" rIns="36576" tIns="13716" bIns="13716" anchor="t">
            <a:spAutoFit/>
          </a:bodyPr>
          <a:lstStyle/>
          <a:p>
            <a:pPr>
              <a:spcAft>
                <a:spcPts val="0"/>
              </a:spcAft>
              <a:defRPr sz="1200" b="0">
                <a:solidFill>
                  <a:srgbClr val="61758A"/>
                </a:solidFill>
                <a:latin typeface="Aptos"/>
              </a:defRPr>
            </a:pPr>
            <a:r>
              <a:t>Deduplicate by Article / Annex label.</a:t>
            </a:r>
          </a:p>
        </p:txBody>
      </p:sp>
      <p:sp>
        <p:nvSpPr>
          <p:cNvPr id="20" name="Rounded Rectangle 19"/>
          <p:cNvSpPr/>
          <p:nvPr/>
        </p:nvSpPr>
        <p:spPr>
          <a:xfrm>
            <a:off x="694944" y="3657600"/>
            <a:ext cx="5358384" cy="1554480"/>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41248" y="3822191"/>
            <a:ext cx="393192" cy="393192"/>
          </a:xfrm>
          <a:prstGeom prst="roundRect">
            <a:avLst>
              <a:gd name="adj" fmla="val 16000"/>
            </a:avLst>
          </a:prstGeom>
          <a:solidFill>
            <a:srgbClr val="F4B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 y="3822191"/>
            <a:ext cx="393192" cy="393192"/>
          </a:xfrm>
          <a:prstGeom prst="rect">
            <a:avLst/>
          </a:prstGeom>
          <a:noFill/>
        </p:spPr>
        <p:txBody>
          <a:bodyPr wrap="square" lIns="36576" rIns="36576" tIns="13716" bIns="13716" anchor="ctr">
            <a:spAutoFit/>
          </a:bodyPr>
          <a:lstStyle/>
          <a:p>
            <a:pPr algn="ctr">
              <a:spcAft>
                <a:spcPts val="0"/>
              </a:spcAft>
              <a:defRPr sz="1300" b="1">
                <a:solidFill>
                  <a:srgbClr val="FFFFFF"/>
                </a:solidFill>
                <a:latin typeface="Aptos"/>
              </a:defRPr>
            </a:pPr>
            <a:r>
              <a:t>3</a:t>
            </a:r>
          </a:p>
        </p:txBody>
      </p:sp>
      <p:sp>
        <p:nvSpPr>
          <p:cNvPr id="23" name="TextBox 22"/>
          <p:cNvSpPr txBox="1"/>
          <p:nvPr/>
        </p:nvSpPr>
        <p:spPr>
          <a:xfrm>
            <a:off x="1325880" y="3794760"/>
            <a:ext cx="4581144" cy="347472"/>
          </a:xfrm>
          <a:prstGeom prst="rect">
            <a:avLst/>
          </a:prstGeom>
          <a:noFill/>
        </p:spPr>
        <p:txBody>
          <a:bodyPr wrap="square" lIns="36576" rIns="36576" tIns="13716" bIns="13716" anchor="ctr">
            <a:spAutoFit/>
          </a:bodyPr>
          <a:lstStyle/>
          <a:p>
            <a:pPr>
              <a:spcAft>
                <a:spcPts val="0"/>
              </a:spcAft>
              <a:defRPr sz="1600" b="1">
                <a:solidFill>
                  <a:srgbClr val="10253F"/>
                </a:solidFill>
                <a:latin typeface="Aptos"/>
              </a:defRPr>
            </a:pPr>
            <a:r>
              <a:t>Expand all chunks</a:t>
            </a:r>
          </a:p>
        </p:txBody>
      </p:sp>
      <p:sp>
        <p:nvSpPr>
          <p:cNvPr id="24" name="TextBox 23"/>
          <p:cNvSpPr txBox="1"/>
          <p:nvPr/>
        </p:nvSpPr>
        <p:spPr>
          <a:xfrm>
            <a:off x="859536" y="4297680"/>
            <a:ext cx="5047488" cy="822959"/>
          </a:xfrm>
          <a:prstGeom prst="rect">
            <a:avLst/>
          </a:prstGeom>
          <a:noFill/>
        </p:spPr>
        <p:txBody>
          <a:bodyPr wrap="square" lIns="36576" rIns="36576" tIns="13716" bIns="13716" anchor="t">
            <a:spAutoFit/>
          </a:bodyPr>
          <a:lstStyle/>
          <a:p>
            <a:pPr>
              <a:spcAft>
                <a:spcPts val="0"/>
              </a:spcAft>
              <a:defRPr sz="1200" b="0">
                <a:solidFill>
                  <a:srgbClr val="61758A"/>
                </a:solidFill>
                <a:latin typeface="Aptos"/>
              </a:defRPr>
            </a:pPr>
            <a:r>
              <a:t>Bring in other chunks from those sections.</a:t>
            </a:r>
          </a:p>
        </p:txBody>
      </p:sp>
      <p:sp>
        <p:nvSpPr>
          <p:cNvPr id="25" name="Rounded Rectangle 24"/>
          <p:cNvSpPr/>
          <p:nvPr/>
        </p:nvSpPr>
        <p:spPr>
          <a:xfrm>
            <a:off x="6327648" y="3657600"/>
            <a:ext cx="5358384" cy="1554480"/>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73952" y="3822191"/>
            <a:ext cx="393192" cy="393192"/>
          </a:xfrm>
          <a:prstGeom prst="roundRect">
            <a:avLst>
              <a:gd name="adj" fmla="val 16000"/>
            </a:avLst>
          </a:prstGeom>
          <a:solidFill>
            <a:srgbClr val="2B7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3822191"/>
            <a:ext cx="393192" cy="393192"/>
          </a:xfrm>
          <a:prstGeom prst="rect">
            <a:avLst/>
          </a:prstGeom>
          <a:noFill/>
        </p:spPr>
        <p:txBody>
          <a:bodyPr wrap="square" lIns="36576" rIns="36576" tIns="13716" bIns="13716" anchor="ctr">
            <a:spAutoFit/>
          </a:bodyPr>
          <a:lstStyle/>
          <a:p>
            <a:pPr algn="ctr">
              <a:spcAft>
                <a:spcPts val="0"/>
              </a:spcAft>
              <a:defRPr sz="1300" b="1">
                <a:solidFill>
                  <a:srgbClr val="FFFFFF"/>
                </a:solidFill>
                <a:latin typeface="Aptos"/>
              </a:defRPr>
            </a:pPr>
            <a:r>
              <a:t>4</a:t>
            </a:r>
          </a:p>
        </p:txBody>
      </p:sp>
      <p:sp>
        <p:nvSpPr>
          <p:cNvPr id="28" name="TextBox 27"/>
          <p:cNvSpPr txBox="1"/>
          <p:nvPr/>
        </p:nvSpPr>
        <p:spPr>
          <a:xfrm>
            <a:off x="6958583" y="3794760"/>
            <a:ext cx="4581144" cy="347472"/>
          </a:xfrm>
          <a:prstGeom prst="rect">
            <a:avLst/>
          </a:prstGeom>
          <a:noFill/>
        </p:spPr>
        <p:txBody>
          <a:bodyPr wrap="square" lIns="36576" rIns="36576" tIns="13716" bIns="13716" anchor="ctr">
            <a:spAutoFit/>
          </a:bodyPr>
          <a:lstStyle/>
          <a:p>
            <a:pPr>
              <a:spcAft>
                <a:spcPts val="0"/>
              </a:spcAft>
              <a:defRPr sz="1600" b="1">
                <a:solidFill>
                  <a:srgbClr val="10253F"/>
                </a:solidFill>
                <a:latin typeface="Aptos"/>
              </a:defRPr>
            </a:pPr>
            <a:r>
              <a:t>Cap context</a:t>
            </a:r>
          </a:p>
        </p:txBody>
      </p:sp>
      <p:sp>
        <p:nvSpPr>
          <p:cNvPr id="29" name="TextBox 28"/>
          <p:cNvSpPr txBox="1"/>
          <p:nvPr/>
        </p:nvSpPr>
        <p:spPr>
          <a:xfrm>
            <a:off x="6492240" y="4297680"/>
            <a:ext cx="5047488" cy="822959"/>
          </a:xfrm>
          <a:prstGeom prst="rect">
            <a:avLst/>
          </a:prstGeom>
          <a:noFill/>
        </p:spPr>
        <p:txBody>
          <a:bodyPr wrap="square" lIns="36576" rIns="36576" tIns="13716" bIns="13716" anchor="t">
            <a:spAutoFit/>
          </a:bodyPr>
          <a:lstStyle/>
          <a:p>
            <a:pPr>
              <a:spcAft>
                <a:spcPts val="0"/>
              </a:spcAft>
              <a:defRPr sz="1200" b="0">
                <a:solidFill>
                  <a:srgbClr val="61758A"/>
                </a:solidFill>
                <a:latin typeface="Aptos"/>
              </a:defRPr>
            </a:pPr>
            <a:r>
              <a:t>Limit the text to 12,000 characters.</a:t>
            </a:r>
          </a:p>
        </p:txBody>
      </p:sp>
      <p:sp>
        <p:nvSpPr>
          <p:cNvPr id="30" name="Rounded Rectangle 29"/>
          <p:cNvSpPr/>
          <p:nvPr/>
        </p:nvSpPr>
        <p:spPr>
          <a:xfrm>
            <a:off x="1005840" y="5760720"/>
            <a:ext cx="10149840" cy="438912"/>
          </a:xfrm>
          <a:prstGeom prst="roundRect">
            <a:avLst>
              <a:gd name="adj" fmla="val 16000"/>
            </a:avLst>
          </a:prstGeom>
          <a:solidFill>
            <a:srgbClr val="10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88720" y="5815584"/>
            <a:ext cx="9784080" cy="283464"/>
          </a:xfrm>
          <a:prstGeom prst="rect">
            <a:avLst/>
          </a:prstGeom>
          <a:noFill/>
        </p:spPr>
        <p:txBody>
          <a:bodyPr wrap="square" lIns="36576" rIns="36576" tIns="13716" bIns="13716" anchor="ctr">
            <a:spAutoFit/>
          </a:bodyPr>
          <a:lstStyle/>
          <a:p>
            <a:pPr algn="ctr">
              <a:spcAft>
                <a:spcPts val="0"/>
              </a:spcAft>
              <a:defRPr sz="1300" b="1">
                <a:solidFill>
                  <a:srgbClr val="FFFFFF"/>
                </a:solidFill>
                <a:latin typeface="Aptos"/>
              </a:defRPr>
            </a:pPr>
            <a:r>
              <a:t>Example: Article 50 chunks 1–2 + Article 13 chunk 1 + Article 3 chunks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19456"/>
            <a:ext cx="10881360" cy="219456"/>
          </a:xfrm>
          <a:prstGeom prst="rect">
            <a:avLst/>
          </a:prstGeom>
          <a:noFill/>
        </p:spPr>
        <p:txBody>
          <a:bodyPr wrap="square" lIns="36576" rIns="36576" tIns="13716" bIns="13716" anchor="ctr">
            <a:spAutoFit/>
          </a:bodyPr>
          <a:lstStyle/>
          <a:p>
            <a:pPr>
              <a:spcAft>
                <a:spcPts val="0"/>
              </a:spcAft>
              <a:defRPr sz="1000" b="1">
                <a:solidFill>
                  <a:srgbClr val="00A99D"/>
                </a:solidFill>
                <a:latin typeface="Aptos"/>
              </a:defRPr>
            </a:pPr>
            <a:r>
              <a:t>11 / LLM INTEGRATION</a:t>
            </a:r>
          </a:p>
        </p:txBody>
      </p:sp>
      <p:sp>
        <p:nvSpPr>
          <p:cNvPr id="5" name="TextBox 4"/>
          <p:cNvSpPr txBox="1"/>
          <p:nvPr/>
        </p:nvSpPr>
        <p:spPr>
          <a:xfrm>
            <a:off x="502920" y="530352"/>
            <a:ext cx="11201400" cy="557784"/>
          </a:xfrm>
          <a:prstGeom prst="rect">
            <a:avLst/>
          </a:prstGeom>
          <a:noFill/>
        </p:spPr>
        <p:txBody>
          <a:bodyPr wrap="square" lIns="36576" rIns="36576" tIns="13716" bIns="13716" anchor="ctr">
            <a:spAutoFit/>
          </a:bodyPr>
          <a:lstStyle/>
          <a:p>
            <a:pPr>
              <a:spcAft>
                <a:spcPts val="0"/>
              </a:spcAft>
              <a:defRPr sz="2800" b="1">
                <a:solidFill>
                  <a:srgbClr val="10253F"/>
                </a:solidFill>
                <a:latin typeface="Aptos"/>
              </a:defRPr>
            </a:pPr>
            <a:r>
              <a:t>Step 7  |  Grounded answer generation</a:t>
            </a:r>
          </a:p>
        </p:txBody>
      </p:sp>
      <p:sp>
        <p:nvSpPr>
          <p:cNvPr id="6" name="TextBox 5"/>
          <p:cNvSpPr txBox="1"/>
          <p:nvPr/>
        </p:nvSpPr>
        <p:spPr>
          <a:xfrm>
            <a:off x="521207" y="1133856"/>
            <a:ext cx="11064240" cy="393192"/>
          </a:xfrm>
          <a:prstGeom prst="rect">
            <a:avLst/>
          </a:prstGeom>
          <a:noFill/>
        </p:spPr>
        <p:txBody>
          <a:bodyPr wrap="square" lIns="36576" rIns="36576" tIns="13716" bIns="13716" anchor="ctr">
            <a:spAutoFit/>
          </a:bodyPr>
          <a:lstStyle/>
          <a:p>
            <a:pPr>
              <a:spcAft>
                <a:spcPts val="0"/>
              </a:spcAft>
              <a:defRPr sz="1400" b="0">
                <a:solidFill>
                  <a:srgbClr val="61758A"/>
                </a:solidFill>
                <a:latin typeface="Aptos"/>
              </a:defRPr>
            </a:pPr>
            <a:r>
              <a:t>The LLM explains the retrieved evidence; it does not choose the source document.</a:t>
            </a:r>
          </a:p>
        </p:txBody>
      </p:sp>
      <p:sp>
        <p:nvSpPr>
          <p:cNvPr id="7" name="Rectangle 6"/>
          <p:cNvSpPr/>
          <p:nvPr/>
        </p:nvSpPr>
        <p:spPr>
          <a:xfrm>
            <a:off x="502920" y="6556248"/>
            <a:ext cx="11155680" cy="10972"/>
          </a:xfrm>
          <a:prstGeom prst="rect">
            <a:avLst/>
          </a:prstGeom>
          <a:solidFill>
            <a:srgbClr val="DC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0"/>
            <a:ext cx="8229600" cy="155448"/>
          </a:xfrm>
          <a:prstGeom prst="rect">
            <a:avLst/>
          </a:prstGeom>
          <a:noFill/>
        </p:spPr>
        <p:txBody>
          <a:bodyPr wrap="square" lIns="36576" rIns="36576" tIns="13716" bIns="13716" anchor="ctr">
            <a:spAutoFit/>
          </a:bodyPr>
          <a:lstStyle/>
          <a:p>
            <a:pPr>
              <a:spcAft>
                <a:spcPts val="0"/>
              </a:spcAft>
              <a:defRPr sz="800" b="0">
                <a:solidFill>
                  <a:srgbClr val="61758A"/>
                </a:solidFill>
                <a:latin typeface="Aptos"/>
              </a:defRPr>
            </a:pPr>
            <a:r>
              <a:t>EU AI ACT  •  RAG ENGINEERING PORTFOLIO</a:t>
            </a:r>
          </a:p>
        </p:txBody>
      </p:sp>
      <p:sp>
        <p:nvSpPr>
          <p:cNvPr id="9" name="TextBox 8"/>
          <p:cNvSpPr txBox="1"/>
          <p:nvPr/>
        </p:nvSpPr>
        <p:spPr>
          <a:xfrm>
            <a:off x="11082528" y="6565392"/>
            <a:ext cx="502920" cy="201168"/>
          </a:xfrm>
          <a:prstGeom prst="rect">
            <a:avLst/>
          </a:prstGeom>
          <a:noFill/>
        </p:spPr>
        <p:txBody>
          <a:bodyPr wrap="square" lIns="36576" rIns="36576" tIns="13716" bIns="13716" anchor="ctr">
            <a:spAutoFit/>
          </a:bodyPr>
          <a:lstStyle/>
          <a:p>
            <a:pPr algn="r">
              <a:spcAft>
                <a:spcPts val="0"/>
              </a:spcAft>
              <a:defRPr sz="900" b="1">
                <a:solidFill>
                  <a:srgbClr val="61758A"/>
                </a:solidFill>
                <a:latin typeface="Aptos"/>
              </a:defRPr>
            </a:pPr>
            <a:r>
              <a:t>12</a:t>
            </a:r>
          </a:p>
        </p:txBody>
      </p:sp>
      <p:sp>
        <p:nvSpPr>
          <p:cNvPr id="10" name="Rounded Rectangle 9"/>
          <p:cNvSpPr/>
          <p:nvPr/>
        </p:nvSpPr>
        <p:spPr>
          <a:xfrm>
            <a:off x="713232" y="1792224"/>
            <a:ext cx="6126480" cy="3611880"/>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039112"/>
            <a:ext cx="5394960" cy="356616"/>
          </a:xfrm>
          <a:prstGeom prst="rect">
            <a:avLst/>
          </a:prstGeom>
          <a:noFill/>
        </p:spPr>
        <p:txBody>
          <a:bodyPr wrap="square" lIns="36576" rIns="36576" tIns="13716" bIns="13716" anchor="ctr">
            <a:spAutoFit/>
          </a:bodyPr>
          <a:lstStyle/>
          <a:p>
            <a:pPr>
              <a:spcAft>
                <a:spcPts val="0"/>
              </a:spcAft>
              <a:defRPr sz="1600" b="1">
                <a:solidFill>
                  <a:srgbClr val="00A99D"/>
                </a:solidFill>
                <a:latin typeface="Aptos"/>
              </a:defRPr>
            </a:pPr>
            <a:r>
              <a:t>PROMPT CONTENT</a:t>
            </a:r>
          </a:p>
        </p:txBody>
      </p:sp>
      <p:sp>
        <p:nvSpPr>
          <p:cNvPr id="12" name="Rounded Rectangle 11"/>
          <p:cNvSpPr/>
          <p:nvPr/>
        </p:nvSpPr>
        <p:spPr>
          <a:xfrm>
            <a:off x="987552" y="2587752"/>
            <a:ext cx="329184" cy="310896"/>
          </a:xfrm>
          <a:prstGeom prst="roundRect">
            <a:avLst>
              <a:gd name="adj" fmla="val 16000"/>
            </a:avLst>
          </a:prstGeom>
          <a:solidFill>
            <a:srgbClr val="10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2587752"/>
            <a:ext cx="310896" cy="310896"/>
          </a:xfrm>
          <a:prstGeom prst="rect">
            <a:avLst/>
          </a:prstGeom>
          <a:noFill/>
        </p:spPr>
        <p:txBody>
          <a:bodyPr wrap="square" lIns="36576" rIns="36576" tIns="13716" bIns="13716" anchor="ctr">
            <a:spAutoFit/>
          </a:bodyPr>
          <a:lstStyle/>
          <a:p>
            <a:pPr algn="ctr">
              <a:spcAft>
                <a:spcPts val="0"/>
              </a:spcAft>
              <a:defRPr sz="1100" b="1">
                <a:solidFill>
                  <a:srgbClr val="FFFFFF"/>
                </a:solidFill>
                <a:latin typeface="Aptos"/>
              </a:defRPr>
            </a:pPr>
            <a:r>
              <a:t>1</a:t>
            </a:r>
          </a:p>
        </p:txBody>
      </p:sp>
      <p:sp>
        <p:nvSpPr>
          <p:cNvPr id="14" name="TextBox 13"/>
          <p:cNvSpPr txBox="1"/>
          <p:nvPr/>
        </p:nvSpPr>
        <p:spPr>
          <a:xfrm>
            <a:off x="1435608" y="2587752"/>
            <a:ext cx="5047488" cy="310896"/>
          </a:xfrm>
          <a:prstGeom prst="rect">
            <a:avLst/>
          </a:prstGeom>
          <a:noFill/>
        </p:spPr>
        <p:txBody>
          <a:bodyPr wrap="square" lIns="36576" rIns="36576" tIns="13716" bIns="13716" anchor="ctr">
            <a:spAutoFit/>
          </a:bodyPr>
          <a:lstStyle/>
          <a:p>
            <a:pPr>
              <a:spcAft>
                <a:spcPts val="0"/>
              </a:spcAft>
              <a:defRPr sz="1500" b="0">
                <a:solidFill>
                  <a:srgbClr val="1B2C3D"/>
                </a:solidFill>
                <a:latin typeface="Aptos"/>
              </a:defRPr>
            </a:pPr>
            <a:r>
              <a:t>User question</a:t>
            </a:r>
          </a:p>
        </p:txBody>
      </p:sp>
      <p:sp>
        <p:nvSpPr>
          <p:cNvPr id="15" name="Rounded Rectangle 14"/>
          <p:cNvSpPr/>
          <p:nvPr/>
        </p:nvSpPr>
        <p:spPr>
          <a:xfrm>
            <a:off x="987552" y="3054096"/>
            <a:ext cx="329184" cy="310896"/>
          </a:xfrm>
          <a:prstGeom prst="roundRect">
            <a:avLst>
              <a:gd name="adj" fmla="val 16000"/>
            </a:avLst>
          </a:prstGeom>
          <a:solidFill>
            <a:srgbClr val="10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3054096"/>
            <a:ext cx="310896" cy="310896"/>
          </a:xfrm>
          <a:prstGeom prst="rect">
            <a:avLst/>
          </a:prstGeom>
          <a:noFill/>
        </p:spPr>
        <p:txBody>
          <a:bodyPr wrap="square" lIns="36576" rIns="36576" tIns="13716" bIns="13716" anchor="ctr">
            <a:spAutoFit/>
          </a:bodyPr>
          <a:lstStyle/>
          <a:p>
            <a:pPr algn="ctr">
              <a:spcAft>
                <a:spcPts val="0"/>
              </a:spcAft>
              <a:defRPr sz="1100" b="1">
                <a:solidFill>
                  <a:srgbClr val="FFFFFF"/>
                </a:solidFill>
                <a:latin typeface="Aptos"/>
              </a:defRPr>
            </a:pPr>
            <a:r>
              <a:t>2</a:t>
            </a:r>
          </a:p>
        </p:txBody>
      </p:sp>
      <p:sp>
        <p:nvSpPr>
          <p:cNvPr id="17" name="TextBox 16"/>
          <p:cNvSpPr txBox="1"/>
          <p:nvPr/>
        </p:nvSpPr>
        <p:spPr>
          <a:xfrm>
            <a:off x="1435608" y="3054096"/>
            <a:ext cx="5047488" cy="310896"/>
          </a:xfrm>
          <a:prstGeom prst="rect">
            <a:avLst/>
          </a:prstGeom>
          <a:noFill/>
        </p:spPr>
        <p:txBody>
          <a:bodyPr wrap="square" lIns="36576" rIns="36576" tIns="13716" bIns="13716" anchor="ctr">
            <a:spAutoFit/>
          </a:bodyPr>
          <a:lstStyle/>
          <a:p>
            <a:pPr>
              <a:spcAft>
                <a:spcPts val="0"/>
              </a:spcAft>
              <a:defRPr sz="1500" b="0">
                <a:solidFill>
                  <a:srgbClr val="1B2C3D"/>
                </a:solidFill>
                <a:latin typeface="Aptos"/>
              </a:defRPr>
            </a:pPr>
            <a:r>
              <a:t>Selected Article text</a:t>
            </a:r>
          </a:p>
        </p:txBody>
      </p:sp>
      <p:sp>
        <p:nvSpPr>
          <p:cNvPr id="18" name="Rounded Rectangle 17"/>
          <p:cNvSpPr/>
          <p:nvPr/>
        </p:nvSpPr>
        <p:spPr>
          <a:xfrm>
            <a:off x="987552" y="3520440"/>
            <a:ext cx="329184" cy="310896"/>
          </a:xfrm>
          <a:prstGeom prst="roundRect">
            <a:avLst>
              <a:gd name="adj" fmla="val 16000"/>
            </a:avLst>
          </a:prstGeom>
          <a:solidFill>
            <a:srgbClr val="10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6696" y="3520440"/>
            <a:ext cx="310896" cy="310896"/>
          </a:xfrm>
          <a:prstGeom prst="rect">
            <a:avLst/>
          </a:prstGeom>
          <a:noFill/>
        </p:spPr>
        <p:txBody>
          <a:bodyPr wrap="square" lIns="36576" rIns="36576" tIns="13716" bIns="13716" anchor="ctr">
            <a:spAutoFit/>
          </a:bodyPr>
          <a:lstStyle/>
          <a:p>
            <a:pPr algn="ctr">
              <a:spcAft>
                <a:spcPts val="0"/>
              </a:spcAft>
              <a:defRPr sz="1100" b="1">
                <a:solidFill>
                  <a:srgbClr val="FFFFFF"/>
                </a:solidFill>
                <a:latin typeface="Aptos"/>
              </a:defRPr>
            </a:pPr>
            <a:r>
              <a:t>3</a:t>
            </a:r>
          </a:p>
        </p:txBody>
      </p:sp>
      <p:sp>
        <p:nvSpPr>
          <p:cNvPr id="20" name="TextBox 19"/>
          <p:cNvSpPr txBox="1"/>
          <p:nvPr/>
        </p:nvSpPr>
        <p:spPr>
          <a:xfrm>
            <a:off x="1435608" y="3520440"/>
            <a:ext cx="5047488" cy="310896"/>
          </a:xfrm>
          <a:prstGeom prst="rect">
            <a:avLst/>
          </a:prstGeom>
          <a:noFill/>
        </p:spPr>
        <p:txBody>
          <a:bodyPr wrap="square" lIns="36576" rIns="36576" tIns="13716" bIns="13716" anchor="ctr">
            <a:spAutoFit/>
          </a:bodyPr>
          <a:lstStyle/>
          <a:p>
            <a:pPr>
              <a:spcAft>
                <a:spcPts val="0"/>
              </a:spcAft>
              <a:defRPr sz="1500" b="0">
                <a:solidFill>
                  <a:srgbClr val="1B2C3D"/>
                </a:solidFill>
                <a:latin typeface="Aptos"/>
              </a:defRPr>
            </a:pPr>
            <a:r>
              <a:t>Instruction: use only this context</a:t>
            </a:r>
          </a:p>
        </p:txBody>
      </p:sp>
      <p:sp>
        <p:nvSpPr>
          <p:cNvPr id="21" name="Rounded Rectangle 20"/>
          <p:cNvSpPr/>
          <p:nvPr/>
        </p:nvSpPr>
        <p:spPr>
          <a:xfrm>
            <a:off x="987552" y="3986784"/>
            <a:ext cx="329184" cy="310896"/>
          </a:xfrm>
          <a:prstGeom prst="roundRect">
            <a:avLst>
              <a:gd name="adj" fmla="val 16000"/>
            </a:avLst>
          </a:prstGeom>
          <a:solidFill>
            <a:srgbClr val="10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696" y="3986784"/>
            <a:ext cx="310896" cy="310896"/>
          </a:xfrm>
          <a:prstGeom prst="rect">
            <a:avLst/>
          </a:prstGeom>
          <a:noFill/>
        </p:spPr>
        <p:txBody>
          <a:bodyPr wrap="square" lIns="36576" rIns="36576" tIns="13716" bIns="13716" anchor="ctr">
            <a:spAutoFit/>
          </a:bodyPr>
          <a:lstStyle/>
          <a:p>
            <a:pPr algn="ctr">
              <a:spcAft>
                <a:spcPts val="0"/>
              </a:spcAft>
              <a:defRPr sz="1100" b="1">
                <a:solidFill>
                  <a:srgbClr val="FFFFFF"/>
                </a:solidFill>
                <a:latin typeface="Aptos"/>
              </a:defRPr>
            </a:pPr>
            <a:r>
              <a:t>4</a:t>
            </a:r>
          </a:p>
        </p:txBody>
      </p:sp>
      <p:sp>
        <p:nvSpPr>
          <p:cNvPr id="23" name="TextBox 22"/>
          <p:cNvSpPr txBox="1"/>
          <p:nvPr/>
        </p:nvSpPr>
        <p:spPr>
          <a:xfrm>
            <a:off x="1435608" y="3986784"/>
            <a:ext cx="5047488" cy="310896"/>
          </a:xfrm>
          <a:prstGeom prst="rect">
            <a:avLst/>
          </a:prstGeom>
          <a:noFill/>
        </p:spPr>
        <p:txBody>
          <a:bodyPr wrap="square" lIns="36576" rIns="36576" tIns="13716" bIns="13716" anchor="ctr">
            <a:spAutoFit/>
          </a:bodyPr>
          <a:lstStyle/>
          <a:p>
            <a:pPr>
              <a:spcAft>
                <a:spcPts val="0"/>
              </a:spcAft>
              <a:defRPr sz="1500" b="0">
                <a:solidFill>
                  <a:srgbClr val="1B2C3D"/>
                </a:solidFill>
                <a:latin typeface="Aptos"/>
              </a:defRPr>
            </a:pPr>
            <a:r>
              <a:t>Ask for relevant Article references</a:t>
            </a:r>
          </a:p>
        </p:txBody>
      </p:sp>
      <p:sp>
        <p:nvSpPr>
          <p:cNvPr id="24" name="Rounded Rectangle 23"/>
          <p:cNvSpPr/>
          <p:nvPr/>
        </p:nvSpPr>
        <p:spPr>
          <a:xfrm>
            <a:off x="987552" y="4453128"/>
            <a:ext cx="329184" cy="310896"/>
          </a:xfrm>
          <a:prstGeom prst="roundRect">
            <a:avLst>
              <a:gd name="adj" fmla="val 16000"/>
            </a:avLst>
          </a:prstGeom>
          <a:solidFill>
            <a:srgbClr val="10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6696" y="4453128"/>
            <a:ext cx="310896" cy="310896"/>
          </a:xfrm>
          <a:prstGeom prst="rect">
            <a:avLst/>
          </a:prstGeom>
          <a:noFill/>
        </p:spPr>
        <p:txBody>
          <a:bodyPr wrap="square" lIns="36576" rIns="36576" tIns="13716" bIns="13716" anchor="ctr">
            <a:spAutoFit/>
          </a:bodyPr>
          <a:lstStyle/>
          <a:p>
            <a:pPr algn="ctr">
              <a:spcAft>
                <a:spcPts val="0"/>
              </a:spcAft>
              <a:defRPr sz="1100" b="1">
                <a:solidFill>
                  <a:srgbClr val="FFFFFF"/>
                </a:solidFill>
                <a:latin typeface="Aptos"/>
              </a:defRPr>
            </a:pPr>
            <a:r>
              <a:t>5</a:t>
            </a:r>
          </a:p>
        </p:txBody>
      </p:sp>
      <p:sp>
        <p:nvSpPr>
          <p:cNvPr id="26" name="TextBox 25"/>
          <p:cNvSpPr txBox="1"/>
          <p:nvPr/>
        </p:nvSpPr>
        <p:spPr>
          <a:xfrm>
            <a:off x="1435608" y="4453128"/>
            <a:ext cx="5047488" cy="310896"/>
          </a:xfrm>
          <a:prstGeom prst="rect">
            <a:avLst/>
          </a:prstGeom>
          <a:noFill/>
        </p:spPr>
        <p:txBody>
          <a:bodyPr wrap="square" lIns="36576" rIns="36576" tIns="13716" bIns="13716" anchor="ctr">
            <a:spAutoFit/>
          </a:bodyPr>
          <a:lstStyle/>
          <a:p>
            <a:pPr>
              <a:spcAft>
                <a:spcPts val="0"/>
              </a:spcAft>
              <a:defRPr sz="1500" b="0">
                <a:solidFill>
                  <a:srgbClr val="1B2C3D"/>
                </a:solidFill>
                <a:latin typeface="Aptos"/>
              </a:defRPr>
            </a:pPr>
            <a:r>
              <a:t>Admit when context is insufficient</a:t>
            </a:r>
          </a:p>
        </p:txBody>
      </p:sp>
      <p:sp>
        <p:nvSpPr>
          <p:cNvPr id="27" name="Rounded Rectangle 26"/>
          <p:cNvSpPr/>
          <p:nvPr/>
        </p:nvSpPr>
        <p:spPr>
          <a:xfrm>
            <a:off x="7168896" y="1792224"/>
            <a:ext cx="4288536" cy="1572768"/>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68896" y="1792224"/>
            <a:ext cx="59436" cy="1572768"/>
          </a:xfrm>
          <a:prstGeom prst="rect">
            <a:avLst/>
          </a:prstGeom>
          <a:solidFill>
            <a:srgbClr val="2B7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70064" y="1920240"/>
            <a:ext cx="3877056" cy="384048"/>
          </a:xfrm>
          <a:prstGeom prst="rect">
            <a:avLst/>
          </a:prstGeom>
          <a:noFill/>
        </p:spPr>
        <p:txBody>
          <a:bodyPr wrap="square" lIns="36576" rIns="36576" tIns="13716" bIns="13716" anchor="ctr">
            <a:spAutoFit/>
          </a:bodyPr>
          <a:lstStyle/>
          <a:p>
            <a:pPr>
              <a:spcAft>
                <a:spcPts val="0"/>
              </a:spcAft>
              <a:defRPr sz="1600" b="1">
                <a:solidFill>
                  <a:srgbClr val="10253F"/>
                </a:solidFill>
                <a:latin typeface="Aptos"/>
              </a:defRPr>
            </a:pPr>
            <a:r>
              <a:t>GENERATION MODEL</a:t>
            </a:r>
          </a:p>
        </p:txBody>
      </p:sp>
      <p:sp>
        <p:nvSpPr>
          <p:cNvPr id="30" name="TextBox 29"/>
          <p:cNvSpPr txBox="1"/>
          <p:nvPr/>
        </p:nvSpPr>
        <p:spPr>
          <a:xfrm>
            <a:off x="7370064" y="2386584"/>
            <a:ext cx="3849624" cy="841247"/>
          </a:xfrm>
          <a:prstGeom prst="rect">
            <a:avLst/>
          </a:prstGeom>
          <a:noFill/>
        </p:spPr>
        <p:txBody>
          <a:bodyPr wrap="square" lIns="36576" rIns="36576" tIns="13716" bIns="13716" anchor="t">
            <a:spAutoFit/>
          </a:bodyPr>
          <a:lstStyle/>
          <a:p>
            <a:pPr>
              <a:spcAft>
                <a:spcPts val="0"/>
              </a:spcAft>
              <a:defRPr sz="1400" b="0">
                <a:solidFill>
                  <a:srgbClr val="61758A"/>
                </a:solidFill>
                <a:latin typeface="Aptos"/>
              </a:defRPr>
            </a:pPr>
            <a:r>
              <a:t>openai/gpt-oss-20b through the Groq API</a:t>
            </a:r>
          </a:p>
        </p:txBody>
      </p:sp>
      <p:sp>
        <p:nvSpPr>
          <p:cNvPr id="31" name="Rounded Rectangle 30"/>
          <p:cNvSpPr/>
          <p:nvPr/>
        </p:nvSpPr>
        <p:spPr>
          <a:xfrm>
            <a:off x="7168896" y="3666744"/>
            <a:ext cx="4288536" cy="1737360"/>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168896" y="3666744"/>
            <a:ext cx="59436" cy="1737360"/>
          </a:xfrm>
          <a:prstGeom prst="rect">
            <a:avLst/>
          </a:prstGeom>
          <a:solidFill>
            <a:srgbClr val="F4B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70064" y="3794759"/>
            <a:ext cx="3877056" cy="384048"/>
          </a:xfrm>
          <a:prstGeom prst="rect">
            <a:avLst/>
          </a:prstGeom>
          <a:noFill/>
        </p:spPr>
        <p:txBody>
          <a:bodyPr wrap="square" lIns="36576" rIns="36576" tIns="13716" bIns="13716" anchor="ctr">
            <a:spAutoFit/>
          </a:bodyPr>
          <a:lstStyle/>
          <a:p>
            <a:pPr>
              <a:spcAft>
                <a:spcPts val="0"/>
              </a:spcAft>
              <a:defRPr sz="1600" b="1">
                <a:solidFill>
                  <a:srgbClr val="10253F"/>
                </a:solidFill>
                <a:latin typeface="Aptos"/>
              </a:defRPr>
            </a:pPr>
            <a:r>
              <a:t>SAFETY OF CLAIMS</a:t>
            </a:r>
          </a:p>
        </p:txBody>
      </p:sp>
      <p:sp>
        <p:nvSpPr>
          <p:cNvPr id="34" name="TextBox 33"/>
          <p:cNvSpPr txBox="1"/>
          <p:nvPr/>
        </p:nvSpPr>
        <p:spPr>
          <a:xfrm>
            <a:off x="7370064" y="4261104"/>
            <a:ext cx="3849624" cy="1005839"/>
          </a:xfrm>
          <a:prstGeom prst="rect">
            <a:avLst/>
          </a:prstGeom>
          <a:noFill/>
        </p:spPr>
        <p:txBody>
          <a:bodyPr wrap="square" lIns="36576" rIns="36576" tIns="13716" bIns="13716" anchor="t">
            <a:spAutoFit/>
          </a:bodyPr>
          <a:lstStyle/>
          <a:p>
            <a:pPr>
              <a:spcAft>
                <a:spcPts val="0"/>
              </a:spcAft>
              <a:defRPr sz="1400" b="0">
                <a:solidFill>
                  <a:srgbClr val="61758A"/>
                </a:solidFill>
                <a:latin typeface="Aptos"/>
              </a:defRPr>
            </a:pPr>
            <a:r>
              <a:t>The response is a reading aid. Source references must still be checked against current legislation.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19456"/>
            <a:ext cx="10881360" cy="219456"/>
          </a:xfrm>
          <a:prstGeom prst="rect">
            <a:avLst/>
          </a:prstGeom>
          <a:noFill/>
        </p:spPr>
        <p:txBody>
          <a:bodyPr wrap="square" lIns="36576" rIns="36576" tIns="13716" bIns="13716" anchor="ctr">
            <a:spAutoFit/>
          </a:bodyPr>
          <a:lstStyle/>
          <a:p>
            <a:pPr>
              <a:spcAft>
                <a:spcPts val="0"/>
              </a:spcAft>
              <a:defRPr sz="1000" b="1">
                <a:solidFill>
                  <a:srgbClr val="00A99D"/>
                </a:solidFill>
                <a:latin typeface="Aptos"/>
              </a:defRPr>
            </a:pPr>
            <a:r>
              <a:t>12 / REAL APPLICATION OUTPUT</a:t>
            </a:r>
          </a:p>
        </p:txBody>
      </p:sp>
      <p:sp>
        <p:nvSpPr>
          <p:cNvPr id="5" name="TextBox 4"/>
          <p:cNvSpPr txBox="1"/>
          <p:nvPr/>
        </p:nvSpPr>
        <p:spPr>
          <a:xfrm>
            <a:off x="502920" y="530352"/>
            <a:ext cx="11201400" cy="557784"/>
          </a:xfrm>
          <a:prstGeom prst="rect">
            <a:avLst/>
          </a:prstGeom>
          <a:noFill/>
        </p:spPr>
        <p:txBody>
          <a:bodyPr wrap="square" lIns="36576" rIns="36576" tIns="13716" bIns="13716" anchor="ctr">
            <a:spAutoFit/>
          </a:bodyPr>
          <a:lstStyle/>
          <a:p>
            <a:pPr>
              <a:spcAft>
                <a:spcPts val="0"/>
              </a:spcAft>
              <a:defRPr sz="2800" b="1">
                <a:solidFill>
                  <a:srgbClr val="10253F"/>
                </a:solidFill>
                <a:latin typeface="Aptos"/>
              </a:defRPr>
            </a:pPr>
            <a:r>
              <a:t>Live demo 1  |  High-risk AI requirements</a:t>
            </a:r>
          </a:p>
        </p:txBody>
      </p:sp>
      <p:sp>
        <p:nvSpPr>
          <p:cNvPr id="6" name="TextBox 5"/>
          <p:cNvSpPr txBox="1"/>
          <p:nvPr/>
        </p:nvSpPr>
        <p:spPr>
          <a:xfrm>
            <a:off x="521207" y="1133856"/>
            <a:ext cx="11064240" cy="393192"/>
          </a:xfrm>
          <a:prstGeom prst="rect">
            <a:avLst/>
          </a:prstGeom>
          <a:noFill/>
        </p:spPr>
        <p:txBody>
          <a:bodyPr wrap="square" lIns="36576" rIns="36576" tIns="13716" bIns="13716" anchor="ctr">
            <a:spAutoFit/>
          </a:bodyPr>
          <a:lstStyle/>
          <a:p>
            <a:pPr>
              <a:spcAft>
                <a:spcPts val="0"/>
              </a:spcAft>
              <a:defRPr sz="1400" b="0">
                <a:solidFill>
                  <a:srgbClr val="61758A"/>
                </a:solidFill>
                <a:latin typeface="Aptos"/>
              </a:defRPr>
            </a:pPr>
            <a:r>
              <a:t>Question: accuracy, robustness and cybersecurity for high-risk systems.</a:t>
            </a:r>
          </a:p>
        </p:txBody>
      </p:sp>
      <p:sp>
        <p:nvSpPr>
          <p:cNvPr id="7" name="Rectangle 6"/>
          <p:cNvSpPr/>
          <p:nvPr/>
        </p:nvSpPr>
        <p:spPr>
          <a:xfrm>
            <a:off x="502920" y="6556248"/>
            <a:ext cx="11155680" cy="10972"/>
          </a:xfrm>
          <a:prstGeom prst="rect">
            <a:avLst/>
          </a:prstGeom>
          <a:solidFill>
            <a:srgbClr val="DC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0"/>
            <a:ext cx="8229600" cy="155448"/>
          </a:xfrm>
          <a:prstGeom prst="rect">
            <a:avLst/>
          </a:prstGeom>
          <a:noFill/>
        </p:spPr>
        <p:txBody>
          <a:bodyPr wrap="square" lIns="36576" rIns="36576" tIns="13716" bIns="13716" anchor="ctr">
            <a:spAutoFit/>
          </a:bodyPr>
          <a:lstStyle/>
          <a:p>
            <a:pPr>
              <a:spcAft>
                <a:spcPts val="0"/>
              </a:spcAft>
              <a:defRPr sz="800" b="0">
                <a:solidFill>
                  <a:srgbClr val="61758A"/>
                </a:solidFill>
                <a:latin typeface="Aptos"/>
              </a:defRPr>
            </a:pPr>
            <a:r>
              <a:t>EU AI ACT  •  RAG ENGINEERING PORTFOLIO</a:t>
            </a:r>
          </a:p>
        </p:txBody>
      </p:sp>
      <p:sp>
        <p:nvSpPr>
          <p:cNvPr id="9" name="TextBox 8"/>
          <p:cNvSpPr txBox="1"/>
          <p:nvPr/>
        </p:nvSpPr>
        <p:spPr>
          <a:xfrm>
            <a:off x="11082528" y="6565392"/>
            <a:ext cx="502920" cy="201168"/>
          </a:xfrm>
          <a:prstGeom prst="rect">
            <a:avLst/>
          </a:prstGeom>
          <a:noFill/>
        </p:spPr>
        <p:txBody>
          <a:bodyPr wrap="square" lIns="36576" rIns="36576" tIns="13716" bIns="13716" anchor="ctr">
            <a:spAutoFit/>
          </a:bodyPr>
          <a:lstStyle/>
          <a:p>
            <a:pPr algn="r">
              <a:spcAft>
                <a:spcPts val="0"/>
              </a:spcAft>
              <a:defRPr sz="900" b="1">
                <a:solidFill>
                  <a:srgbClr val="61758A"/>
                </a:solidFill>
                <a:latin typeface="Aptos"/>
              </a:defRPr>
            </a:pPr>
            <a:r>
              <a:t>13</a:t>
            </a:r>
          </a:p>
        </p:txBody>
      </p:sp>
      <p:sp>
        <p:nvSpPr>
          <p:cNvPr id="10" name="Rounded Rectangle 9"/>
          <p:cNvSpPr/>
          <p:nvPr/>
        </p:nvSpPr>
        <p:spPr>
          <a:xfrm>
            <a:off x="662940" y="1705356"/>
            <a:ext cx="5623559" cy="3392424"/>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6).png"/>
          <p:cNvPicPr>
            <a:picLocks noChangeAspect="1"/>
          </p:cNvPicPr>
          <p:nvPr/>
        </p:nvPicPr>
        <p:blipFill>
          <a:blip r:embed="rId2"/>
          <a:stretch>
            <a:fillRect/>
          </a:stretch>
        </p:blipFill>
        <p:spPr>
          <a:xfrm>
            <a:off x="1211440" y="1728216"/>
            <a:ext cx="4526558" cy="3346704"/>
          </a:xfrm>
          <a:prstGeom prst="rect">
            <a:avLst/>
          </a:prstGeom>
        </p:spPr>
      </p:pic>
      <p:sp>
        <p:nvSpPr>
          <p:cNvPr id="12" name="TextBox 11"/>
          <p:cNvSpPr txBox="1"/>
          <p:nvPr/>
        </p:nvSpPr>
        <p:spPr>
          <a:xfrm>
            <a:off x="685800" y="5129783"/>
            <a:ext cx="5577840" cy="246888"/>
          </a:xfrm>
          <a:prstGeom prst="rect">
            <a:avLst/>
          </a:prstGeom>
          <a:noFill/>
        </p:spPr>
        <p:txBody>
          <a:bodyPr wrap="square" lIns="36576" rIns="36576" tIns="13716" bIns="13716" anchor="ctr">
            <a:spAutoFit/>
          </a:bodyPr>
          <a:lstStyle/>
          <a:p>
            <a:pPr>
              <a:spcAft>
                <a:spcPts val="0"/>
              </a:spcAft>
              <a:defRPr sz="1000" b="0">
                <a:solidFill>
                  <a:srgbClr val="61758A"/>
                </a:solidFill>
                <a:latin typeface="Aptos"/>
              </a:defRPr>
            </a:pPr>
            <a:r>
              <a:t>Real terminal run: query and ranked retrieval</a:t>
            </a:r>
          </a:p>
        </p:txBody>
      </p:sp>
      <p:sp>
        <p:nvSpPr>
          <p:cNvPr id="13" name="Rounded Rectangle 12"/>
          <p:cNvSpPr/>
          <p:nvPr/>
        </p:nvSpPr>
        <p:spPr>
          <a:xfrm>
            <a:off x="6519672" y="1728216"/>
            <a:ext cx="4937760" cy="3355848"/>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775704" y="1956816"/>
            <a:ext cx="1225296" cy="329184"/>
          </a:xfrm>
          <a:prstGeom prst="roundRect">
            <a:avLst>
              <a:gd name="adj" fmla="val 16000"/>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21424" y="1970532"/>
            <a:ext cx="1133856" cy="292608"/>
          </a:xfrm>
          <a:prstGeom prst="rect">
            <a:avLst/>
          </a:prstGeom>
          <a:noFill/>
        </p:spPr>
        <p:txBody>
          <a:bodyPr wrap="square" lIns="36576" rIns="36576" tIns="13716" bIns="13716" anchor="ctr">
            <a:spAutoFit/>
          </a:bodyPr>
          <a:lstStyle/>
          <a:p>
            <a:pPr algn="ctr">
              <a:spcAft>
                <a:spcPts val="0"/>
              </a:spcAft>
              <a:defRPr sz="1000" b="1">
                <a:solidFill>
                  <a:srgbClr val="FFFFFF"/>
                </a:solidFill>
                <a:latin typeface="Aptos"/>
              </a:defRPr>
            </a:pPr>
            <a:r>
              <a:t>TOP MATCH</a:t>
            </a:r>
          </a:p>
        </p:txBody>
      </p:sp>
      <p:sp>
        <p:nvSpPr>
          <p:cNvPr id="16" name="TextBox 15"/>
          <p:cNvSpPr txBox="1"/>
          <p:nvPr/>
        </p:nvSpPr>
        <p:spPr>
          <a:xfrm>
            <a:off x="6784848" y="2450592"/>
            <a:ext cx="3931920" cy="566928"/>
          </a:xfrm>
          <a:prstGeom prst="rect">
            <a:avLst/>
          </a:prstGeom>
          <a:noFill/>
        </p:spPr>
        <p:txBody>
          <a:bodyPr wrap="square" lIns="36576" rIns="36576" tIns="13716" bIns="13716" anchor="ctr">
            <a:spAutoFit/>
          </a:bodyPr>
          <a:lstStyle/>
          <a:p>
            <a:pPr>
              <a:spcAft>
                <a:spcPts val="0"/>
              </a:spcAft>
              <a:defRPr sz="2800" b="1">
                <a:solidFill>
                  <a:srgbClr val="10253F"/>
                </a:solidFill>
                <a:latin typeface="Aptos"/>
              </a:defRPr>
            </a:pPr>
            <a:r>
              <a:t>Article 15</a:t>
            </a:r>
          </a:p>
        </p:txBody>
      </p:sp>
      <p:sp>
        <p:nvSpPr>
          <p:cNvPr id="17" name="TextBox 16"/>
          <p:cNvSpPr txBox="1"/>
          <p:nvPr/>
        </p:nvSpPr>
        <p:spPr>
          <a:xfrm>
            <a:off x="6784848" y="3090672"/>
            <a:ext cx="4114800" cy="365760"/>
          </a:xfrm>
          <a:prstGeom prst="rect">
            <a:avLst/>
          </a:prstGeom>
          <a:noFill/>
        </p:spPr>
        <p:txBody>
          <a:bodyPr wrap="square" lIns="36576" rIns="36576" tIns="13716" bIns="13716" anchor="ctr">
            <a:spAutoFit/>
          </a:bodyPr>
          <a:lstStyle/>
          <a:p>
            <a:pPr>
              <a:spcAft>
                <a:spcPts val="0"/>
              </a:spcAft>
              <a:defRPr sz="1700" b="1">
                <a:solidFill>
                  <a:srgbClr val="00A99D"/>
                </a:solidFill>
                <a:latin typeface="Aptos"/>
              </a:defRPr>
            </a:pPr>
            <a:r>
              <a:t>Similarity  0.8835</a:t>
            </a:r>
          </a:p>
        </p:txBody>
      </p:sp>
      <p:sp>
        <p:nvSpPr>
          <p:cNvPr id="18" name="TextBox 17"/>
          <p:cNvSpPr txBox="1"/>
          <p:nvPr/>
        </p:nvSpPr>
        <p:spPr>
          <a:xfrm>
            <a:off x="6784848" y="3822191"/>
            <a:ext cx="4160520" cy="822960"/>
          </a:xfrm>
          <a:prstGeom prst="rect">
            <a:avLst/>
          </a:prstGeom>
          <a:noFill/>
        </p:spPr>
        <p:txBody>
          <a:bodyPr wrap="square" lIns="36576" rIns="36576" tIns="13716" bIns="13716" anchor="t">
            <a:spAutoFit/>
          </a:bodyPr>
          <a:lstStyle/>
          <a:p>
            <a:pPr>
              <a:spcAft>
                <a:spcPts val="0"/>
              </a:spcAft>
              <a:defRPr sz="1700" b="0">
                <a:solidFill>
                  <a:srgbClr val="1B2C3D"/>
                </a:solidFill>
                <a:latin typeface="Aptos"/>
              </a:defRPr>
            </a:pPr>
            <a:r>
              <a:t>Expanded context also included Articles 6 and 13.</a:t>
            </a:r>
          </a:p>
        </p:txBody>
      </p:sp>
      <p:sp>
        <p:nvSpPr>
          <p:cNvPr id="19" name="Rounded Rectangle 18"/>
          <p:cNvSpPr/>
          <p:nvPr/>
        </p:nvSpPr>
        <p:spPr>
          <a:xfrm>
            <a:off x="713232" y="5522976"/>
            <a:ext cx="10698480" cy="502920"/>
          </a:xfrm>
          <a:prstGeom prst="roundRect">
            <a:avLst>
              <a:gd name="adj" fmla="val 16000"/>
            </a:avLst>
          </a:prstGeom>
          <a:solidFill>
            <a:srgbClr val="10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1832" y="5605272"/>
            <a:ext cx="10149840" cy="320040"/>
          </a:xfrm>
          <a:prstGeom prst="rect">
            <a:avLst/>
          </a:prstGeom>
          <a:noFill/>
        </p:spPr>
        <p:txBody>
          <a:bodyPr wrap="square" lIns="36576" rIns="36576" tIns="13716" bIns="13716" anchor="ctr">
            <a:spAutoFit/>
          </a:bodyPr>
          <a:lstStyle/>
          <a:p>
            <a:pPr algn="ctr">
              <a:spcAft>
                <a:spcPts val="0"/>
              </a:spcAft>
              <a:defRPr sz="1200" b="1">
                <a:solidFill>
                  <a:srgbClr val="FFFFFF"/>
                </a:solidFill>
                <a:latin typeface="Aptos"/>
              </a:defRPr>
            </a:pPr>
            <a:r>
              <a:t>What this proves: the right Article was retrieved and used as context — not that every legal statement was verified.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19456"/>
            <a:ext cx="10881360" cy="219456"/>
          </a:xfrm>
          <a:prstGeom prst="rect">
            <a:avLst/>
          </a:prstGeom>
          <a:noFill/>
        </p:spPr>
        <p:txBody>
          <a:bodyPr wrap="square" lIns="36576" rIns="36576" tIns="13716" bIns="13716" anchor="ctr">
            <a:spAutoFit/>
          </a:bodyPr>
          <a:lstStyle/>
          <a:p>
            <a:pPr>
              <a:spcAft>
                <a:spcPts val="0"/>
              </a:spcAft>
              <a:defRPr sz="1000" b="1">
                <a:solidFill>
                  <a:srgbClr val="00A99D"/>
                </a:solidFill>
                <a:latin typeface="Aptos"/>
              </a:defRPr>
            </a:pPr>
            <a:r>
              <a:t>13 / REAL APPLICATION OUTPUT</a:t>
            </a:r>
          </a:p>
        </p:txBody>
      </p:sp>
      <p:sp>
        <p:nvSpPr>
          <p:cNvPr id="5" name="TextBox 4"/>
          <p:cNvSpPr txBox="1"/>
          <p:nvPr/>
        </p:nvSpPr>
        <p:spPr>
          <a:xfrm>
            <a:off x="502920" y="530352"/>
            <a:ext cx="11201400" cy="557784"/>
          </a:xfrm>
          <a:prstGeom prst="rect">
            <a:avLst/>
          </a:prstGeom>
          <a:noFill/>
        </p:spPr>
        <p:txBody>
          <a:bodyPr wrap="square" lIns="36576" rIns="36576" tIns="13716" bIns="13716" anchor="ctr">
            <a:spAutoFit/>
          </a:bodyPr>
          <a:lstStyle/>
          <a:p>
            <a:pPr>
              <a:spcAft>
                <a:spcPts val="0"/>
              </a:spcAft>
              <a:defRPr sz="2800" b="1">
                <a:solidFill>
                  <a:srgbClr val="10253F"/>
                </a:solidFill>
                <a:latin typeface="Aptos"/>
              </a:defRPr>
            </a:pPr>
            <a:r>
              <a:t>Live demo 2  |  Transparency obligations</a:t>
            </a:r>
          </a:p>
        </p:txBody>
      </p:sp>
      <p:sp>
        <p:nvSpPr>
          <p:cNvPr id="6" name="TextBox 5"/>
          <p:cNvSpPr txBox="1"/>
          <p:nvPr/>
        </p:nvSpPr>
        <p:spPr>
          <a:xfrm>
            <a:off x="521207" y="1133856"/>
            <a:ext cx="11064240" cy="393192"/>
          </a:xfrm>
          <a:prstGeom prst="rect">
            <a:avLst/>
          </a:prstGeom>
          <a:noFill/>
        </p:spPr>
        <p:txBody>
          <a:bodyPr wrap="square" lIns="36576" rIns="36576" tIns="13716" bIns="13716" anchor="ctr">
            <a:spAutoFit/>
          </a:bodyPr>
          <a:lstStyle/>
          <a:p>
            <a:pPr>
              <a:spcAft>
                <a:spcPts val="0"/>
              </a:spcAft>
              <a:defRPr sz="1400" b="0">
                <a:solidFill>
                  <a:srgbClr val="61758A"/>
                </a:solidFill>
                <a:latin typeface="Aptos"/>
              </a:defRPr>
            </a:pPr>
            <a:r>
              <a:t>Question: what must people be told about AI interactions and synthetic content?</a:t>
            </a:r>
          </a:p>
        </p:txBody>
      </p:sp>
      <p:sp>
        <p:nvSpPr>
          <p:cNvPr id="7" name="Rectangle 6"/>
          <p:cNvSpPr/>
          <p:nvPr/>
        </p:nvSpPr>
        <p:spPr>
          <a:xfrm>
            <a:off x="502920" y="6556248"/>
            <a:ext cx="11155680" cy="10972"/>
          </a:xfrm>
          <a:prstGeom prst="rect">
            <a:avLst/>
          </a:prstGeom>
          <a:solidFill>
            <a:srgbClr val="DC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0"/>
            <a:ext cx="8229600" cy="155448"/>
          </a:xfrm>
          <a:prstGeom prst="rect">
            <a:avLst/>
          </a:prstGeom>
          <a:noFill/>
        </p:spPr>
        <p:txBody>
          <a:bodyPr wrap="square" lIns="36576" rIns="36576" tIns="13716" bIns="13716" anchor="ctr">
            <a:spAutoFit/>
          </a:bodyPr>
          <a:lstStyle/>
          <a:p>
            <a:pPr>
              <a:spcAft>
                <a:spcPts val="0"/>
              </a:spcAft>
              <a:defRPr sz="800" b="0">
                <a:solidFill>
                  <a:srgbClr val="61758A"/>
                </a:solidFill>
                <a:latin typeface="Aptos"/>
              </a:defRPr>
            </a:pPr>
            <a:r>
              <a:t>EU AI ACT  •  RAG ENGINEERING PORTFOLIO</a:t>
            </a:r>
          </a:p>
        </p:txBody>
      </p:sp>
      <p:sp>
        <p:nvSpPr>
          <p:cNvPr id="9" name="TextBox 8"/>
          <p:cNvSpPr txBox="1"/>
          <p:nvPr/>
        </p:nvSpPr>
        <p:spPr>
          <a:xfrm>
            <a:off x="11082528" y="6565392"/>
            <a:ext cx="502920" cy="201168"/>
          </a:xfrm>
          <a:prstGeom prst="rect">
            <a:avLst/>
          </a:prstGeom>
          <a:noFill/>
        </p:spPr>
        <p:txBody>
          <a:bodyPr wrap="square" lIns="36576" rIns="36576" tIns="13716" bIns="13716" anchor="ctr">
            <a:spAutoFit/>
          </a:bodyPr>
          <a:lstStyle/>
          <a:p>
            <a:pPr algn="r">
              <a:spcAft>
                <a:spcPts val="0"/>
              </a:spcAft>
              <a:defRPr sz="900" b="1">
                <a:solidFill>
                  <a:srgbClr val="61758A"/>
                </a:solidFill>
                <a:latin typeface="Aptos"/>
              </a:defRPr>
            </a:pPr>
            <a:r>
              <a:t>14</a:t>
            </a:r>
          </a:p>
        </p:txBody>
      </p:sp>
      <p:sp>
        <p:nvSpPr>
          <p:cNvPr id="10" name="Rounded Rectangle 9"/>
          <p:cNvSpPr/>
          <p:nvPr/>
        </p:nvSpPr>
        <p:spPr>
          <a:xfrm>
            <a:off x="662940" y="1705356"/>
            <a:ext cx="5605272" cy="3401568"/>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9).png"/>
          <p:cNvPicPr>
            <a:picLocks noChangeAspect="1"/>
          </p:cNvPicPr>
          <p:nvPr/>
        </p:nvPicPr>
        <p:blipFill>
          <a:blip r:embed="rId2"/>
          <a:stretch>
            <a:fillRect/>
          </a:stretch>
        </p:blipFill>
        <p:spPr>
          <a:xfrm>
            <a:off x="685800" y="1831657"/>
            <a:ext cx="5559552" cy="3148965"/>
          </a:xfrm>
          <a:prstGeom prst="rect">
            <a:avLst/>
          </a:prstGeom>
        </p:spPr>
      </p:pic>
      <p:sp>
        <p:nvSpPr>
          <p:cNvPr id="12" name="TextBox 11"/>
          <p:cNvSpPr txBox="1"/>
          <p:nvPr/>
        </p:nvSpPr>
        <p:spPr>
          <a:xfrm>
            <a:off x="685800" y="5138927"/>
            <a:ext cx="5559552" cy="246888"/>
          </a:xfrm>
          <a:prstGeom prst="rect">
            <a:avLst/>
          </a:prstGeom>
          <a:noFill/>
        </p:spPr>
        <p:txBody>
          <a:bodyPr wrap="square" lIns="36576" rIns="36576" tIns="13716" bIns="13716" anchor="ctr">
            <a:spAutoFit/>
          </a:bodyPr>
          <a:lstStyle/>
          <a:p>
            <a:pPr>
              <a:spcAft>
                <a:spcPts val="0"/>
              </a:spcAft>
              <a:defRPr sz="1000" b="0">
                <a:solidFill>
                  <a:srgbClr val="61758A"/>
                </a:solidFill>
                <a:latin typeface="Aptos"/>
              </a:defRPr>
            </a:pPr>
            <a:r>
              <a:t>Real terminal run: Article 50 retrieved first</a:t>
            </a:r>
          </a:p>
        </p:txBody>
      </p:sp>
      <p:sp>
        <p:nvSpPr>
          <p:cNvPr id="13" name="Rounded Rectangle 12"/>
          <p:cNvSpPr/>
          <p:nvPr/>
        </p:nvSpPr>
        <p:spPr>
          <a:xfrm>
            <a:off x="6519672" y="1728216"/>
            <a:ext cx="4937760" cy="3355848"/>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775704" y="1956816"/>
            <a:ext cx="1225296" cy="329184"/>
          </a:xfrm>
          <a:prstGeom prst="roundRect">
            <a:avLst>
              <a:gd name="adj" fmla="val 16000"/>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21424" y="1970532"/>
            <a:ext cx="1133856" cy="292608"/>
          </a:xfrm>
          <a:prstGeom prst="rect">
            <a:avLst/>
          </a:prstGeom>
          <a:noFill/>
        </p:spPr>
        <p:txBody>
          <a:bodyPr wrap="square" lIns="36576" rIns="36576" tIns="13716" bIns="13716" anchor="ctr">
            <a:spAutoFit/>
          </a:bodyPr>
          <a:lstStyle/>
          <a:p>
            <a:pPr algn="ctr">
              <a:spcAft>
                <a:spcPts val="0"/>
              </a:spcAft>
              <a:defRPr sz="1000" b="1">
                <a:solidFill>
                  <a:srgbClr val="FFFFFF"/>
                </a:solidFill>
                <a:latin typeface="Aptos"/>
              </a:defRPr>
            </a:pPr>
            <a:r>
              <a:t>TOP MATCH</a:t>
            </a:r>
          </a:p>
        </p:txBody>
      </p:sp>
      <p:sp>
        <p:nvSpPr>
          <p:cNvPr id="16" name="TextBox 15"/>
          <p:cNvSpPr txBox="1"/>
          <p:nvPr/>
        </p:nvSpPr>
        <p:spPr>
          <a:xfrm>
            <a:off x="6784848" y="2450592"/>
            <a:ext cx="3931920" cy="566928"/>
          </a:xfrm>
          <a:prstGeom prst="rect">
            <a:avLst/>
          </a:prstGeom>
          <a:noFill/>
        </p:spPr>
        <p:txBody>
          <a:bodyPr wrap="square" lIns="36576" rIns="36576" tIns="13716" bIns="13716" anchor="ctr">
            <a:spAutoFit/>
          </a:bodyPr>
          <a:lstStyle/>
          <a:p>
            <a:pPr>
              <a:spcAft>
                <a:spcPts val="0"/>
              </a:spcAft>
              <a:defRPr sz="2800" b="1">
                <a:solidFill>
                  <a:srgbClr val="10253F"/>
                </a:solidFill>
                <a:latin typeface="Aptos"/>
              </a:defRPr>
            </a:pPr>
            <a:r>
              <a:t>Article 50</a:t>
            </a:r>
          </a:p>
        </p:txBody>
      </p:sp>
      <p:sp>
        <p:nvSpPr>
          <p:cNvPr id="17" name="TextBox 16"/>
          <p:cNvSpPr txBox="1"/>
          <p:nvPr/>
        </p:nvSpPr>
        <p:spPr>
          <a:xfrm>
            <a:off x="6784848" y="3090672"/>
            <a:ext cx="4114800" cy="365760"/>
          </a:xfrm>
          <a:prstGeom prst="rect">
            <a:avLst/>
          </a:prstGeom>
          <a:noFill/>
        </p:spPr>
        <p:txBody>
          <a:bodyPr wrap="square" lIns="36576" rIns="36576" tIns="13716" bIns="13716" anchor="ctr">
            <a:spAutoFit/>
          </a:bodyPr>
          <a:lstStyle/>
          <a:p>
            <a:pPr>
              <a:spcAft>
                <a:spcPts val="0"/>
              </a:spcAft>
              <a:defRPr sz="1700" b="1">
                <a:solidFill>
                  <a:srgbClr val="00A99D"/>
                </a:solidFill>
                <a:latin typeface="Aptos"/>
              </a:defRPr>
            </a:pPr>
            <a:r>
              <a:t>Similarity  0.8434</a:t>
            </a:r>
          </a:p>
        </p:txBody>
      </p:sp>
      <p:sp>
        <p:nvSpPr>
          <p:cNvPr id="18" name="TextBox 17"/>
          <p:cNvSpPr txBox="1"/>
          <p:nvPr/>
        </p:nvSpPr>
        <p:spPr>
          <a:xfrm>
            <a:off x="6784848" y="3822191"/>
            <a:ext cx="4160520" cy="822960"/>
          </a:xfrm>
          <a:prstGeom prst="rect">
            <a:avLst/>
          </a:prstGeom>
          <a:noFill/>
        </p:spPr>
        <p:txBody>
          <a:bodyPr wrap="square" lIns="36576" rIns="36576" tIns="13716" bIns="13716" anchor="t">
            <a:spAutoFit/>
          </a:bodyPr>
          <a:lstStyle/>
          <a:p>
            <a:pPr>
              <a:spcAft>
                <a:spcPts val="0"/>
              </a:spcAft>
              <a:defRPr sz="1700" b="0">
                <a:solidFill>
                  <a:srgbClr val="1B2C3D"/>
                </a:solidFill>
                <a:latin typeface="Aptos"/>
              </a:defRPr>
            </a:pPr>
            <a:r>
              <a:t>Seven expanded chunks across Articles 3, 13 and 50.</a:t>
            </a:r>
          </a:p>
        </p:txBody>
      </p:sp>
      <p:sp>
        <p:nvSpPr>
          <p:cNvPr id="19" name="Rounded Rectangle 18"/>
          <p:cNvSpPr/>
          <p:nvPr/>
        </p:nvSpPr>
        <p:spPr>
          <a:xfrm>
            <a:off x="713232" y="5522976"/>
            <a:ext cx="10698480" cy="502920"/>
          </a:xfrm>
          <a:prstGeom prst="roundRect">
            <a:avLst>
              <a:gd name="adj" fmla="val 16000"/>
            </a:avLst>
          </a:prstGeom>
          <a:solidFill>
            <a:srgbClr val="10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1832" y="5605272"/>
            <a:ext cx="10149840" cy="320040"/>
          </a:xfrm>
          <a:prstGeom prst="rect">
            <a:avLst/>
          </a:prstGeom>
          <a:noFill/>
        </p:spPr>
        <p:txBody>
          <a:bodyPr wrap="square" lIns="36576" rIns="36576" tIns="13716" bIns="13716" anchor="ctr">
            <a:spAutoFit/>
          </a:bodyPr>
          <a:lstStyle/>
          <a:p>
            <a:pPr algn="ctr">
              <a:spcAft>
                <a:spcPts val="0"/>
              </a:spcAft>
              <a:defRPr sz="1300" b="1">
                <a:solidFill>
                  <a:srgbClr val="FFFFFF"/>
                </a:solidFill>
                <a:latin typeface="Aptos"/>
              </a:defRPr>
            </a:pPr>
            <a:r>
              <a:t>What this demonstrates: a broad question can be grounded in a specific Article plus supporting context.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19456"/>
            <a:ext cx="10881360" cy="219456"/>
          </a:xfrm>
          <a:prstGeom prst="rect">
            <a:avLst/>
          </a:prstGeom>
          <a:noFill/>
        </p:spPr>
        <p:txBody>
          <a:bodyPr wrap="square" lIns="36576" rIns="36576" tIns="13716" bIns="13716" anchor="ctr">
            <a:spAutoFit/>
          </a:bodyPr>
          <a:lstStyle/>
          <a:p>
            <a:pPr>
              <a:spcAft>
                <a:spcPts val="0"/>
              </a:spcAft>
              <a:defRPr sz="1000" b="1">
                <a:solidFill>
                  <a:srgbClr val="00A99D"/>
                </a:solidFill>
                <a:latin typeface="Aptos"/>
              </a:defRPr>
            </a:pPr>
            <a:r>
              <a:t>14 / REAL APPLICATION OUTPUT</a:t>
            </a:r>
          </a:p>
        </p:txBody>
      </p:sp>
      <p:sp>
        <p:nvSpPr>
          <p:cNvPr id="5" name="TextBox 4"/>
          <p:cNvSpPr txBox="1"/>
          <p:nvPr/>
        </p:nvSpPr>
        <p:spPr>
          <a:xfrm>
            <a:off x="502920" y="530352"/>
            <a:ext cx="11201400" cy="557784"/>
          </a:xfrm>
          <a:prstGeom prst="rect">
            <a:avLst/>
          </a:prstGeom>
          <a:noFill/>
        </p:spPr>
        <p:txBody>
          <a:bodyPr wrap="square" lIns="36576" rIns="36576" tIns="13716" bIns="13716" anchor="ctr">
            <a:spAutoFit/>
          </a:bodyPr>
          <a:lstStyle/>
          <a:p>
            <a:pPr>
              <a:spcAft>
                <a:spcPts val="0"/>
              </a:spcAft>
              <a:defRPr sz="2800" b="1">
                <a:solidFill>
                  <a:srgbClr val="10253F"/>
                </a:solidFill>
                <a:latin typeface="Aptos"/>
              </a:defRPr>
            </a:pPr>
            <a:r>
              <a:t>Live demo 3  |  General-purpose AI models</a:t>
            </a:r>
          </a:p>
        </p:txBody>
      </p:sp>
      <p:sp>
        <p:nvSpPr>
          <p:cNvPr id="6" name="TextBox 5"/>
          <p:cNvSpPr txBox="1"/>
          <p:nvPr/>
        </p:nvSpPr>
        <p:spPr>
          <a:xfrm>
            <a:off x="521207" y="1133856"/>
            <a:ext cx="11064240" cy="393192"/>
          </a:xfrm>
          <a:prstGeom prst="rect">
            <a:avLst/>
          </a:prstGeom>
          <a:noFill/>
        </p:spPr>
        <p:txBody>
          <a:bodyPr wrap="square" lIns="36576" rIns="36576" tIns="13716" bIns="13716" anchor="ctr">
            <a:spAutoFit/>
          </a:bodyPr>
          <a:lstStyle/>
          <a:p>
            <a:pPr>
              <a:spcAft>
                <a:spcPts val="0"/>
              </a:spcAft>
              <a:defRPr sz="1400" b="0">
                <a:solidFill>
                  <a:srgbClr val="61758A"/>
                </a:solidFill>
                <a:latin typeface="Aptos"/>
              </a:defRPr>
            </a:pPr>
            <a:r>
              <a:t>Question: what obligations apply to providers of general-purpose AI models?</a:t>
            </a:r>
          </a:p>
        </p:txBody>
      </p:sp>
      <p:sp>
        <p:nvSpPr>
          <p:cNvPr id="7" name="Rectangle 6"/>
          <p:cNvSpPr/>
          <p:nvPr/>
        </p:nvSpPr>
        <p:spPr>
          <a:xfrm>
            <a:off x="502920" y="6556248"/>
            <a:ext cx="11155680" cy="10972"/>
          </a:xfrm>
          <a:prstGeom prst="rect">
            <a:avLst/>
          </a:prstGeom>
          <a:solidFill>
            <a:srgbClr val="DC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0"/>
            <a:ext cx="8229600" cy="155448"/>
          </a:xfrm>
          <a:prstGeom prst="rect">
            <a:avLst/>
          </a:prstGeom>
          <a:noFill/>
        </p:spPr>
        <p:txBody>
          <a:bodyPr wrap="square" lIns="36576" rIns="36576" tIns="13716" bIns="13716" anchor="ctr">
            <a:spAutoFit/>
          </a:bodyPr>
          <a:lstStyle/>
          <a:p>
            <a:pPr>
              <a:spcAft>
                <a:spcPts val="0"/>
              </a:spcAft>
              <a:defRPr sz="800" b="0">
                <a:solidFill>
                  <a:srgbClr val="61758A"/>
                </a:solidFill>
                <a:latin typeface="Aptos"/>
              </a:defRPr>
            </a:pPr>
            <a:r>
              <a:t>EU AI ACT  •  RAG ENGINEERING PORTFOLIO</a:t>
            </a:r>
          </a:p>
        </p:txBody>
      </p:sp>
      <p:sp>
        <p:nvSpPr>
          <p:cNvPr id="9" name="TextBox 8"/>
          <p:cNvSpPr txBox="1"/>
          <p:nvPr/>
        </p:nvSpPr>
        <p:spPr>
          <a:xfrm>
            <a:off x="11082528" y="6565392"/>
            <a:ext cx="502920" cy="201168"/>
          </a:xfrm>
          <a:prstGeom prst="rect">
            <a:avLst/>
          </a:prstGeom>
          <a:noFill/>
        </p:spPr>
        <p:txBody>
          <a:bodyPr wrap="square" lIns="36576" rIns="36576" tIns="13716" bIns="13716" anchor="ctr">
            <a:spAutoFit/>
          </a:bodyPr>
          <a:lstStyle/>
          <a:p>
            <a:pPr algn="r">
              <a:spcAft>
                <a:spcPts val="0"/>
              </a:spcAft>
              <a:defRPr sz="900" b="1">
                <a:solidFill>
                  <a:srgbClr val="61758A"/>
                </a:solidFill>
                <a:latin typeface="Aptos"/>
              </a:defRPr>
            </a:pPr>
            <a:r>
              <a:t>15</a:t>
            </a:r>
          </a:p>
        </p:txBody>
      </p:sp>
      <p:sp>
        <p:nvSpPr>
          <p:cNvPr id="10" name="Rounded Rectangle 9"/>
          <p:cNvSpPr/>
          <p:nvPr/>
        </p:nvSpPr>
        <p:spPr>
          <a:xfrm>
            <a:off x="662940" y="1705356"/>
            <a:ext cx="5605272" cy="3401568"/>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20261021-000120).png"/>
          <p:cNvPicPr>
            <a:picLocks noChangeAspect="1"/>
          </p:cNvPicPr>
          <p:nvPr/>
        </p:nvPicPr>
        <p:blipFill>
          <a:blip r:embed="rId2"/>
          <a:stretch>
            <a:fillRect/>
          </a:stretch>
        </p:blipFill>
        <p:spPr>
          <a:xfrm>
            <a:off x="1092320" y="1728216"/>
            <a:ext cx="4746511" cy="3355848"/>
          </a:xfrm>
          <a:prstGeom prst="rect">
            <a:avLst/>
          </a:prstGeom>
        </p:spPr>
      </p:pic>
      <p:sp>
        <p:nvSpPr>
          <p:cNvPr id="12" name="TextBox 11"/>
          <p:cNvSpPr txBox="1"/>
          <p:nvPr/>
        </p:nvSpPr>
        <p:spPr>
          <a:xfrm>
            <a:off x="685800" y="5138927"/>
            <a:ext cx="5559552" cy="246888"/>
          </a:xfrm>
          <a:prstGeom prst="rect">
            <a:avLst/>
          </a:prstGeom>
          <a:noFill/>
        </p:spPr>
        <p:txBody>
          <a:bodyPr wrap="square" lIns="36576" rIns="36576" tIns="13716" bIns="13716" anchor="ctr">
            <a:spAutoFit/>
          </a:bodyPr>
          <a:lstStyle/>
          <a:p>
            <a:pPr>
              <a:spcAft>
                <a:spcPts val="0"/>
              </a:spcAft>
              <a:defRPr sz="1000" b="0">
                <a:solidFill>
                  <a:srgbClr val="61758A"/>
                </a:solidFill>
                <a:latin typeface="Aptos"/>
              </a:defRPr>
            </a:pPr>
            <a:r>
              <a:t>Real terminal run: Articles 53, 54 and 55</a:t>
            </a:r>
          </a:p>
        </p:txBody>
      </p:sp>
      <p:sp>
        <p:nvSpPr>
          <p:cNvPr id="13" name="Rounded Rectangle 12"/>
          <p:cNvSpPr/>
          <p:nvPr/>
        </p:nvSpPr>
        <p:spPr>
          <a:xfrm>
            <a:off x="6519672" y="1728216"/>
            <a:ext cx="4937760" cy="3355848"/>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775704" y="1956816"/>
            <a:ext cx="1225296" cy="329184"/>
          </a:xfrm>
          <a:prstGeom prst="roundRect">
            <a:avLst>
              <a:gd name="adj" fmla="val 16000"/>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21424" y="1970532"/>
            <a:ext cx="1133856" cy="292608"/>
          </a:xfrm>
          <a:prstGeom prst="rect">
            <a:avLst/>
          </a:prstGeom>
          <a:noFill/>
        </p:spPr>
        <p:txBody>
          <a:bodyPr wrap="square" lIns="36576" rIns="36576" tIns="13716" bIns="13716" anchor="ctr">
            <a:spAutoFit/>
          </a:bodyPr>
          <a:lstStyle/>
          <a:p>
            <a:pPr algn="ctr">
              <a:spcAft>
                <a:spcPts val="0"/>
              </a:spcAft>
              <a:defRPr sz="1000" b="1">
                <a:solidFill>
                  <a:srgbClr val="FFFFFF"/>
                </a:solidFill>
                <a:latin typeface="Aptos"/>
              </a:defRPr>
            </a:pPr>
            <a:r>
              <a:t>TOP MATCH</a:t>
            </a:r>
          </a:p>
        </p:txBody>
      </p:sp>
      <p:sp>
        <p:nvSpPr>
          <p:cNvPr id="16" name="TextBox 15"/>
          <p:cNvSpPr txBox="1"/>
          <p:nvPr/>
        </p:nvSpPr>
        <p:spPr>
          <a:xfrm>
            <a:off x="6784848" y="2450592"/>
            <a:ext cx="3931920" cy="566928"/>
          </a:xfrm>
          <a:prstGeom prst="rect">
            <a:avLst/>
          </a:prstGeom>
          <a:noFill/>
        </p:spPr>
        <p:txBody>
          <a:bodyPr wrap="square" lIns="36576" rIns="36576" tIns="13716" bIns="13716" anchor="ctr">
            <a:spAutoFit/>
          </a:bodyPr>
          <a:lstStyle/>
          <a:p>
            <a:pPr>
              <a:spcAft>
                <a:spcPts val="0"/>
              </a:spcAft>
              <a:defRPr sz="2800" b="1">
                <a:solidFill>
                  <a:srgbClr val="10253F"/>
                </a:solidFill>
                <a:latin typeface="Aptos"/>
              </a:defRPr>
            </a:pPr>
            <a:r>
              <a:t>Article 53</a:t>
            </a:r>
          </a:p>
        </p:txBody>
      </p:sp>
      <p:sp>
        <p:nvSpPr>
          <p:cNvPr id="17" name="TextBox 16"/>
          <p:cNvSpPr txBox="1"/>
          <p:nvPr/>
        </p:nvSpPr>
        <p:spPr>
          <a:xfrm>
            <a:off x="6784848" y="3090672"/>
            <a:ext cx="4114800" cy="365760"/>
          </a:xfrm>
          <a:prstGeom prst="rect">
            <a:avLst/>
          </a:prstGeom>
          <a:noFill/>
        </p:spPr>
        <p:txBody>
          <a:bodyPr wrap="square" lIns="36576" rIns="36576" tIns="13716" bIns="13716" anchor="ctr">
            <a:spAutoFit/>
          </a:bodyPr>
          <a:lstStyle/>
          <a:p>
            <a:pPr>
              <a:spcAft>
                <a:spcPts val="0"/>
              </a:spcAft>
              <a:defRPr sz="1700" b="1">
                <a:solidFill>
                  <a:srgbClr val="00A99D"/>
                </a:solidFill>
                <a:latin typeface="Aptos"/>
              </a:defRPr>
            </a:pPr>
            <a:r>
              <a:t>Similarity  0.8766</a:t>
            </a:r>
          </a:p>
        </p:txBody>
      </p:sp>
      <p:sp>
        <p:nvSpPr>
          <p:cNvPr id="18" name="TextBox 17"/>
          <p:cNvSpPr txBox="1"/>
          <p:nvPr/>
        </p:nvSpPr>
        <p:spPr>
          <a:xfrm>
            <a:off x="6784848" y="3822191"/>
            <a:ext cx="4160520" cy="822960"/>
          </a:xfrm>
          <a:prstGeom prst="rect">
            <a:avLst/>
          </a:prstGeom>
          <a:noFill/>
        </p:spPr>
        <p:txBody>
          <a:bodyPr wrap="square" lIns="36576" rIns="36576" tIns="13716" bIns="13716" anchor="t">
            <a:spAutoFit/>
          </a:bodyPr>
          <a:lstStyle/>
          <a:p>
            <a:pPr>
              <a:spcAft>
                <a:spcPts val="0"/>
              </a:spcAft>
              <a:defRPr sz="1700" b="0">
                <a:solidFill>
                  <a:srgbClr val="1B2C3D"/>
                </a:solidFill>
                <a:latin typeface="Aptos"/>
              </a:defRPr>
            </a:pPr>
            <a:r>
              <a:t>Article 55 adds duties for systemic-risk models.</a:t>
            </a:r>
          </a:p>
        </p:txBody>
      </p:sp>
      <p:sp>
        <p:nvSpPr>
          <p:cNvPr id="19" name="Rounded Rectangle 18"/>
          <p:cNvSpPr/>
          <p:nvPr/>
        </p:nvSpPr>
        <p:spPr>
          <a:xfrm>
            <a:off x="713232" y="5522976"/>
            <a:ext cx="10698480" cy="502920"/>
          </a:xfrm>
          <a:prstGeom prst="roundRect">
            <a:avLst>
              <a:gd name="adj" fmla="val 16000"/>
            </a:avLst>
          </a:prstGeom>
          <a:solidFill>
            <a:srgbClr val="10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1832" y="5605272"/>
            <a:ext cx="10149840" cy="320040"/>
          </a:xfrm>
          <a:prstGeom prst="rect">
            <a:avLst/>
          </a:prstGeom>
          <a:noFill/>
        </p:spPr>
        <p:txBody>
          <a:bodyPr wrap="square" lIns="36576" rIns="36576" tIns="13716" bIns="13716" anchor="ctr">
            <a:spAutoFit/>
          </a:bodyPr>
          <a:lstStyle/>
          <a:p>
            <a:pPr algn="ctr">
              <a:spcAft>
                <a:spcPts val="0"/>
              </a:spcAft>
              <a:defRPr sz="1300" b="1">
                <a:solidFill>
                  <a:srgbClr val="FFFFFF"/>
                </a:solidFill>
                <a:latin typeface="Aptos"/>
              </a:defRPr>
            </a:pPr>
            <a:r>
              <a:t>Why related sections matter: the model can distinguish general duties from additional systemic-risk duties.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19456"/>
            <a:ext cx="10881360" cy="219456"/>
          </a:xfrm>
          <a:prstGeom prst="rect">
            <a:avLst/>
          </a:prstGeom>
          <a:noFill/>
        </p:spPr>
        <p:txBody>
          <a:bodyPr wrap="square" lIns="36576" rIns="36576" tIns="13716" bIns="13716" anchor="ctr">
            <a:spAutoFit/>
          </a:bodyPr>
          <a:lstStyle/>
          <a:p>
            <a:pPr>
              <a:spcAft>
                <a:spcPts val="0"/>
              </a:spcAft>
              <a:defRPr sz="1000" b="1">
                <a:solidFill>
                  <a:srgbClr val="00A99D"/>
                </a:solidFill>
                <a:latin typeface="Aptos"/>
              </a:defRPr>
            </a:pPr>
            <a:r>
              <a:t>15 / HOW TO DEMONSTRATE</a:t>
            </a:r>
          </a:p>
        </p:txBody>
      </p:sp>
      <p:sp>
        <p:nvSpPr>
          <p:cNvPr id="5" name="TextBox 4"/>
          <p:cNvSpPr txBox="1"/>
          <p:nvPr/>
        </p:nvSpPr>
        <p:spPr>
          <a:xfrm>
            <a:off x="502920" y="530352"/>
            <a:ext cx="11201400" cy="557784"/>
          </a:xfrm>
          <a:prstGeom prst="rect">
            <a:avLst/>
          </a:prstGeom>
          <a:noFill/>
        </p:spPr>
        <p:txBody>
          <a:bodyPr wrap="square" lIns="36576" rIns="36576" tIns="13716" bIns="13716" anchor="ctr">
            <a:spAutoFit/>
          </a:bodyPr>
          <a:lstStyle/>
          <a:p>
            <a:pPr>
              <a:spcAft>
                <a:spcPts val="0"/>
              </a:spcAft>
              <a:defRPr sz="2800" b="1">
                <a:solidFill>
                  <a:srgbClr val="10253F"/>
                </a:solidFill>
                <a:latin typeface="Aptos"/>
              </a:defRPr>
            </a:pPr>
            <a:r>
              <a:t>Two modes in the CLI</a:t>
            </a:r>
          </a:p>
        </p:txBody>
      </p:sp>
      <p:sp>
        <p:nvSpPr>
          <p:cNvPr id="6" name="TextBox 5"/>
          <p:cNvSpPr txBox="1"/>
          <p:nvPr/>
        </p:nvSpPr>
        <p:spPr>
          <a:xfrm>
            <a:off x="521207" y="1133856"/>
            <a:ext cx="11064240" cy="393192"/>
          </a:xfrm>
          <a:prstGeom prst="rect">
            <a:avLst/>
          </a:prstGeom>
          <a:noFill/>
        </p:spPr>
        <p:txBody>
          <a:bodyPr wrap="square" lIns="36576" rIns="36576" tIns="13716" bIns="13716" anchor="ctr">
            <a:spAutoFit/>
          </a:bodyPr>
          <a:lstStyle/>
          <a:p>
            <a:pPr>
              <a:spcAft>
                <a:spcPts val="0"/>
              </a:spcAft>
              <a:defRPr sz="1400" b="0">
                <a:solidFill>
                  <a:srgbClr val="61758A"/>
                </a:solidFill>
                <a:latin typeface="Aptos"/>
              </a:defRPr>
            </a:pPr>
            <a:r>
              <a:t>One mode answers a question. The other runs a 12-question test.</a:t>
            </a:r>
          </a:p>
        </p:txBody>
      </p:sp>
      <p:sp>
        <p:nvSpPr>
          <p:cNvPr id="7" name="Rectangle 6"/>
          <p:cNvSpPr/>
          <p:nvPr/>
        </p:nvSpPr>
        <p:spPr>
          <a:xfrm>
            <a:off x="502920" y="6556248"/>
            <a:ext cx="11155680" cy="10972"/>
          </a:xfrm>
          <a:prstGeom prst="rect">
            <a:avLst/>
          </a:prstGeom>
          <a:solidFill>
            <a:srgbClr val="DC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0"/>
            <a:ext cx="8229600" cy="155448"/>
          </a:xfrm>
          <a:prstGeom prst="rect">
            <a:avLst/>
          </a:prstGeom>
          <a:noFill/>
        </p:spPr>
        <p:txBody>
          <a:bodyPr wrap="square" lIns="36576" rIns="36576" tIns="13716" bIns="13716" anchor="ctr">
            <a:spAutoFit/>
          </a:bodyPr>
          <a:lstStyle/>
          <a:p>
            <a:pPr>
              <a:spcAft>
                <a:spcPts val="0"/>
              </a:spcAft>
              <a:defRPr sz="800" b="0">
                <a:solidFill>
                  <a:srgbClr val="61758A"/>
                </a:solidFill>
                <a:latin typeface="Aptos"/>
              </a:defRPr>
            </a:pPr>
            <a:r>
              <a:t>EU AI ACT  •  RAG ENGINEERING PORTFOLIO</a:t>
            </a:r>
          </a:p>
        </p:txBody>
      </p:sp>
      <p:sp>
        <p:nvSpPr>
          <p:cNvPr id="9" name="TextBox 8"/>
          <p:cNvSpPr txBox="1"/>
          <p:nvPr/>
        </p:nvSpPr>
        <p:spPr>
          <a:xfrm>
            <a:off x="11082528" y="6565392"/>
            <a:ext cx="502920" cy="201168"/>
          </a:xfrm>
          <a:prstGeom prst="rect">
            <a:avLst/>
          </a:prstGeom>
          <a:noFill/>
        </p:spPr>
        <p:txBody>
          <a:bodyPr wrap="square" lIns="36576" rIns="36576" tIns="13716" bIns="13716" anchor="ctr">
            <a:spAutoFit/>
          </a:bodyPr>
          <a:lstStyle/>
          <a:p>
            <a:pPr algn="r">
              <a:spcAft>
                <a:spcPts val="0"/>
              </a:spcAft>
              <a:defRPr sz="900" b="1">
                <a:solidFill>
                  <a:srgbClr val="61758A"/>
                </a:solidFill>
                <a:latin typeface="Aptos"/>
              </a:defRPr>
            </a:pPr>
            <a:r>
              <a:t>16</a:t>
            </a:r>
          </a:p>
        </p:txBody>
      </p:sp>
      <p:sp>
        <p:nvSpPr>
          <p:cNvPr id="10" name="Rounded Rectangle 9"/>
          <p:cNvSpPr/>
          <p:nvPr/>
        </p:nvSpPr>
        <p:spPr>
          <a:xfrm>
            <a:off x="694944" y="1783080"/>
            <a:ext cx="5257800" cy="3310128"/>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4944" y="1783080"/>
            <a:ext cx="59436" cy="3310128"/>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911095"/>
            <a:ext cx="4846320" cy="384048"/>
          </a:xfrm>
          <a:prstGeom prst="rect">
            <a:avLst/>
          </a:prstGeom>
          <a:noFill/>
        </p:spPr>
        <p:txBody>
          <a:bodyPr wrap="square" lIns="36576" rIns="36576" tIns="13716" bIns="13716" anchor="ctr">
            <a:spAutoFit/>
          </a:bodyPr>
          <a:lstStyle/>
          <a:p>
            <a:pPr>
              <a:spcAft>
                <a:spcPts val="0"/>
              </a:spcAft>
              <a:defRPr sz="1900" b="1">
                <a:solidFill>
                  <a:srgbClr val="10253F"/>
                </a:solidFill>
                <a:latin typeface="Aptos"/>
              </a:defRPr>
            </a:pPr>
            <a:r>
              <a:t>OPTION 1 — ASK A QUESTION</a:t>
            </a:r>
          </a:p>
        </p:txBody>
      </p:sp>
      <p:sp>
        <p:nvSpPr>
          <p:cNvPr id="13" name="TextBox 12"/>
          <p:cNvSpPr txBox="1"/>
          <p:nvPr/>
        </p:nvSpPr>
        <p:spPr>
          <a:xfrm>
            <a:off x="896112" y="2377440"/>
            <a:ext cx="4818888" cy="2578608"/>
          </a:xfrm>
          <a:prstGeom prst="rect">
            <a:avLst/>
          </a:prstGeom>
          <a:noFill/>
        </p:spPr>
        <p:txBody>
          <a:bodyPr wrap="square" lIns="36576" rIns="36576" tIns="13716" bIns="13716" anchor="t">
            <a:spAutoFit/>
          </a:bodyPr>
          <a:lstStyle/>
          <a:p>
            <a:pPr>
              <a:spcAft>
                <a:spcPts val="0"/>
              </a:spcAft>
              <a:defRPr sz="1700" b="0">
                <a:solidFill>
                  <a:srgbClr val="61758A"/>
                </a:solidFill>
                <a:latin typeface="Aptos"/>
              </a:defRPr>
            </a:pPr>
            <a:r>
              <a:t>One question → BGE → FAISS → section expansion → Groq → answer.</a:t>
            </a:r>
          </a:p>
          <a:p>
            <a:pPr>
              <a:spcAft>
                <a:spcPts val="0"/>
              </a:spcAft>
              <a:defRPr sz="1700" b="0">
                <a:solidFill>
                  <a:srgbClr val="61758A"/>
                </a:solidFill>
                <a:latin typeface="Aptos"/>
              </a:defRPr>
            </a:pPr>
          </a:p>
          <a:p>
            <a:pPr>
              <a:spcAft>
                <a:spcPts val="0"/>
              </a:spcAft>
              <a:defRPr sz="1700" b="0">
                <a:solidFill>
                  <a:srgbClr val="61758A"/>
                </a:solidFill>
                <a:latin typeface="Aptos"/>
              </a:defRPr>
            </a:pPr>
            <a:r>
              <a:t>Best for a live interview demo.</a:t>
            </a:r>
          </a:p>
        </p:txBody>
      </p:sp>
      <p:sp>
        <p:nvSpPr>
          <p:cNvPr id="14" name="Rounded Rectangle 13"/>
          <p:cNvSpPr/>
          <p:nvPr/>
        </p:nvSpPr>
        <p:spPr>
          <a:xfrm>
            <a:off x="6217920" y="1783080"/>
            <a:ext cx="5257800" cy="3310128"/>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783080"/>
            <a:ext cx="59436" cy="3310128"/>
          </a:xfrm>
          <a:prstGeom prst="rect">
            <a:avLst/>
          </a:prstGeom>
          <a:solidFill>
            <a:srgbClr val="2B7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911095"/>
            <a:ext cx="4846320" cy="384048"/>
          </a:xfrm>
          <a:prstGeom prst="rect">
            <a:avLst/>
          </a:prstGeom>
          <a:noFill/>
        </p:spPr>
        <p:txBody>
          <a:bodyPr wrap="square" lIns="36576" rIns="36576" tIns="13716" bIns="13716" anchor="ctr">
            <a:spAutoFit/>
          </a:bodyPr>
          <a:lstStyle/>
          <a:p>
            <a:pPr>
              <a:spcAft>
                <a:spcPts val="0"/>
              </a:spcAft>
              <a:defRPr sz="1900" b="1">
                <a:solidFill>
                  <a:srgbClr val="10253F"/>
                </a:solidFill>
                <a:latin typeface="Aptos"/>
              </a:defRPr>
            </a:pPr>
            <a:r>
              <a:t>OPTION 2 — RUN EVALUATION</a:t>
            </a:r>
          </a:p>
        </p:txBody>
      </p:sp>
      <p:sp>
        <p:nvSpPr>
          <p:cNvPr id="17" name="TextBox 16"/>
          <p:cNvSpPr txBox="1"/>
          <p:nvPr/>
        </p:nvSpPr>
        <p:spPr>
          <a:xfrm>
            <a:off x="6419088" y="2377440"/>
            <a:ext cx="4818888" cy="2578608"/>
          </a:xfrm>
          <a:prstGeom prst="rect">
            <a:avLst/>
          </a:prstGeom>
          <a:noFill/>
        </p:spPr>
        <p:txBody>
          <a:bodyPr wrap="square" lIns="36576" rIns="36576" tIns="13716" bIns="13716" anchor="t">
            <a:spAutoFit/>
          </a:bodyPr>
          <a:lstStyle/>
          <a:p>
            <a:pPr>
              <a:spcAft>
                <a:spcPts val="0"/>
              </a:spcAft>
              <a:defRPr sz="1700" b="0">
                <a:solidFill>
                  <a:srgbClr val="61758A"/>
                </a:solidFill>
                <a:latin typeface="Aptos"/>
              </a:defRPr>
            </a:pPr>
            <a:r>
              <a:t>12 saved questions → expected Article checks → summary of coverage and mentions.</a:t>
            </a:r>
          </a:p>
          <a:p>
            <a:pPr>
              <a:spcAft>
                <a:spcPts val="0"/>
              </a:spcAft>
              <a:defRPr sz="1700" b="0">
                <a:solidFill>
                  <a:srgbClr val="61758A"/>
                </a:solidFill>
                <a:latin typeface="Aptos"/>
              </a:defRPr>
            </a:pPr>
          </a:p>
          <a:p>
            <a:pPr>
              <a:spcAft>
                <a:spcPts val="0"/>
              </a:spcAft>
              <a:defRPr sz="1700" b="0">
                <a:solidFill>
                  <a:srgbClr val="61758A"/>
                </a:solidFill>
                <a:latin typeface="Aptos"/>
              </a:defRPr>
            </a:pPr>
            <a:r>
              <a:t>Best for discussing validation.</a:t>
            </a:r>
          </a:p>
        </p:txBody>
      </p:sp>
      <p:sp>
        <p:nvSpPr>
          <p:cNvPr id="18" name="Rounded Rectangle 17"/>
          <p:cNvSpPr/>
          <p:nvPr/>
        </p:nvSpPr>
        <p:spPr>
          <a:xfrm>
            <a:off x="2029968" y="5550408"/>
            <a:ext cx="8138160" cy="475488"/>
          </a:xfrm>
          <a:prstGeom prst="roundRect">
            <a:avLst>
              <a:gd name="adj" fmla="val 16000"/>
            </a:avLst>
          </a:prstGeom>
          <a:solidFill>
            <a:srgbClr val="10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22576" y="5632704"/>
            <a:ext cx="7552944" cy="292608"/>
          </a:xfrm>
          <a:prstGeom prst="rect">
            <a:avLst/>
          </a:prstGeom>
          <a:noFill/>
        </p:spPr>
        <p:txBody>
          <a:bodyPr wrap="square" lIns="36576" rIns="36576" tIns="13716" bIns="13716" anchor="ctr">
            <a:spAutoFit/>
          </a:bodyPr>
          <a:lstStyle/>
          <a:p>
            <a:pPr algn="ctr">
              <a:spcAft>
                <a:spcPts val="0"/>
              </a:spcAft>
              <a:defRPr sz="1800" b="1">
                <a:solidFill>
                  <a:srgbClr val="FFFFFF"/>
                </a:solidFill>
                <a:latin typeface="Aptos Mono"/>
              </a:defRPr>
            </a:pPr>
            <a:r>
              <a:t>python src/rag_pipeline.py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19456"/>
            <a:ext cx="10881360" cy="219456"/>
          </a:xfrm>
          <a:prstGeom prst="rect">
            <a:avLst/>
          </a:prstGeom>
          <a:noFill/>
        </p:spPr>
        <p:txBody>
          <a:bodyPr wrap="square" lIns="36576" rIns="36576" tIns="13716" bIns="13716" anchor="ctr">
            <a:spAutoFit/>
          </a:bodyPr>
          <a:lstStyle/>
          <a:p>
            <a:pPr>
              <a:spcAft>
                <a:spcPts val="0"/>
              </a:spcAft>
              <a:defRPr sz="1000" b="1">
                <a:solidFill>
                  <a:srgbClr val="00A99D"/>
                </a:solidFill>
                <a:latin typeface="Aptos"/>
              </a:defRPr>
            </a:pPr>
            <a:r>
              <a:t>16 / EVALUATION METHODOLOGY</a:t>
            </a:r>
          </a:p>
        </p:txBody>
      </p:sp>
      <p:sp>
        <p:nvSpPr>
          <p:cNvPr id="5" name="TextBox 4"/>
          <p:cNvSpPr txBox="1"/>
          <p:nvPr/>
        </p:nvSpPr>
        <p:spPr>
          <a:xfrm>
            <a:off x="502920" y="530352"/>
            <a:ext cx="11201400" cy="557784"/>
          </a:xfrm>
          <a:prstGeom prst="rect">
            <a:avLst/>
          </a:prstGeom>
          <a:noFill/>
        </p:spPr>
        <p:txBody>
          <a:bodyPr wrap="square" lIns="36576" rIns="36576" tIns="13716" bIns="13716" anchor="ctr">
            <a:spAutoFit/>
          </a:bodyPr>
          <a:lstStyle/>
          <a:p>
            <a:pPr>
              <a:spcAft>
                <a:spcPts val="0"/>
              </a:spcAft>
              <a:defRPr sz="2800" b="1">
                <a:solidFill>
                  <a:srgbClr val="10253F"/>
                </a:solidFill>
                <a:latin typeface="Aptos"/>
              </a:defRPr>
            </a:pPr>
            <a:r>
              <a:t>How we evaluated the full RAG pipeline</a:t>
            </a:r>
          </a:p>
        </p:txBody>
      </p:sp>
      <p:sp>
        <p:nvSpPr>
          <p:cNvPr id="6" name="TextBox 5"/>
          <p:cNvSpPr txBox="1"/>
          <p:nvPr/>
        </p:nvSpPr>
        <p:spPr>
          <a:xfrm>
            <a:off x="521207" y="1133856"/>
            <a:ext cx="11064240" cy="393192"/>
          </a:xfrm>
          <a:prstGeom prst="rect">
            <a:avLst/>
          </a:prstGeom>
          <a:noFill/>
        </p:spPr>
        <p:txBody>
          <a:bodyPr wrap="square" lIns="36576" rIns="36576" tIns="13716" bIns="13716" anchor="ctr">
            <a:spAutoFit/>
          </a:bodyPr>
          <a:lstStyle/>
          <a:p>
            <a:pPr>
              <a:spcAft>
                <a:spcPts val="0"/>
              </a:spcAft>
              <a:defRPr sz="1400" b="0">
                <a:solidFill>
                  <a:srgbClr val="61758A"/>
                </a:solidFill>
                <a:latin typeface="Aptos"/>
              </a:defRPr>
            </a:pPr>
            <a:r>
              <a:t>Different questions require different metrics.</a:t>
            </a:r>
          </a:p>
        </p:txBody>
      </p:sp>
      <p:sp>
        <p:nvSpPr>
          <p:cNvPr id="7" name="Rectangle 6"/>
          <p:cNvSpPr/>
          <p:nvPr/>
        </p:nvSpPr>
        <p:spPr>
          <a:xfrm>
            <a:off x="502920" y="6556248"/>
            <a:ext cx="11155680" cy="10972"/>
          </a:xfrm>
          <a:prstGeom prst="rect">
            <a:avLst/>
          </a:prstGeom>
          <a:solidFill>
            <a:srgbClr val="DC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0"/>
            <a:ext cx="8229600" cy="155448"/>
          </a:xfrm>
          <a:prstGeom prst="rect">
            <a:avLst/>
          </a:prstGeom>
          <a:noFill/>
        </p:spPr>
        <p:txBody>
          <a:bodyPr wrap="square" lIns="36576" rIns="36576" tIns="13716" bIns="13716" anchor="ctr">
            <a:spAutoFit/>
          </a:bodyPr>
          <a:lstStyle/>
          <a:p>
            <a:pPr>
              <a:spcAft>
                <a:spcPts val="0"/>
              </a:spcAft>
              <a:defRPr sz="800" b="0">
                <a:solidFill>
                  <a:srgbClr val="61758A"/>
                </a:solidFill>
                <a:latin typeface="Aptos"/>
              </a:defRPr>
            </a:pPr>
            <a:r>
              <a:t>EU AI ACT  •  RAG ENGINEERING PORTFOLIO</a:t>
            </a:r>
          </a:p>
        </p:txBody>
      </p:sp>
      <p:sp>
        <p:nvSpPr>
          <p:cNvPr id="9" name="TextBox 8"/>
          <p:cNvSpPr txBox="1"/>
          <p:nvPr/>
        </p:nvSpPr>
        <p:spPr>
          <a:xfrm>
            <a:off x="11082528" y="6565392"/>
            <a:ext cx="502920" cy="201168"/>
          </a:xfrm>
          <a:prstGeom prst="rect">
            <a:avLst/>
          </a:prstGeom>
          <a:noFill/>
        </p:spPr>
        <p:txBody>
          <a:bodyPr wrap="square" lIns="36576" rIns="36576" tIns="13716" bIns="13716" anchor="ctr">
            <a:spAutoFit/>
          </a:bodyPr>
          <a:lstStyle/>
          <a:p>
            <a:pPr algn="r">
              <a:spcAft>
                <a:spcPts val="0"/>
              </a:spcAft>
              <a:defRPr sz="900" b="1">
                <a:solidFill>
                  <a:srgbClr val="61758A"/>
                </a:solidFill>
                <a:latin typeface="Aptos"/>
              </a:defRPr>
            </a:pPr>
            <a:r>
              <a:t>17</a:t>
            </a:r>
          </a:p>
        </p:txBody>
      </p:sp>
      <p:sp>
        <p:nvSpPr>
          <p:cNvPr id="10" name="Rounded Rectangle 9"/>
          <p:cNvSpPr/>
          <p:nvPr/>
        </p:nvSpPr>
        <p:spPr>
          <a:xfrm>
            <a:off x="685800" y="1801368"/>
            <a:ext cx="5257800" cy="3493008"/>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801368"/>
            <a:ext cx="59436" cy="3493008"/>
          </a:xfrm>
          <a:prstGeom prst="rect">
            <a:avLst/>
          </a:prstGeom>
          <a:solidFill>
            <a:srgbClr val="2B7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1929384"/>
            <a:ext cx="4846320" cy="384048"/>
          </a:xfrm>
          <a:prstGeom prst="rect">
            <a:avLst/>
          </a:prstGeom>
          <a:noFill/>
        </p:spPr>
        <p:txBody>
          <a:bodyPr wrap="square" lIns="36576" rIns="36576" tIns="13716" bIns="13716" anchor="ctr">
            <a:spAutoFit/>
          </a:bodyPr>
          <a:lstStyle/>
          <a:p>
            <a:pPr>
              <a:spcAft>
                <a:spcPts val="0"/>
              </a:spcAft>
              <a:defRPr sz="1700" b="1">
                <a:solidFill>
                  <a:srgbClr val="10253F"/>
                </a:solidFill>
                <a:latin typeface="Aptos"/>
              </a:defRPr>
            </a:pPr>
            <a:r>
              <a:t>RETRIEVAL CHECK</a:t>
            </a:r>
          </a:p>
        </p:txBody>
      </p:sp>
      <p:sp>
        <p:nvSpPr>
          <p:cNvPr id="13" name="TextBox 12"/>
          <p:cNvSpPr txBox="1"/>
          <p:nvPr/>
        </p:nvSpPr>
        <p:spPr>
          <a:xfrm>
            <a:off x="886968" y="2395728"/>
            <a:ext cx="4818888" cy="2761487"/>
          </a:xfrm>
          <a:prstGeom prst="rect">
            <a:avLst/>
          </a:prstGeom>
          <a:noFill/>
        </p:spPr>
        <p:txBody>
          <a:bodyPr wrap="square" lIns="36576" rIns="36576" tIns="13716" bIns="13716" anchor="t">
            <a:spAutoFit/>
          </a:bodyPr>
          <a:lstStyle/>
          <a:p>
            <a:pPr>
              <a:spcAft>
                <a:spcPts val="0"/>
              </a:spcAft>
              <a:defRPr sz="1700" b="0">
                <a:solidFill>
                  <a:srgbClr val="61758A"/>
                </a:solidFill>
                <a:latin typeface="Aptos"/>
              </a:defRPr>
            </a:pPr>
            <a:r>
              <a:t>Question + expected Article → retrieve top K chunks.</a:t>
            </a:r>
          </a:p>
          <a:p>
            <a:pPr>
              <a:spcAft>
                <a:spcPts val="0"/>
              </a:spcAft>
              <a:defRPr sz="1700" b="0">
                <a:solidFill>
                  <a:srgbClr val="61758A"/>
                </a:solidFill>
                <a:latin typeface="Aptos"/>
              </a:defRPr>
            </a:pPr>
          </a:p>
          <a:p>
            <a:pPr>
              <a:spcAft>
                <a:spcPts val="0"/>
              </a:spcAft>
              <a:defRPr sz="1700" b="0">
                <a:solidFill>
                  <a:srgbClr val="61758A"/>
                </a:solidFill>
                <a:latin typeface="Aptos"/>
              </a:defRPr>
            </a:pPr>
            <a:r>
              <a:t>Metric: Hit@1, Hit@3, Hit@5.</a:t>
            </a:r>
          </a:p>
          <a:p>
            <a:pPr>
              <a:spcAft>
                <a:spcPts val="0"/>
              </a:spcAft>
              <a:defRPr sz="1700" b="0">
                <a:solidFill>
                  <a:srgbClr val="61758A"/>
                </a:solidFill>
                <a:latin typeface="Aptos"/>
              </a:defRPr>
            </a:pPr>
          </a:p>
          <a:p>
            <a:pPr>
              <a:spcAft>
                <a:spcPts val="0"/>
              </a:spcAft>
              <a:defRPr sz="1700" b="0">
                <a:solidFill>
                  <a:srgbClr val="61758A"/>
                </a:solidFill>
                <a:latin typeface="Aptos"/>
              </a:defRPr>
            </a:pPr>
            <a:r>
              <a:t>Question: “Did search find the correct Article?”</a:t>
            </a:r>
          </a:p>
        </p:txBody>
      </p:sp>
      <p:sp>
        <p:nvSpPr>
          <p:cNvPr id="14" name="Rounded Rectangle 13"/>
          <p:cNvSpPr/>
          <p:nvPr/>
        </p:nvSpPr>
        <p:spPr>
          <a:xfrm>
            <a:off x="6217920" y="1801368"/>
            <a:ext cx="5257800" cy="3493008"/>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801368"/>
            <a:ext cx="59436" cy="3493008"/>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929384"/>
            <a:ext cx="4846320" cy="384048"/>
          </a:xfrm>
          <a:prstGeom prst="rect">
            <a:avLst/>
          </a:prstGeom>
          <a:noFill/>
        </p:spPr>
        <p:txBody>
          <a:bodyPr wrap="square" lIns="36576" rIns="36576" tIns="13716" bIns="13716" anchor="ctr">
            <a:spAutoFit/>
          </a:bodyPr>
          <a:lstStyle/>
          <a:p>
            <a:pPr>
              <a:spcAft>
                <a:spcPts val="0"/>
              </a:spcAft>
              <a:defRPr sz="1700" b="1">
                <a:solidFill>
                  <a:srgbClr val="10253F"/>
                </a:solidFill>
                <a:latin typeface="Aptos"/>
              </a:defRPr>
            </a:pPr>
            <a:r>
              <a:t>END-TO-END CHECK</a:t>
            </a:r>
          </a:p>
        </p:txBody>
      </p:sp>
      <p:sp>
        <p:nvSpPr>
          <p:cNvPr id="17" name="TextBox 16"/>
          <p:cNvSpPr txBox="1"/>
          <p:nvPr/>
        </p:nvSpPr>
        <p:spPr>
          <a:xfrm>
            <a:off x="6419088" y="2395728"/>
            <a:ext cx="4818888" cy="2761487"/>
          </a:xfrm>
          <a:prstGeom prst="rect">
            <a:avLst/>
          </a:prstGeom>
          <a:noFill/>
        </p:spPr>
        <p:txBody>
          <a:bodyPr wrap="square" lIns="36576" rIns="36576" tIns="13716" bIns="13716" anchor="t">
            <a:spAutoFit/>
          </a:bodyPr>
          <a:lstStyle/>
          <a:p>
            <a:pPr>
              <a:spcAft>
                <a:spcPts val="0"/>
              </a:spcAft>
              <a:defRPr sz="1600" b="0">
                <a:solidFill>
                  <a:srgbClr val="61758A"/>
                </a:solidFill>
                <a:latin typeface="Aptos"/>
              </a:defRPr>
            </a:pPr>
            <a:r>
              <a:t>Run retrieval and Groq answer generation.</a:t>
            </a:r>
          </a:p>
          <a:p>
            <a:pPr>
              <a:spcAft>
                <a:spcPts val="0"/>
              </a:spcAft>
              <a:defRPr sz="1600" b="0">
                <a:solidFill>
                  <a:srgbClr val="61758A"/>
                </a:solidFill>
                <a:latin typeface="Aptos"/>
              </a:defRPr>
            </a:pPr>
          </a:p>
          <a:p>
            <a:pPr>
              <a:spcAft>
                <a:spcPts val="0"/>
              </a:spcAft>
              <a:defRPr sz="1600" b="0">
                <a:solidFill>
                  <a:srgbClr val="61758A"/>
                </a:solidFill>
                <a:latin typeface="Aptos"/>
              </a:defRPr>
            </a:pPr>
            <a:r>
              <a:t>Checks: expected Article in context? Mentioned in answer?</a:t>
            </a:r>
          </a:p>
          <a:p>
            <a:pPr>
              <a:spcAft>
                <a:spcPts val="0"/>
              </a:spcAft>
              <a:defRPr sz="1600" b="0">
                <a:solidFill>
                  <a:srgbClr val="61758A"/>
                </a:solidFill>
                <a:latin typeface="Aptos"/>
              </a:defRPr>
            </a:pPr>
          </a:p>
          <a:p>
            <a:pPr>
              <a:spcAft>
                <a:spcPts val="0"/>
              </a:spcAft>
              <a:defRPr sz="1600" b="0">
                <a:solidFill>
                  <a:srgbClr val="61758A"/>
                </a:solidFill>
                <a:latin typeface="Aptos"/>
              </a:defRPr>
            </a:pPr>
            <a:r>
              <a:t>Not a factual correctness metric.</a:t>
            </a:r>
          </a:p>
        </p:txBody>
      </p:sp>
      <p:sp>
        <p:nvSpPr>
          <p:cNvPr id="18" name="Rounded Rectangle 17"/>
          <p:cNvSpPr/>
          <p:nvPr/>
        </p:nvSpPr>
        <p:spPr>
          <a:xfrm>
            <a:off x="777240" y="5614416"/>
            <a:ext cx="10561320" cy="448056"/>
          </a:xfrm>
          <a:prstGeom prst="roundRect">
            <a:avLst>
              <a:gd name="adj" fmla="val 16000"/>
            </a:avLst>
          </a:prstGeom>
          <a:solidFill>
            <a:srgbClr val="10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5669280"/>
            <a:ext cx="10149840" cy="329184"/>
          </a:xfrm>
          <a:prstGeom prst="rect">
            <a:avLst/>
          </a:prstGeom>
          <a:noFill/>
        </p:spPr>
        <p:txBody>
          <a:bodyPr wrap="square" lIns="36576" rIns="36576" tIns="13716" bIns="13716" anchor="ctr">
            <a:spAutoFit/>
          </a:bodyPr>
          <a:lstStyle/>
          <a:p>
            <a:pPr algn="ctr">
              <a:spcAft>
                <a:spcPts val="0"/>
              </a:spcAft>
              <a:defRPr sz="1500" b="1">
                <a:solidFill>
                  <a:srgbClr val="FFFFFF"/>
                </a:solidFill>
                <a:latin typeface="Aptos"/>
              </a:defRPr>
            </a:pPr>
            <a:r>
              <a:t>12/12 context coverage  •  12/12 Article mention  •  manual answer review still needed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19456"/>
            <a:ext cx="10881360" cy="219456"/>
          </a:xfrm>
          <a:prstGeom prst="rect">
            <a:avLst/>
          </a:prstGeom>
          <a:noFill/>
        </p:spPr>
        <p:txBody>
          <a:bodyPr wrap="square" lIns="36576" rIns="36576" tIns="13716" bIns="13716" anchor="ctr">
            <a:spAutoFit/>
          </a:bodyPr>
          <a:lstStyle/>
          <a:p>
            <a:pPr>
              <a:spcAft>
                <a:spcPts val="0"/>
              </a:spcAft>
              <a:defRPr sz="1000" b="1">
                <a:solidFill>
                  <a:srgbClr val="00A99D"/>
                </a:solidFill>
                <a:latin typeface="Aptos"/>
              </a:defRPr>
            </a:pPr>
            <a:r>
              <a:t>17 / DEBUGGING &amp; RELIABILITY</a:t>
            </a:r>
          </a:p>
        </p:txBody>
      </p:sp>
      <p:sp>
        <p:nvSpPr>
          <p:cNvPr id="5" name="TextBox 4"/>
          <p:cNvSpPr txBox="1"/>
          <p:nvPr/>
        </p:nvSpPr>
        <p:spPr>
          <a:xfrm>
            <a:off x="502920" y="530352"/>
            <a:ext cx="11201400" cy="557784"/>
          </a:xfrm>
          <a:prstGeom prst="rect">
            <a:avLst/>
          </a:prstGeom>
          <a:noFill/>
        </p:spPr>
        <p:txBody>
          <a:bodyPr wrap="square" lIns="36576" rIns="36576" tIns="13716" bIns="13716" anchor="ctr">
            <a:spAutoFit/>
          </a:bodyPr>
          <a:lstStyle/>
          <a:p>
            <a:pPr>
              <a:spcAft>
                <a:spcPts val="0"/>
              </a:spcAft>
              <a:defRPr sz="2800" b="1">
                <a:solidFill>
                  <a:srgbClr val="10253F"/>
                </a:solidFill>
                <a:latin typeface="Aptos"/>
              </a:defRPr>
            </a:pPr>
            <a:r>
              <a:t>Engineering problems and fixes</a:t>
            </a:r>
          </a:p>
        </p:txBody>
      </p:sp>
      <p:sp>
        <p:nvSpPr>
          <p:cNvPr id="6" name="TextBox 5"/>
          <p:cNvSpPr txBox="1"/>
          <p:nvPr/>
        </p:nvSpPr>
        <p:spPr>
          <a:xfrm>
            <a:off x="521207" y="1133856"/>
            <a:ext cx="11064240" cy="393192"/>
          </a:xfrm>
          <a:prstGeom prst="rect">
            <a:avLst/>
          </a:prstGeom>
          <a:noFill/>
        </p:spPr>
        <p:txBody>
          <a:bodyPr wrap="square" lIns="36576" rIns="36576" tIns="13716" bIns="13716" anchor="ctr">
            <a:spAutoFit/>
          </a:bodyPr>
          <a:lstStyle/>
          <a:p>
            <a:pPr>
              <a:spcAft>
                <a:spcPts val="0"/>
              </a:spcAft>
              <a:defRPr sz="1400" b="0">
                <a:solidFill>
                  <a:srgbClr val="61758A"/>
                </a:solidFill>
                <a:latin typeface="Aptos"/>
              </a:defRPr>
            </a:pPr>
            <a:r>
              <a:t>A credible project explains what failed and what changed.</a:t>
            </a:r>
          </a:p>
        </p:txBody>
      </p:sp>
      <p:sp>
        <p:nvSpPr>
          <p:cNvPr id="7" name="Rectangle 6"/>
          <p:cNvSpPr/>
          <p:nvPr/>
        </p:nvSpPr>
        <p:spPr>
          <a:xfrm>
            <a:off x="502920" y="6556248"/>
            <a:ext cx="11155680" cy="10972"/>
          </a:xfrm>
          <a:prstGeom prst="rect">
            <a:avLst/>
          </a:prstGeom>
          <a:solidFill>
            <a:srgbClr val="DC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0"/>
            <a:ext cx="8229600" cy="155448"/>
          </a:xfrm>
          <a:prstGeom prst="rect">
            <a:avLst/>
          </a:prstGeom>
          <a:noFill/>
        </p:spPr>
        <p:txBody>
          <a:bodyPr wrap="square" lIns="36576" rIns="36576" tIns="13716" bIns="13716" anchor="ctr">
            <a:spAutoFit/>
          </a:bodyPr>
          <a:lstStyle/>
          <a:p>
            <a:pPr>
              <a:spcAft>
                <a:spcPts val="0"/>
              </a:spcAft>
              <a:defRPr sz="800" b="0">
                <a:solidFill>
                  <a:srgbClr val="61758A"/>
                </a:solidFill>
                <a:latin typeface="Aptos"/>
              </a:defRPr>
            </a:pPr>
            <a:r>
              <a:t>EU AI ACT  •  RAG ENGINEERING PORTFOLIO</a:t>
            </a:r>
          </a:p>
        </p:txBody>
      </p:sp>
      <p:sp>
        <p:nvSpPr>
          <p:cNvPr id="9" name="TextBox 8"/>
          <p:cNvSpPr txBox="1"/>
          <p:nvPr/>
        </p:nvSpPr>
        <p:spPr>
          <a:xfrm>
            <a:off x="11082528" y="6565392"/>
            <a:ext cx="502920" cy="201168"/>
          </a:xfrm>
          <a:prstGeom prst="rect">
            <a:avLst/>
          </a:prstGeom>
          <a:noFill/>
        </p:spPr>
        <p:txBody>
          <a:bodyPr wrap="square" lIns="36576" rIns="36576" tIns="13716" bIns="13716" anchor="ctr">
            <a:spAutoFit/>
          </a:bodyPr>
          <a:lstStyle/>
          <a:p>
            <a:pPr algn="r">
              <a:spcAft>
                <a:spcPts val="0"/>
              </a:spcAft>
              <a:defRPr sz="900" b="1">
                <a:solidFill>
                  <a:srgbClr val="61758A"/>
                </a:solidFill>
                <a:latin typeface="Aptos"/>
              </a:defRPr>
            </a:pPr>
            <a:r>
              <a:t>18</a:t>
            </a:r>
          </a:p>
        </p:txBody>
      </p:sp>
      <p:sp>
        <p:nvSpPr>
          <p:cNvPr id="10" name="Rounded Rectangle 9"/>
          <p:cNvSpPr/>
          <p:nvPr/>
        </p:nvSpPr>
        <p:spPr>
          <a:xfrm>
            <a:off x="704088" y="1719072"/>
            <a:ext cx="5074920" cy="630936"/>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61888" y="1719072"/>
            <a:ext cx="5477256" cy="630936"/>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19656"/>
            <a:ext cx="4681728" cy="429768"/>
          </a:xfrm>
          <a:prstGeom prst="rect">
            <a:avLst/>
          </a:prstGeom>
          <a:noFill/>
        </p:spPr>
        <p:txBody>
          <a:bodyPr wrap="square" lIns="36576" rIns="36576" tIns="13716" bIns="13716" anchor="ctr">
            <a:spAutoFit/>
          </a:bodyPr>
          <a:lstStyle/>
          <a:p>
            <a:pPr>
              <a:spcAft>
                <a:spcPts val="0"/>
              </a:spcAft>
              <a:defRPr sz="1500" b="1">
                <a:solidFill>
                  <a:srgbClr val="10253F"/>
                </a:solidFill>
                <a:latin typeface="Aptos"/>
              </a:defRPr>
            </a:pPr>
            <a:r>
              <a:t>Incomplete Article coverage</a:t>
            </a:r>
          </a:p>
        </p:txBody>
      </p:sp>
      <p:sp>
        <p:nvSpPr>
          <p:cNvPr id="13" name="TextBox 12"/>
          <p:cNvSpPr txBox="1"/>
          <p:nvPr/>
        </p:nvSpPr>
        <p:spPr>
          <a:xfrm>
            <a:off x="6163056" y="1819656"/>
            <a:ext cx="5074920" cy="429768"/>
          </a:xfrm>
          <a:prstGeom prst="rect">
            <a:avLst/>
          </a:prstGeom>
          <a:noFill/>
        </p:spPr>
        <p:txBody>
          <a:bodyPr wrap="square" lIns="36576" rIns="36576" tIns="13716" bIns="13716" anchor="ctr">
            <a:spAutoFit/>
          </a:bodyPr>
          <a:lstStyle/>
          <a:p>
            <a:pPr>
              <a:spcAft>
                <a:spcPts val="0"/>
              </a:spcAft>
              <a:defRPr sz="1500" b="1">
                <a:solidFill>
                  <a:srgbClr val="00A99D"/>
                </a:solidFill>
                <a:latin typeface="Aptos"/>
              </a:defRPr>
            </a:pPr>
            <a:r>
              <a:t>Expand all chunks for top three sections</a:t>
            </a:r>
          </a:p>
        </p:txBody>
      </p:sp>
      <p:sp>
        <p:nvSpPr>
          <p:cNvPr id="14" name="Rounded Rectangle 13"/>
          <p:cNvSpPr/>
          <p:nvPr/>
        </p:nvSpPr>
        <p:spPr>
          <a:xfrm>
            <a:off x="704088" y="2532888"/>
            <a:ext cx="5074920" cy="630936"/>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61888" y="2532888"/>
            <a:ext cx="5477256" cy="630936"/>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633472"/>
            <a:ext cx="4681728" cy="429768"/>
          </a:xfrm>
          <a:prstGeom prst="rect">
            <a:avLst/>
          </a:prstGeom>
          <a:noFill/>
        </p:spPr>
        <p:txBody>
          <a:bodyPr wrap="square" lIns="36576" rIns="36576" tIns="13716" bIns="13716" anchor="ctr">
            <a:spAutoFit/>
          </a:bodyPr>
          <a:lstStyle/>
          <a:p>
            <a:pPr>
              <a:spcAft>
                <a:spcPts val="0"/>
              </a:spcAft>
              <a:defRPr sz="1500" b="1">
                <a:solidFill>
                  <a:srgbClr val="10253F"/>
                </a:solidFill>
                <a:latin typeface="Aptos"/>
              </a:defRPr>
            </a:pPr>
            <a:r>
              <a:t>Relevant Article ranked second</a:t>
            </a:r>
          </a:p>
        </p:txBody>
      </p:sp>
      <p:sp>
        <p:nvSpPr>
          <p:cNvPr id="17" name="TextBox 16"/>
          <p:cNvSpPr txBox="1"/>
          <p:nvPr/>
        </p:nvSpPr>
        <p:spPr>
          <a:xfrm>
            <a:off x="6163056" y="2633472"/>
            <a:ext cx="5074920" cy="429768"/>
          </a:xfrm>
          <a:prstGeom prst="rect">
            <a:avLst/>
          </a:prstGeom>
          <a:noFill/>
        </p:spPr>
        <p:txBody>
          <a:bodyPr wrap="square" lIns="36576" rIns="36576" tIns="13716" bIns="13716" anchor="ctr">
            <a:spAutoFit/>
          </a:bodyPr>
          <a:lstStyle/>
          <a:p>
            <a:pPr>
              <a:spcAft>
                <a:spcPts val="0"/>
              </a:spcAft>
              <a:defRPr sz="1500" b="1">
                <a:solidFill>
                  <a:srgbClr val="00A99D"/>
                </a:solidFill>
                <a:latin typeface="Aptos"/>
              </a:defRPr>
            </a:pPr>
            <a:r>
              <a:t>Do not rely only on the first result</a:t>
            </a:r>
          </a:p>
        </p:txBody>
      </p:sp>
      <p:sp>
        <p:nvSpPr>
          <p:cNvPr id="18" name="Rounded Rectangle 17"/>
          <p:cNvSpPr/>
          <p:nvPr/>
        </p:nvSpPr>
        <p:spPr>
          <a:xfrm>
            <a:off x="704088" y="3346704"/>
            <a:ext cx="5074920" cy="630936"/>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961888" y="3346704"/>
            <a:ext cx="5477256" cy="630936"/>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447288"/>
            <a:ext cx="4681728" cy="429768"/>
          </a:xfrm>
          <a:prstGeom prst="rect">
            <a:avLst/>
          </a:prstGeom>
          <a:noFill/>
        </p:spPr>
        <p:txBody>
          <a:bodyPr wrap="square" lIns="36576" rIns="36576" tIns="13716" bIns="13716" anchor="ctr">
            <a:spAutoFit/>
          </a:bodyPr>
          <a:lstStyle/>
          <a:p>
            <a:pPr>
              <a:spcAft>
                <a:spcPts val="0"/>
              </a:spcAft>
              <a:defRPr sz="1500" b="1">
                <a:solidFill>
                  <a:srgbClr val="10253F"/>
                </a:solidFill>
                <a:latin typeface="Aptos"/>
              </a:defRPr>
            </a:pPr>
            <a:r>
              <a:t>Oversized Groq request (413)</a:t>
            </a:r>
          </a:p>
        </p:txBody>
      </p:sp>
      <p:sp>
        <p:nvSpPr>
          <p:cNvPr id="21" name="TextBox 20"/>
          <p:cNvSpPr txBox="1"/>
          <p:nvPr/>
        </p:nvSpPr>
        <p:spPr>
          <a:xfrm>
            <a:off x="6163056" y="3447288"/>
            <a:ext cx="5074920" cy="429768"/>
          </a:xfrm>
          <a:prstGeom prst="rect">
            <a:avLst/>
          </a:prstGeom>
          <a:noFill/>
        </p:spPr>
        <p:txBody>
          <a:bodyPr wrap="square" lIns="36576" rIns="36576" tIns="13716" bIns="13716" anchor="ctr">
            <a:spAutoFit/>
          </a:bodyPr>
          <a:lstStyle/>
          <a:p>
            <a:pPr>
              <a:spcAft>
                <a:spcPts val="0"/>
              </a:spcAft>
              <a:defRPr sz="1500" b="1">
                <a:solidFill>
                  <a:srgbClr val="00A99D"/>
                </a:solidFill>
                <a:latin typeface="Aptos"/>
              </a:defRPr>
            </a:pPr>
            <a:r>
              <a:t>Limit context to 12,000 characters</a:t>
            </a:r>
          </a:p>
        </p:txBody>
      </p:sp>
      <p:sp>
        <p:nvSpPr>
          <p:cNvPr id="22" name="Rounded Rectangle 21"/>
          <p:cNvSpPr/>
          <p:nvPr/>
        </p:nvSpPr>
        <p:spPr>
          <a:xfrm>
            <a:off x="704088" y="4160520"/>
            <a:ext cx="5074920" cy="630936"/>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961888" y="4160520"/>
            <a:ext cx="5477256" cy="630936"/>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261104"/>
            <a:ext cx="4681728" cy="429768"/>
          </a:xfrm>
          <a:prstGeom prst="rect">
            <a:avLst/>
          </a:prstGeom>
          <a:noFill/>
        </p:spPr>
        <p:txBody>
          <a:bodyPr wrap="square" lIns="36576" rIns="36576" tIns="13716" bIns="13716" anchor="ctr">
            <a:spAutoFit/>
          </a:bodyPr>
          <a:lstStyle/>
          <a:p>
            <a:pPr>
              <a:spcAft>
                <a:spcPts val="0"/>
              </a:spcAft>
              <a:defRPr sz="1500" b="1">
                <a:solidFill>
                  <a:srgbClr val="10253F"/>
                </a:solidFill>
                <a:latin typeface="Aptos"/>
              </a:defRPr>
            </a:pPr>
            <a:r>
              <a:t>Rate limits / timeouts</a:t>
            </a:r>
          </a:p>
        </p:txBody>
      </p:sp>
      <p:sp>
        <p:nvSpPr>
          <p:cNvPr id="25" name="TextBox 24"/>
          <p:cNvSpPr txBox="1"/>
          <p:nvPr/>
        </p:nvSpPr>
        <p:spPr>
          <a:xfrm>
            <a:off x="6163056" y="4261104"/>
            <a:ext cx="5074920" cy="429768"/>
          </a:xfrm>
          <a:prstGeom prst="rect">
            <a:avLst/>
          </a:prstGeom>
          <a:noFill/>
        </p:spPr>
        <p:txBody>
          <a:bodyPr wrap="square" lIns="36576" rIns="36576" tIns="13716" bIns="13716" anchor="ctr">
            <a:spAutoFit/>
          </a:bodyPr>
          <a:lstStyle/>
          <a:p>
            <a:pPr>
              <a:spcAft>
                <a:spcPts val="0"/>
              </a:spcAft>
              <a:defRPr sz="1500" b="1">
                <a:solidFill>
                  <a:srgbClr val="00A99D"/>
                </a:solidFill>
                <a:latin typeface="Aptos"/>
              </a:defRPr>
            </a:pPr>
            <a:r>
              <a:t>Retry with backoff and save progress</a:t>
            </a:r>
          </a:p>
        </p:txBody>
      </p:sp>
      <p:sp>
        <p:nvSpPr>
          <p:cNvPr id="26" name="Rounded Rectangle 25"/>
          <p:cNvSpPr/>
          <p:nvPr/>
        </p:nvSpPr>
        <p:spPr>
          <a:xfrm>
            <a:off x="704088" y="4974336"/>
            <a:ext cx="5074920" cy="630936"/>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961888" y="4974336"/>
            <a:ext cx="5477256" cy="630936"/>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074920"/>
            <a:ext cx="4681728" cy="429768"/>
          </a:xfrm>
          <a:prstGeom prst="rect">
            <a:avLst/>
          </a:prstGeom>
          <a:noFill/>
        </p:spPr>
        <p:txBody>
          <a:bodyPr wrap="square" lIns="36576" rIns="36576" tIns="13716" bIns="13716" anchor="ctr">
            <a:spAutoFit/>
          </a:bodyPr>
          <a:lstStyle/>
          <a:p>
            <a:pPr>
              <a:spcAft>
                <a:spcPts val="0"/>
              </a:spcAft>
              <a:defRPr sz="1500" b="1">
                <a:solidFill>
                  <a:srgbClr val="10253F"/>
                </a:solidFill>
                <a:latin typeface="Aptos"/>
              </a:defRPr>
            </a:pPr>
            <a:r>
              <a:t>Unicode whitespace in evaluation</a:t>
            </a:r>
          </a:p>
        </p:txBody>
      </p:sp>
      <p:sp>
        <p:nvSpPr>
          <p:cNvPr id="29" name="TextBox 28"/>
          <p:cNvSpPr txBox="1"/>
          <p:nvPr/>
        </p:nvSpPr>
        <p:spPr>
          <a:xfrm>
            <a:off x="6163056" y="5074920"/>
            <a:ext cx="5074920" cy="429768"/>
          </a:xfrm>
          <a:prstGeom prst="rect">
            <a:avLst/>
          </a:prstGeom>
          <a:noFill/>
        </p:spPr>
        <p:txBody>
          <a:bodyPr wrap="square" lIns="36576" rIns="36576" tIns="13716" bIns="13716" anchor="ctr">
            <a:spAutoFit/>
          </a:bodyPr>
          <a:lstStyle/>
          <a:p>
            <a:pPr>
              <a:spcAft>
                <a:spcPts val="0"/>
              </a:spcAft>
              <a:defRPr sz="1500" b="1">
                <a:solidFill>
                  <a:srgbClr val="00A99D"/>
                </a:solidFill>
                <a:latin typeface="Aptos"/>
              </a:defRPr>
            </a:pPr>
            <a:r>
              <a:t>Normalize text before Article matching</a:t>
            </a:r>
          </a:p>
        </p:txBody>
      </p:sp>
      <p:sp>
        <p:nvSpPr>
          <p:cNvPr id="30" name="TextBox 29"/>
          <p:cNvSpPr txBox="1"/>
          <p:nvPr/>
        </p:nvSpPr>
        <p:spPr>
          <a:xfrm>
            <a:off x="905256" y="5989320"/>
            <a:ext cx="1828800" cy="228600"/>
          </a:xfrm>
          <a:prstGeom prst="rect">
            <a:avLst/>
          </a:prstGeom>
          <a:noFill/>
        </p:spPr>
        <p:txBody>
          <a:bodyPr wrap="square" lIns="36576" rIns="36576" tIns="13716" bIns="13716" anchor="ctr">
            <a:spAutoFit/>
          </a:bodyPr>
          <a:lstStyle/>
          <a:p>
            <a:pPr>
              <a:spcAft>
                <a:spcPts val="0"/>
              </a:spcAft>
              <a:defRPr sz="1000" b="1">
                <a:solidFill>
                  <a:srgbClr val="61758A"/>
                </a:solidFill>
                <a:latin typeface="Aptos"/>
              </a:defRPr>
            </a:pPr>
            <a:r>
              <a:t>ISSUE</a:t>
            </a:r>
          </a:p>
        </p:txBody>
      </p:sp>
      <p:sp>
        <p:nvSpPr>
          <p:cNvPr id="31" name="TextBox 30"/>
          <p:cNvSpPr txBox="1"/>
          <p:nvPr/>
        </p:nvSpPr>
        <p:spPr>
          <a:xfrm>
            <a:off x="6153912" y="5989320"/>
            <a:ext cx="3657600" cy="228600"/>
          </a:xfrm>
          <a:prstGeom prst="rect">
            <a:avLst/>
          </a:prstGeom>
          <a:noFill/>
        </p:spPr>
        <p:txBody>
          <a:bodyPr wrap="square" lIns="36576" rIns="36576" tIns="13716" bIns="13716" anchor="ctr">
            <a:spAutoFit/>
          </a:bodyPr>
          <a:lstStyle/>
          <a:p>
            <a:pPr>
              <a:spcAft>
                <a:spcPts val="0"/>
              </a:spcAft>
              <a:defRPr sz="1000" b="1">
                <a:solidFill>
                  <a:srgbClr val="61758A"/>
                </a:solidFill>
                <a:latin typeface="Aptos"/>
              </a:defRPr>
            </a:pPr>
            <a:r>
              <a:t>ENGINEERING RESPONSE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19456"/>
            <a:ext cx="10881360" cy="219456"/>
          </a:xfrm>
          <a:prstGeom prst="rect">
            <a:avLst/>
          </a:prstGeom>
          <a:noFill/>
        </p:spPr>
        <p:txBody>
          <a:bodyPr wrap="square" lIns="36576" rIns="36576" tIns="13716" bIns="13716" anchor="ctr">
            <a:spAutoFit/>
          </a:bodyPr>
          <a:lstStyle/>
          <a:p>
            <a:pPr>
              <a:spcAft>
                <a:spcPts val="0"/>
              </a:spcAft>
              <a:defRPr sz="1000" b="1">
                <a:solidFill>
                  <a:srgbClr val="00A99D"/>
                </a:solidFill>
                <a:latin typeface="Aptos"/>
              </a:defRPr>
            </a:pPr>
            <a:r>
              <a:t>18 / LIMITATIONS</a:t>
            </a:r>
          </a:p>
        </p:txBody>
      </p:sp>
      <p:sp>
        <p:nvSpPr>
          <p:cNvPr id="5" name="TextBox 4"/>
          <p:cNvSpPr txBox="1"/>
          <p:nvPr/>
        </p:nvSpPr>
        <p:spPr>
          <a:xfrm>
            <a:off x="502920" y="530352"/>
            <a:ext cx="11201400" cy="557784"/>
          </a:xfrm>
          <a:prstGeom prst="rect">
            <a:avLst/>
          </a:prstGeom>
          <a:noFill/>
        </p:spPr>
        <p:txBody>
          <a:bodyPr wrap="square" lIns="36576" rIns="36576" tIns="13716" bIns="13716" anchor="ctr">
            <a:spAutoFit/>
          </a:bodyPr>
          <a:lstStyle/>
          <a:p>
            <a:pPr>
              <a:spcAft>
                <a:spcPts val="0"/>
              </a:spcAft>
              <a:defRPr sz="2800" b="1">
                <a:solidFill>
                  <a:srgbClr val="10253F"/>
                </a:solidFill>
                <a:latin typeface="Aptos"/>
              </a:defRPr>
            </a:pPr>
            <a:r>
              <a:t>What the numbers do — and do not — prove</a:t>
            </a:r>
          </a:p>
        </p:txBody>
      </p:sp>
      <p:sp>
        <p:nvSpPr>
          <p:cNvPr id="6" name="TextBox 5"/>
          <p:cNvSpPr txBox="1"/>
          <p:nvPr/>
        </p:nvSpPr>
        <p:spPr>
          <a:xfrm>
            <a:off x="521207" y="1133856"/>
            <a:ext cx="11064240" cy="393192"/>
          </a:xfrm>
          <a:prstGeom prst="rect">
            <a:avLst/>
          </a:prstGeom>
          <a:noFill/>
        </p:spPr>
        <p:txBody>
          <a:bodyPr wrap="square" lIns="36576" rIns="36576" tIns="13716" bIns="13716" anchor="ctr">
            <a:spAutoFit/>
          </a:bodyPr>
          <a:lstStyle/>
          <a:p>
            <a:pPr>
              <a:spcAft>
                <a:spcPts val="0"/>
              </a:spcAft>
              <a:defRPr sz="1400" b="0">
                <a:solidFill>
                  <a:srgbClr val="61758A"/>
                </a:solidFill>
                <a:latin typeface="Aptos"/>
              </a:defRPr>
            </a:pPr>
            <a:r>
              <a:t>Good evaluation is as much about stating limits as showing scores.</a:t>
            </a:r>
          </a:p>
        </p:txBody>
      </p:sp>
      <p:sp>
        <p:nvSpPr>
          <p:cNvPr id="7" name="Rectangle 6"/>
          <p:cNvSpPr/>
          <p:nvPr/>
        </p:nvSpPr>
        <p:spPr>
          <a:xfrm>
            <a:off x="502920" y="6556248"/>
            <a:ext cx="11155680" cy="10972"/>
          </a:xfrm>
          <a:prstGeom prst="rect">
            <a:avLst/>
          </a:prstGeom>
          <a:solidFill>
            <a:srgbClr val="DC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0"/>
            <a:ext cx="8229600" cy="155448"/>
          </a:xfrm>
          <a:prstGeom prst="rect">
            <a:avLst/>
          </a:prstGeom>
          <a:noFill/>
        </p:spPr>
        <p:txBody>
          <a:bodyPr wrap="square" lIns="36576" rIns="36576" tIns="13716" bIns="13716" anchor="ctr">
            <a:spAutoFit/>
          </a:bodyPr>
          <a:lstStyle/>
          <a:p>
            <a:pPr>
              <a:spcAft>
                <a:spcPts val="0"/>
              </a:spcAft>
              <a:defRPr sz="800" b="0">
                <a:solidFill>
                  <a:srgbClr val="61758A"/>
                </a:solidFill>
                <a:latin typeface="Aptos"/>
              </a:defRPr>
            </a:pPr>
            <a:r>
              <a:t>EU AI ACT  •  RAG ENGINEERING PORTFOLIO</a:t>
            </a:r>
          </a:p>
        </p:txBody>
      </p:sp>
      <p:sp>
        <p:nvSpPr>
          <p:cNvPr id="9" name="TextBox 8"/>
          <p:cNvSpPr txBox="1"/>
          <p:nvPr/>
        </p:nvSpPr>
        <p:spPr>
          <a:xfrm>
            <a:off x="11082528" y="6565392"/>
            <a:ext cx="502920" cy="201168"/>
          </a:xfrm>
          <a:prstGeom prst="rect">
            <a:avLst/>
          </a:prstGeom>
          <a:noFill/>
        </p:spPr>
        <p:txBody>
          <a:bodyPr wrap="square" lIns="36576" rIns="36576" tIns="13716" bIns="13716" anchor="ctr">
            <a:spAutoFit/>
          </a:bodyPr>
          <a:lstStyle/>
          <a:p>
            <a:pPr algn="r">
              <a:spcAft>
                <a:spcPts val="0"/>
              </a:spcAft>
              <a:defRPr sz="900" b="1">
                <a:solidFill>
                  <a:srgbClr val="61758A"/>
                </a:solidFill>
                <a:latin typeface="Aptos"/>
              </a:defRPr>
            </a:pPr>
            <a:r>
              <a:t>19</a:t>
            </a:r>
          </a:p>
        </p:txBody>
      </p:sp>
      <p:sp>
        <p:nvSpPr>
          <p:cNvPr id="10" name="Rounded Rectangle 9"/>
          <p:cNvSpPr/>
          <p:nvPr/>
        </p:nvSpPr>
        <p:spPr>
          <a:xfrm>
            <a:off x="685800" y="1764792"/>
            <a:ext cx="5349240" cy="1645920"/>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764792"/>
            <a:ext cx="59436" cy="1645920"/>
          </a:xfrm>
          <a:prstGeom prst="rect">
            <a:avLst/>
          </a:prstGeom>
          <a:solidFill>
            <a:srgbClr val="2B7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1892807"/>
            <a:ext cx="4937759" cy="384048"/>
          </a:xfrm>
          <a:prstGeom prst="rect">
            <a:avLst/>
          </a:prstGeom>
          <a:noFill/>
        </p:spPr>
        <p:txBody>
          <a:bodyPr wrap="square" lIns="36576" rIns="36576" tIns="13716" bIns="13716" anchor="ctr">
            <a:spAutoFit/>
          </a:bodyPr>
          <a:lstStyle/>
          <a:p>
            <a:pPr>
              <a:spcAft>
                <a:spcPts val="0"/>
              </a:spcAft>
              <a:defRPr sz="1600" b="1">
                <a:solidFill>
                  <a:srgbClr val="10253F"/>
                </a:solidFill>
                <a:latin typeface="Aptos"/>
              </a:defRPr>
            </a:pPr>
            <a:r>
              <a:t>Small test set</a:t>
            </a:r>
          </a:p>
        </p:txBody>
      </p:sp>
      <p:sp>
        <p:nvSpPr>
          <p:cNvPr id="13" name="TextBox 12"/>
          <p:cNvSpPr txBox="1"/>
          <p:nvPr/>
        </p:nvSpPr>
        <p:spPr>
          <a:xfrm>
            <a:off x="886968" y="2359152"/>
            <a:ext cx="4910327" cy="914400"/>
          </a:xfrm>
          <a:prstGeom prst="rect">
            <a:avLst/>
          </a:prstGeom>
          <a:noFill/>
        </p:spPr>
        <p:txBody>
          <a:bodyPr wrap="square" lIns="36576" rIns="36576" tIns="13716" bIns="13716" anchor="t">
            <a:spAutoFit/>
          </a:bodyPr>
          <a:lstStyle/>
          <a:p>
            <a:pPr>
              <a:spcAft>
                <a:spcPts val="0"/>
              </a:spcAft>
              <a:defRPr sz="1400" b="0">
                <a:solidFill>
                  <a:srgbClr val="61758A"/>
                </a:solidFill>
                <a:latin typeface="Aptos"/>
              </a:defRPr>
            </a:pPr>
            <a:r>
              <a:t>12 curated questions do not represent all possible questions.</a:t>
            </a:r>
          </a:p>
        </p:txBody>
      </p:sp>
      <p:sp>
        <p:nvSpPr>
          <p:cNvPr id="14" name="Rounded Rectangle 13"/>
          <p:cNvSpPr/>
          <p:nvPr/>
        </p:nvSpPr>
        <p:spPr>
          <a:xfrm>
            <a:off x="6309360" y="1764792"/>
            <a:ext cx="5349240" cy="1645920"/>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1764792"/>
            <a:ext cx="59436" cy="1645920"/>
          </a:xfrm>
          <a:prstGeom prst="rect">
            <a:avLst/>
          </a:prstGeom>
          <a:solidFill>
            <a:srgbClr val="F4B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10528" y="1892807"/>
            <a:ext cx="4937759" cy="384048"/>
          </a:xfrm>
          <a:prstGeom prst="rect">
            <a:avLst/>
          </a:prstGeom>
          <a:noFill/>
        </p:spPr>
        <p:txBody>
          <a:bodyPr wrap="square" lIns="36576" rIns="36576" tIns="13716" bIns="13716" anchor="ctr">
            <a:spAutoFit/>
          </a:bodyPr>
          <a:lstStyle/>
          <a:p>
            <a:pPr>
              <a:spcAft>
                <a:spcPts val="0"/>
              </a:spcAft>
              <a:defRPr sz="1600" b="1">
                <a:solidFill>
                  <a:srgbClr val="10253F"/>
                </a:solidFill>
                <a:latin typeface="Aptos"/>
              </a:defRPr>
            </a:pPr>
            <a:r>
              <a:t>Coverage ≠ correctness</a:t>
            </a:r>
          </a:p>
        </p:txBody>
      </p:sp>
      <p:sp>
        <p:nvSpPr>
          <p:cNvPr id="17" name="TextBox 16"/>
          <p:cNvSpPr txBox="1"/>
          <p:nvPr/>
        </p:nvSpPr>
        <p:spPr>
          <a:xfrm>
            <a:off x="6510528" y="2359152"/>
            <a:ext cx="4910327" cy="914400"/>
          </a:xfrm>
          <a:prstGeom prst="rect">
            <a:avLst/>
          </a:prstGeom>
          <a:noFill/>
        </p:spPr>
        <p:txBody>
          <a:bodyPr wrap="square" lIns="36576" rIns="36576" tIns="13716" bIns="13716" anchor="t">
            <a:spAutoFit/>
          </a:bodyPr>
          <a:lstStyle/>
          <a:p>
            <a:pPr>
              <a:spcAft>
                <a:spcPts val="0"/>
              </a:spcAft>
              <a:defRPr sz="1400" b="0">
                <a:solidFill>
                  <a:srgbClr val="61758A"/>
                </a:solidFill>
                <a:latin typeface="Aptos"/>
              </a:defRPr>
            </a:pPr>
            <a:r>
              <a:t>Mentioning Article 53 does not prove every sentence is supported.</a:t>
            </a:r>
          </a:p>
        </p:txBody>
      </p:sp>
      <p:sp>
        <p:nvSpPr>
          <p:cNvPr id="18" name="Rounded Rectangle 17"/>
          <p:cNvSpPr/>
          <p:nvPr/>
        </p:nvSpPr>
        <p:spPr>
          <a:xfrm>
            <a:off x="685800" y="3648456"/>
            <a:ext cx="5349240" cy="1645920"/>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 y="3648456"/>
            <a:ext cx="59436" cy="164592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776472"/>
            <a:ext cx="4937759" cy="384048"/>
          </a:xfrm>
          <a:prstGeom prst="rect">
            <a:avLst/>
          </a:prstGeom>
          <a:noFill/>
        </p:spPr>
        <p:txBody>
          <a:bodyPr wrap="square" lIns="36576" rIns="36576" tIns="13716" bIns="13716" anchor="ctr">
            <a:spAutoFit/>
          </a:bodyPr>
          <a:lstStyle/>
          <a:p>
            <a:pPr>
              <a:spcAft>
                <a:spcPts val="0"/>
              </a:spcAft>
              <a:defRPr sz="1600" b="1">
                <a:solidFill>
                  <a:srgbClr val="10253F"/>
                </a:solidFill>
                <a:latin typeface="Aptos"/>
              </a:defRPr>
            </a:pPr>
            <a:r>
              <a:t>Mixed-run evaluation</a:t>
            </a:r>
          </a:p>
        </p:txBody>
      </p:sp>
      <p:sp>
        <p:nvSpPr>
          <p:cNvPr id="21" name="TextBox 20"/>
          <p:cNvSpPr txBox="1"/>
          <p:nvPr/>
        </p:nvSpPr>
        <p:spPr>
          <a:xfrm>
            <a:off x="886968" y="4242816"/>
            <a:ext cx="4910327" cy="914400"/>
          </a:xfrm>
          <a:prstGeom prst="rect">
            <a:avLst/>
          </a:prstGeom>
          <a:noFill/>
        </p:spPr>
        <p:txBody>
          <a:bodyPr wrap="square" lIns="36576" rIns="36576" tIns="13716" bIns="13716" anchor="t">
            <a:spAutoFit/>
          </a:bodyPr>
          <a:lstStyle/>
          <a:p>
            <a:pPr>
              <a:spcAft>
                <a:spcPts val="0"/>
              </a:spcAft>
              <a:defRPr sz="1400" b="0">
                <a:solidFill>
                  <a:srgbClr val="61758A"/>
                </a:solidFill>
                <a:latin typeface="Aptos"/>
              </a:defRPr>
            </a:pPr>
            <a:r>
              <a:t>Nine cached answers predate the final context-size cap.</a:t>
            </a:r>
          </a:p>
        </p:txBody>
      </p:sp>
      <p:sp>
        <p:nvSpPr>
          <p:cNvPr id="22" name="Rounded Rectangle 21"/>
          <p:cNvSpPr/>
          <p:nvPr/>
        </p:nvSpPr>
        <p:spPr>
          <a:xfrm>
            <a:off x="6309360" y="3648456"/>
            <a:ext cx="5349240" cy="1645920"/>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09360" y="3648456"/>
            <a:ext cx="59436" cy="1645920"/>
          </a:xfrm>
          <a:prstGeom prst="rect">
            <a:avLst/>
          </a:prstGeom>
          <a:solidFill>
            <a:srgbClr val="2B7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10528" y="3776472"/>
            <a:ext cx="4937759" cy="384048"/>
          </a:xfrm>
          <a:prstGeom prst="rect">
            <a:avLst/>
          </a:prstGeom>
          <a:noFill/>
        </p:spPr>
        <p:txBody>
          <a:bodyPr wrap="square" lIns="36576" rIns="36576" tIns="13716" bIns="13716" anchor="ctr">
            <a:spAutoFit/>
          </a:bodyPr>
          <a:lstStyle/>
          <a:p>
            <a:pPr>
              <a:spcAft>
                <a:spcPts val="0"/>
              </a:spcAft>
              <a:defRPr sz="1600" b="1">
                <a:solidFill>
                  <a:srgbClr val="10253F"/>
                </a:solidFill>
                <a:latin typeface="Aptos"/>
              </a:defRPr>
            </a:pPr>
            <a:r>
              <a:t>Context can be truncated</a:t>
            </a:r>
          </a:p>
        </p:txBody>
      </p:sp>
      <p:sp>
        <p:nvSpPr>
          <p:cNvPr id="25" name="TextBox 24"/>
          <p:cNvSpPr txBox="1"/>
          <p:nvPr/>
        </p:nvSpPr>
        <p:spPr>
          <a:xfrm>
            <a:off x="6510528" y="4242816"/>
            <a:ext cx="4910327" cy="914400"/>
          </a:xfrm>
          <a:prstGeom prst="rect">
            <a:avLst/>
          </a:prstGeom>
          <a:noFill/>
        </p:spPr>
        <p:txBody>
          <a:bodyPr wrap="square" lIns="36576" rIns="36576" tIns="13716" bIns="13716" anchor="t">
            <a:spAutoFit/>
          </a:bodyPr>
          <a:lstStyle/>
          <a:p>
            <a:pPr>
              <a:spcAft>
                <a:spcPts val="0"/>
              </a:spcAft>
              <a:defRPr sz="1400" b="0">
                <a:solidFill>
                  <a:srgbClr val="61758A"/>
                </a:solidFill>
                <a:latin typeface="Aptos"/>
              </a:defRPr>
            </a:pPr>
            <a:r>
              <a:t>12,000 characters reduces request size but may omit legal detail.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19456"/>
            <a:ext cx="10881360" cy="219456"/>
          </a:xfrm>
          <a:prstGeom prst="rect">
            <a:avLst/>
          </a:prstGeom>
          <a:noFill/>
        </p:spPr>
        <p:txBody>
          <a:bodyPr wrap="square" lIns="36576" rIns="36576" tIns="13716" bIns="13716" anchor="ctr">
            <a:spAutoFit/>
          </a:bodyPr>
          <a:lstStyle/>
          <a:p>
            <a:pPr>
              <a:spcAft>
                <a:spcPts val="0"/>
              </a:spcAft>
              <a:defRPr sz="1000" b="1">
                <a:solidFill>
                  <a:srgbClr val="00A99D"/>
                </a:solidFill>
                <a:latin typeface="Aptos"/>
              </a:defRPr>
            </a:pPr>
            <a:r>
              <a:t>19 / ROADMAP</a:t>
            </a:r>
          </a:p>
        </p:txBody>
      </p:sp>
      <p:sp>
        <p:nvSpPr>
          <p:cNvPr id="5" name="TextBox 4"/>
          <p:cNvSpPr txBox="1"/>
          <p:nvPr/>
        </p:nvSpPr>
        <p:spPr>
          <a:xfrm>
            <a:off x="502920" y="530352"/>
            <a:ext cx="11201400" cy="557784"/>
          </a:xfrm>
          <a:prstGeom prst="rect">
            <a:avLst/>
          </a:prstGeom>
          <a:noFill/>
        </p:spPr>
        <p:txBody>
          <a:bodyPr wrap="square" lIns="36576" rIns="36576" tIns="13716" bIns="13716" anchor="ctr">
            <a:spAutoFit/>
          </a:bodyPr>
          <a:lstStyle/>
          <a:p>
            <a:pPr>
              <a:spcAft>
                <a:spcPts val="0"/>
              </a:spcAft>
              <a:defRPr sz="2800" b="1">
                <a:solidFill>
                  <a:srgbClr val="10253F"/>
                </a:solidFill>
                <a:latin typeface="Aptos"/>
              </a:defRPr>
            </a:pPr>
            <a:r>
              <a:t>Next iteration: from prototype to trustworthy tool</a:t>
            </a:r>
          </a:p>
        </p:txBody>
      </p:sp>
      <p:sp>
        <p:nvSpPr>
          <p:cNvPr id="6" name="TextBox 5"/>
          <p:cNvSpPr txBox="1"/>
          <p:nvPr/>
        </p:nvSpPr>
        <p:spPr>
          <a:xfrm>
            <a:off x="521207" y="1133856"/>
            <a:ext cx="11064240" cy="393192"/>
          </a:xfrm>
          <a:prstGeom prst="rect">
            <a:avLst/>
          </a:prstGeom>
          <a:noFill/>
        </p:spPr>
        <p:txBody>
          <a:bodyPr wrap="square" lIns="36576" rIns="36576" tIns="13716" bIns="13716" anchor="ctr">
            <a:spAutoFit/>
          </a:bodyPr>
          <a:lstStyle/>
          <a:p>
            <a:pPr>
              <a:spcAft>
                <a:spcPts val="0"/>
              </a:spcAft>
              <a:defRPr sz="1400" b="0">
                <a:solidFill>
                  <a:srgbClr val="61758A"/>
                </a:solidFill>
                <a:latin typeface="Aptos"/>
              </a:defRPr>
            </a:pPr>
            <a:r>
              <a:t>The priority is evaluation quality, then usability.</a:t>
            </a:r>
          </a:p>
        </p:txBody>
      </p:sp>
      <p:sp>
        <p:nvSpPr>
          <p:cNvPr id="7" name="Rectangle 6"/>
          <p:cNvSpPr/>
          <p:nvPr/>
        </p:nvSpPr>
        <p:spPr>
          <a:xfrm>
            <a:off x="502920" y="6556248"/>
            <a:ext cx="11155680" cy="10972"/>
          </a:xfrm>
          <a:prstGeom prst="rect">
            <a:avLst/>
          </a:prstGeom>
          <a:solidFill>
            <a:srgbClr val="DC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0"/>
            <a:ext cx="8229600" cy="155448"/>
          </a:xfrm>
          <a:prstGeom prst="rect">
            <a:avLst/>
          </a:prstGeom>
          <a:noFill/>
        </p:spPr>
        <p:txBody>
          <a:bodyPr wrap="square" lIns="36576" rIns="36576" tIns="13716" bIns="13716" anchor="ctr">
            <a:spAutoFit/>
          </a:bodyPr>
          <a:lstStyle/>
          <a:p>
            <a:pPr>
              <a:spcAft>
                <a:spcPts val="0"/>
              </a:spcAft>
              <a:defRPr sz="800" b="0">
                <a:solidFill>
                  <a:srgbClr val="61758A"/>
                </a:solidFill>
                <a:latin typeface="Aptos"/>
              </a:defRPr>
            </a:pPr>
            <a:r>
              <a:t>EU AI ACT  •  RAG ENGINEERING PORTFOLIO</a:t>
            </a:r>
          </a:p>
        </p:txBody>
      </p:sp>
      <p:sp>
        <p:nvSpPr>
          <p:cNvPr id="9" name="TextBox 8"/>
          <p:cNvSpPr txBox="1"/>
          <p:nvPr/>
        </p:nvSpPr>
        <p:spPr>
          <a:xfrm>
            <a:off x="11082528" y="6565392"/>
            <a:ext cx="502920" cy="201168"/>
          </a:xfrm>
          <a:prstGeom prst="rect">
            <a:avLst/>
          </a:prstGeom>
          <a:noFill/>
        </p:spPr>
        <p:txBody>
          <a:bodyPr wrap="square" lIns="36576" rIns="36576" tIns="13716" bIns="13716" anchor="ctr">
            <a:spAutoFit/>
          </a:bodyPr>
          <a:lstStyle/>
          <a:p>
            <a:pPr algn="r">
              <a:spcAft>
                <a:spcPts val="0"/>
              </a:spcAft>
              <a:defRPr sz="900" b="1">
                <a:solidFill>
                  <a:srgbClr val="61758A"/>
                </a:solidFill>
                <a:latin typeface="Aptos"/>
              </a:defRPr>
            </a:pPr>
            <a:r>
              <a:t>20</a:t>
            </a:r>
          </a:p>
        </p:txBody>
      </p:sp>
      <p:sp>
        <p:nvSpPr>
          <p:cNvPr id="10" name="Rounded Rectangle 9"/>
          <p:cNvSpPr/>
          <p:nvPr/>
        </p:nvSpPr>
        <p:spPr>
          <a:xfrm>
            <a:off x="676656" y="1783080"/>
            <a:ext cx="5330952" cy="1627632"/>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22960" y="1947672"/>
            <a:ext cx="393192" cy="393192"/>
          </a:xfrm>
          <a:prstGeom prst="roundRect">
            <a:avLst>
              <a:gd name="adj" fmla="val 16000"/>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947672"/>
            <a:ext cx="393192" cy="393192"/>
          </a:xfrm>
          <a:prstGeom prst="rect">
            <a:avLst/>
          </a:prstGeom>
          <a:noFill/>
        </p:spPr>
        <p:txBody>
          <a:bodyPr wrap="square" lIns="36576" rIns="36576" tIns="13716" bIns="13716" anchor="ctr">
            <a:spAutoFit/>
          </a:bodyPr>
          <a:lstStyle/>
          <a:p>
            <a:pPr algn="ctr">
              <a:spcAft>
                <a:spcPts val="0"/>
              </a:spcAft>
              <a:defRPr sz="1300" b="1">
                <a:solidFill>
                  <a:srgbClr val="FFFFFF"/>
                </a:solidFill>
                <a:latin typeface="Aptos"/>
              </a:defRPr>
            </a:pPr>
            <a:r>
              <a:t>01</a:t>
            </a:r>
          </a:p>
        </p:txBody>
      </p:sp>
      <p:sp>
        <p:nvSpPr>
          <p:cNvPr id="13" name="TextBox 12"/>
          <p:cNvSpPr txBox="1"/>
          <p:nvPr/>
        </p:nvSpPr>
        <p:spPr>
          <a:xfrm>
            <a:off x="1307592" y="1920240"/>
            <a:ext cx="4553712" cy="347472"/>
          </a:xfrm>
          <a:prstGeom prst="rect">
            <a:avLst/>
          </a:prstGeom>
          <a:noFill/>
        </p:spPr>
        <p:txBody>
          <a:bodyPr wrap="square" lIns="36576" rIns="36576" tIns="13716" bIns="13716" anchor="ctr">
            <a:spAutoFit/>
          </a:bodyPr>
          <a:lstStyle/>
          <a:p>
            <a:pPr>
              <a:spcAft>
                <a:spcPts val="0"/>
              </a:spcAft>
              <a:defRPr sz="1600" b="1">
                <a:solidFill>
                  <a:srgbClr val="10253F"/>
                </a:solidFill>
                <a:latin typeface="Aptos"/>
              </a:defRPr>
            </a:pPr>
            <a:r>
              <a:t>Controlled rerun</a:t>
            </a:r>
          </a:p>
        </p:txBody>
      </p:sp>
      <p:sp>
        <p:nvSpPr>
          <p:cNvPr id="14" name="TextBox 13"/>
          <p:cNvSpPr txBox="1"/>
          <p:nvPr/>
        </p:nvSpPr>
        <p:spPr>
          <a:xfrm>
            <a:off x="841247" y="2423160"/>
            <a:ext cx="5020056" cy="896112"/>
          </a:xfrm>
          <a:prstGeom prst="rect">
            <a:avLst/>
          </a:prstGeom>
          <a:noFill/>
        </p:spPr>
        <p:txBody>
          <a:bodyPr wrap="square" lIns="36576" rIns="36576" tIns="13716" bIns="13716" anchor="t">
            <a:spAutoFit/>
          </a:bodyPr>
          <a:lstStyle/>
          <a:p>
            <a:pPr>
              <a:spcAft>
                <a:spcPts val="0"/>
              </a:spcAft>
              <a:defRPr sz="1200" b="0">
                <a:solidFill>
                  <a:srgbClr val="61758A"/>
                </a:solidFill>
                <a:latin typeface="Aptos"/>
              </a:defRPr>
            </a:pPr>
            <a:r>
              <a:t>Re-evaluate all 12 with one fixed pipeline configuration.</a:t>
            </a:r>
          </a:p>
        </p:txBody>
      </p:sp>
      <p:sp>
        <p:nvSpPr>
          <p:cNvPr id="15" name="Rounded Rectangle 14"/>
          <p:cNvSpPr/>
          <p:nvPr/>
        </p:nvSpPr>
        <p:spPr>
          <a:xfrm>
            <a:off x="6300216" y="1783080"/>
            <a:ext cx="5330952" cy="1627632"/>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46520" y="1947672"/>
            <a:ext cx="393192" cy="393192"/>
          </a:xfrm>
          <a:prstGeom prst="roundRect">
            <a:avLst>
              <a:gd name="adj" fmla="val 16000"/>
            </a:avLst>
          </a:prstGeom>
          <a:solidFill>
            <a:srgbClr val="2B7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1947672"/>
            <a:ext cx="393192" cy="393192"/>
          </a:xfrm>
          <a:prstGeom prst="rect">
            <a:avLst/>
          </a:prstGeom>
          <a:noFill/>
        </p:spPr>
        <p:txBody>
          <a:bodyPr wrap="square" lIns="36576" rIns="36576" tIns="13716" bIns="13716" anchor="ctr">
            <a:spAutoFit/>
          </a:bodyPr>
          <a:lstStyle/>
          <a:p>
            <a:pPr algn="ctr">
              <a:spcAft>
                <a:spcPts val="0"/>
              </a:spcAft>
              <a:defRPr sz="1300" b="1">
                <a:solidFill>
                  <a:srgbClr val="FFFFFF"/>
                </a:solidFill>
                <a:latin typeface="Aptos"/>
              </a:defRPr>
            </a:pPr>
            <a:r>
              <a:t>02</a:t>
            </a:r>
          </a:p>
        </p:txBody>
      </p:sp>
      <p:sp>
        <p:nvSpPr>
          <p:cNvPr id="18" name="TextBox 17"/>
          <p:cNvSpPr txBox="1"/>
          <p:nvPr/>
        </p:nvSpPr>
        <p:spPr>
          <a:xfrm>
            <a:off x="6931152" y="1920240"/>
            <a:ext cx="4553712" cy="347472"/>
          </a:xfrm>
          <a:prstGeom prst="rect">
            <a:avLst/>
          </a:prstGeom>
          <a:noFill/>
        </p:spPr>
        <p:txBody>
          <a:bodyPr wrap="square" lIns="36576" rIns="36576" tIns="13716" bIns="13716" anchor="ctr">
            <a:spAutoFit/>
          </a:bodyPr>
          <a:lstStyle/>
          <a:p>
            <a:pPr>
              <a:spcAft>
                <a:spcPts val="0"/>
              </a:spcAft>
              <a:defRPr sz="1600" b="1">
                <a:solidFill>
                  <a:srgbClr val="10253F"/>
                </a:solidFill>
                <a:latin typeface="Aptos"/>
              </a:defRPr>
            </a:pPr>
            <a:r>
              <a:t>Human answer audit</a:t>
            </a:r>
          </a:p>
        </p:txBody>
      </p:sp>
      <p:sp>
        <p:nvSpPr>
          <p:cNvPr id="19" name="TextBox 18"/>
          <p:cNvSpPr txBox="1"/>
          <p:nvPr/>
        </p:nvSpPr>
        <p:spPr>
          <a:xfrm>
            <a:off x="6464808" y="2423160"/>
            <a:ext cx="5020056" cy="896112"/>
          </a:xfrm>
          <a:prstGeom prst="rect">
            <a:avLst/>
          </a:prstGeom>
          <a:noFill/>
        </p:spPr>
        <p:txBody>
          <a:bodyPr wrap="square" lIns="36576" rIns="36576" tIns="13716" bIns="13716" anchor="t">
            <a:spAutoFit/>
          </a:bodyPr>
          <a:lstStyle/>
          <a:p>
            <a:pPr>
              <a:spcAft>
                <a:spcPts val="0"/>
              </a:spcAft>
              <a:defRPr sz="1200" b="0">
                <a:solidFill>
                  <a:srgbClr val="61758A"/>
                </a:solidFill>
                <a:latin typeface="Aptos"/>
              </a:defRPr>
            </a:pPr>
            <a:r>
              <a:t>Check each claim against the source and mark unsupported statements.</a:t>
            </a:r>
          </a:p>
        </p:txBody>
      </p:sp>
      <p:sp>
        <p:nvSpPr>
          <p:cNvPr id="20" name="Rounded Rectangle 19"/>
          <p:cNvSpPr/>
          <p:nvPr/>
        </p:nvSpPr>
        <p:spPr>
          <a:xfrm>
            <a:off x="676656" y="3648456"/>
            <a:ext cx="5330952" cy="1627632"/>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22960" y="3813048"/>
            <a:ext cx="393192" cy="393192"/>
          </a:xfrm>
          <a:prstGeom prst="roundRect">
            <a:avLst>
              <a:gd name="adj" fmla="val 16000"/>
            </a:avLst>
          </a:prstGeom>
          <a:solidFill>
            <a:srgbClr val="F4B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813048"/>
            <a:ext cx="393192" cy="393192"/>
          </a:xfrm>
          <a:prstGeom prst="rect">
            <a:avLst/>
          </a:prstGeom>
          <a:noFill/>
        </p:spPr>
        <p:txBody>
          <a:bodyPr wrap="square" lIns="36576" rIns="36576" tIns="13716" bIns="13716" anchor="ctr">
            <a:spAutoFit/>
          </a:bodyPr>
          <a:lstStyle/>
          <a:p>
            <a:pPr algn="ctr">
              <a:spcAft>
                <a:spcPts val="0"/>
              </a:spcAft>
              <a:defRPr sz="1300" b="1">
                <a:solidFill>
                  <a:srgbClr val="FFFFFF"/>
                </a:solidFill>
                <a:latin typeface="Aptos"/>
              </a:defRPr>
            </a:pPr>
            <a:r>
              <a:t>03</a:t>
            </a:r>
          </a:p>
        </p:txBody>
      </p:sp>
      <p:sp>
        <p:nvSpPr>
          <p:cNvPr id="23" name="TextBox 22"/>
          <p:cNvSpPr txBox="1"/>
          <p:nvPr/>
        </p:nvSpPr>
        <p:spPr>
          <a:xfrm>
            <a:off x="1307592" y="3785616"/>
            <a:ext cx="4553712" cy="347472"/>
          </a:xfrm>
          <a:prstGeom prst="rect">
            <a:avLst/>
          </a:prstGeom>
          <a:noFill/>
        </p:spPr>
        <p:txBody>
          <a:bodyPr wrap="square" lIns="36576" rIns="36576" tIns="13716" bIns="13716" anchor="ctr">
            <a:spAutoFit/>
          </a:bodyPr>
          <a:lstStyle/>
          <a:p>
            <a:pPr>
              <a:spcAft>
                <a:spcPts val="0"/>
              </a:spcAft>
              <a:defRPr sz="1600" b="1">
                <a:solidFill>
                  <a:srgbClr val="10253F"/>
                </a:solidFill>
                <a:latin typeface="Aptos"/>
              </a:defRPr>
            </a:pPr>
            <a:r>
              <a:t>Better citations</a:t>
            </a:r>
          </a:p>
        </p:txBody>
      </p:sp>
      <p:sp>
        <p:nvSpPr>
          <p:cNvPr id="24" name="TextBox 23"/>
          <p:cNvSpPr txBox="1"/>
          <p:nvPr/>
        </p:nvSpPr>
        <p:spPr>
          <a:xfrm>
            <a:off x="841247" y="4288536"/>
            <a:ext cx="5020056" cy="896112"/>
          </a:xfrm>
          <a:prstGeom prst="rect">
            <a:avLst/>
          </a:prstGeom>
          <a:noFill/>
        </p:spPr>
        <p:txBody>
          <a:bodyPr wrap="square" lIns="36576" rIns="36576" tIns="13716" bIns="13716" anchor="t">
            <a:spAutoFit/>
          </a:bodyPr>
          <a:lstStyle/>
          <a:p>
            <a:pPr>
              <a:spcAft>
                <a:spcPts val="0"/>
              </a:spcAft>
              <a:defRPr sz="1200" b="0">
                <a:solidFill>
                  <a:srgbClr val="61758A"/>
                </a:solidFill>
                <a:latin typeface="Aptos"/>
              </a:defRPr>
            </a:pPr>
            <a:r>
              <a:t>Link to exact Article text and show supporting excerpts.</a:t>
            </a:r>
          </a:p>
        </p:txBody>
      </p:sp>
      <p:sp>
        <p:nvSpPr>
          <p:cNvPr id="25" name="Rounded Rectangle 24"/>
          <p:cNvSpPr/>
          <p:nvPr/>
        </p:nvSpPr>
        <p:spPr>
          <a:xfrm>
            <a:off x="6300216" y="3648456"/>
            <a:ext cx="5330952" cy="1627632"/>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46520" y="3813048"/>
            <a:ext cx="393192" cy="393192"/>
          </a:xfrm>
          <a:prstGeom prst="roundRect">
            <a:avLst>
              <a:gd name="adj" fmla="val 16000"/>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3813048"/>
            <a:ext cx="393192" cy="393192"/>
          </a:xfrm>
          <a:prstGeom prst="rect">
            <a:avLst/>
          </a:prstGeom>
          <a:noFill/>
        </p:spPr>
        <p:txBody>
          <a:bodyPr wrap="square" lIns="36576" rIns="36576" tIns="13716" bIns="13716" anchor="ctr">
            <a:spAutoFit/>
          </a:bodyPr>
          <a:lstStyle/>
          <a:p>
            <a:pPr algn="ctr">
              <a:spcAft>
                <a:spcPts val="0"/>
              </a:spcAft>
              <a:defRPr sz="1300" b="1">
                <a:solidFill>
                  <a:srgbClr val="FFFFFF"/>
                </a:solidFill>
                <a:latin typeface="Aptos"/>
              </a:defRPr>
            </a:pPr>
            <a:r>
              <a:t>04</a:t>
            </a:r>
          </a:p>
        </p:txBody>
      </p:sp>
      <p:sp>
        <p:nvSpPr>
          <p:cNvPr id="28" name="TextBox 27"/>
          <p:cNvSpPr txBox="1"/>
          <p:nvPr/>
        </p:nvSpPr>
        <p:spPr>
          <a:xfrm>
            <a:off x="6931152" y="3785616"/>
            <a:ext cx="4553712" cy="347472"/>
          </a:xfrm>
          <a:prstGeom prst="rect">
            <a:avLst/>
          </a:prstGeom>
          <a:noFill/>
        </p:spPr>
        <p:txBody>
          <a:bodyPr wrap="square" lIns="36576" rIns="36576" tIns="13716" bIns="13716" anchor="ctr">
            <a:spAutoFit/>
          </a:bodyPr>
          <a:lstStyle/>
          <a:p>
            <a:pPr>
              <a:spcAft>
                <a:spcPts val="0"/>
              </a:spcAft>
              <a:defRPr sz="1600" b="1">
                <a:solidFill>
                  <a:srgbClr val="10253F"/>
                </a:solidFill>
                <a:latin typeface="Aptos"/>
              </a:defRPr>
            </a:pPr>
            <a:r>
              <a:t>Simple web UI</a:t>
            </a:r>
          </a:p>
        </p:txBody>
      </p:sp>
      <p:sp>
        <p:nvSpPr>
          <p:cNvPr id="29" name="TextBox 28"/>
          <p:cNvSpPr txBox="1"/>
          <p:nvPr/>
        </p:nvSpPr>
        <p:spPr>
          <a:xfrm>
            <a:off x="6464808" y="4288536"/>
            <a:ext cx="5020056" cy="896112"/>
          </a:xfrm>
          <a:prstGeom prst="rect">
            <a:avLst/>
          </a:prstGeom>
          <a:noFill/>
        </p:spPr>
        <p:txBody>
          <a:bodyPr wrap="square" lIns="36576" rIns="36576" tIns="13716" bIns="13716" anchor="t">
            <a:spAutoFit/>
          </a:bodyPr>
          <a:lstStyle/>
          <a:p>
            <a:pPr>
              <a:spcAft>
                <a:spcPts val="0"/>
              </a:spcAft>
              <a:defRPr sz="1200" b="0">
                <a:solidFill>
                  <a:srgbClr val="61758A"/>
                </a:solidFill>
                <a:latin typeface="Aptos"/>
              </a:defRPr>
            </a:pPr>
            <a:r>
              <a:t>Optional interface for nontechnical users after quality checks.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04672" y="822960"/>
            <a:ext cx="2139696" cy="329184"/>
          </a:xfrm>
          <a:prstGeom prst="roundRect">
            <a:avLst>
              <a:gd name="adj" fmla="val 16000"/>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0392" y="836676"/>
            <a:ext cx="2048255" cy="292608"/>
          </a:xfrm>
          <a:prstGeom prst="rect">
            <a:avLst/>
          </a:prstGeom>
          <a:noFill/>
        </p:spPr>
        <p:txBody>
          <a:bodyPr wrap="square" lIns="36576" rIns="36576" tIns="13716" bIns="13716" anchor="ctr">
            <a:spAutoFit/>
          </a:bodyPr>
          <a:lstStyle/>
          <a:p>
            <a:pPr algn="ctr">
              <a:spcAft>
                <a:spcPts val="0"/>
              </a:spcAft>
              <a:defRPr sz="1000" b="1">
                <a:solidFill>
                  <a:srgbClr val="FFFFFF"/>
                </a:solidFill>
                <a:latin typeface="Aptos"/>
              </a:defRPr>
            </a:pPr>
            <a:r>
              <a:t>INTERVIEW TAKEAWAY</a:t>
            </a:r>
          </a:p>
        </p:txBody>
      </p:sp>
      <p:sp>
        <p:nvSpPr>
          <p:cNvPr id="5" name="TextBox 4"/>
          <p:cNvSpPr txBox="1"/>
          <p:nvPr/>
        </p:nvSpPr>
        <p:spPr>
          <a:xfrm>
            <a:off x="822960" y="1472184"/>
            <a:ext cx="10607040" cy="1572768"/>
          </a:xfrm>
          <a:prstGeom prst="rect">
            <a:avLst/>
          </a:prstGeom>
          <a:noFill/>
        </p:spPr>
        <p:txBody>
          <a:bodyPr wrap="square" lIns="36576" rIns="36576" tIns="13716" bIns="13716" anchor="t">
            <a:spAutoFit/>
          </a:bodyPr>
          <a:lstStyle/>
          <a:p>
            <a:pPr>
              <a:spcAft>
                <a:spcPts val="0"/>
              </a:spcAft>
              <a:defRPr sz="3600" b="1">
                <a:solidFill>
                  <a:srgbClr val="FFFFFF"/>
                </a:solidFill>
                <a:latin typeface="Aptos"/>
              </a:defRPr>
            </a:pPr>
            <a:r>
              <a:t>I built, tested and debugged</a:t>
            </a:r>
          </a:p>
          <a:p>
            <a:pPr>
              <a:spcAft>
                <a:spcPts val="0"/>
              </a:spcAft>
              <a:defRPr sz="3600" b="1">
                <a:solidFill>
                  <a:srgbClr val="FFFFFF"/>
                </a:solidFill>
                <a:latin typeface="Aptos"/>
              </a:defRPr>
            </a:pPr>
            <a:r>
              <a:t>an end-to-end RAG system.</a:t>
            </a:r>
          </a:p>
        </p:txBody>
      </p:sp>
      <p:sp>
        <p:nvSpPr>
          <p:cNvPr id="6" name="Rounded Rectangle 5"/>
          <p:cNvSpPr/>
          <p:nvPr/>
        </p:nvSpPr>
        <p:spPr>
          <a:xfrm>
            <a:off x="822960" y="3822191"/>
            <a:ext cx="2606040" cy="1307592"/>
          </a:xfrm>
          <a:prstGeom prst="roundRect">
            <a:avLst>
              <a:gd name="adj" fmla="val 16000"/>
            </a:avLst>
          </a:prstGeom>
          <a:solidFill>
            <a:srgbClr val="183552"/>
          </a:solidFill>
          <a:ln w="12700">
            <a:solidFill>
              <a:srgbClr val="2E51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986784"/>
            <a:ext cx="2331720" cy="283464"/>
          </a:xfrm>
          <a:prstGeom prst="rect">
            <a:avLst/>
          </a:prstGeom>
          <a:noFill/>
        </p:spPr>
        <p:txBody>
          <a:bodyPr wrap="square" lIns="36576" rIns="36576" tIns="13716" bIns="13716" anchor="ctr">
            <a:spAutoFit/>
          </a:bodyPr>
          <a:lstStyle/>
          <a:p>
            <a:pPr>
              <a:spcAft>
                <a:spcPts val="0"/>
              </a:spcAft>
              <a:defRPr sz="1200" b="1">
                <a:solidFill>
                  <a:srgbClr val="48C9C3"/>
                </a:solidFill>
                <a:latin typeface="Aptos"/>
              </a:defRPr>
            </a:pPr>
            <a:r>
              <a:t>DATA</a:t>
            </a:r>
          </a:p>
        </p:txBody>
      </p:sp>
      <p:sp>
        <p:nvSpPr>
          <p:cNvPr id="8" name="TextBox 7"/>
          <p:cNvSpPr txBox="1"/>
          <p:nvPr/>
        </p:nvSpPr>
        <p:spPr>
          <a:xfrm>
            <a:off x="960120" y="4398264"/>
            <a:ext cx="2331720" cy="566928"/>
          </a:xfrm>
          <a:prstGeom prst="rect">
            <a:avLst/>
          </a:prstGeom>
          <a:noFill/>
        </p:spPr>
        <p:txBody>
          <a:bodyPr wrap="square" lIns="36576" rIns="36576" tIns="13716" bIns="13716" anchor="ctr">
            <a:spAutoFit/>
          </a:bodyPr>
          <a:lstStyle/>
          <a:p>
            <a:pPr>
              <a:spcAft>
                <a:spcPts val="0"/>
              </a:spcAft>
              <a:defRPr sz="1300" b="0">
                <a:solidFill>
                  <a:srgbClr val="FFFFFF"/>
                </a:solidFill>
                <a:latin typeface="Aptos"/>
              </a:defRPr>
            </a:pPr>
            <a:r>
              <a:t>PDF → clean text → 160 chunks</a:t>
            </a:r>
          </a:p>
        </p:txBody>
      </p:sp>
      <p:sp>
        <p:nvSpPr>
          <p:cNvPr id="9" name="Rounded Rectangle 8"/>
          <p:cNvSpPr/>
          <p:nvPr/>
        </p:nvSpPr>
        <p:spPr>
          <a:xfrm>
            <a:off x="3639312" y="3822191"/>
            <a:ext cx="2606040" cy="1307592"/>
          </a:xfrm>
          <a:prstGeom prst="roundRect">
            <a:avLst>
              <a:gd name="adj" fmla="val 16000"/>
            </a:avLst>
          </a:prstGeom>
          <a:solidFill>
            <a:srgbClr val="183552"/>
          </a:solidFill>
          <a:ln w="12700">
            <a:solidFill>
              <a:srgbClr val="2E51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76472" y="3986784"/>
            <a:ext cx="2331720" cy="283464"/>
          </a:xfrm>
          <a:prstGeom prst="rect">
            <a:avLst/>
          </a:prstGeom>
          <a:noFill/>
        </p:spPr>
        <p:txBody>
          <a:bodyPr wrap="square" lIns="36576" rIns="36576" tIns="13716" bIns="13716" anchor="ctr">
            <a:spAutoFit/>
          </a:bodyPr>
          <a:lstStyle/>
          <a:p>
            <a:pPr>
              <a:spcAft>
                <a:spcPts val="0"/>
              </a:spcAft>
              <a:defRPr sz="1200" b="1">
                <a:solidFill>
                  <a:srgbClr val="48C9C3"/>
                </a:solidFill>
                <a:latin typeface="Aptos"/>
              </a:defRPr>
            </a:pPr>
            <a:r>
              <a:t>RETRIEVAL</a:t>
            </a:r>
          </a:p>
        </p:txBody>
      </p:sp>
      <p:sp>
        <p:nvSpPr>
          <p:cNvPr id="11" name="TextBox 10"/>
          <p:cNvSpPr txBox="1"/>
          <p:nvPr/>
        </p:nvSpPr>
        <p:spPr>
          <a:xfrm>
            <a:off x="3776472" y="4398264"/>
            <a:ext cx="2331720" cy="566928"/>
          </a:xfrm>
          <a:prstGeom prst="rect">
            <a:avLst/>
          </a:prstGeom>
          <a:noFill/>
        </p:spPr>
        <p:txBody>
          <a:bodyPr wrap="square" lIns="36576" rIns="36576" tIns="13716" bIns="13716" anchor="ctr">
            <a:spAutoFit/>
          </a:bodyPr>
          <a:lstStyle/>
          <a:p>
            <a:pPr>
              <a:spcAft>
                <a:spcPts val="0"/>
              </a:spcAft>
              <a:defRPr sz="1300" b="0">
                <a:solidFill>
                  <a:srgbClr val="FFFFFF"/>
                </a:solidFill>
                <a:latin typeface="Aptos"/>
              </a:defRPr>
            </a:pPr>
            <a:r>
              <a:t>BGE → FAISS → expanded context</a:t>
            </a:r>
          </a:p>
        </p:txBody>
      </p:sp>
      <p:sp>
        <p:nvSpPr>
          <p:cNvPr id="12" name="Rounded Rectangle 11"/>
          <p:cNvSpPr/>
          <p:nvPr/>
        </p:nvSpPr>
        <p:spPr>
          <a:xfrm>
            <a:off x="6455664" y="3822191"/>
            <a:ext cx="2606040" cy="1307592"/>
          </a:xfrm>
          <a:prstGeom prst="roundRect">
            <a:avLst>
              <a:gd name="adj" fmla="val 16000"/>
            </a:avLst>
          </a:prstGeom>
          <a:solidFill>
            <a:srgbClr val="183552"/>
          </a:solidFill>
          <a:ln w="12700">
            <a:solidFill>
              <a:srgbClr val="2E51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2824" y="3986784"/>
            <a:ext cx="2331720" cy="283464"/>
          </a:xfrm>
          <a:prstGeom prst="rect">
            <a:avLst/>
          </a:prstGeom>
          <a:noFill/>
        </p:spPr>
        <p:txBody>
          <a:bodyPr wrap="square" lIns="36576" rIns="36576" tIns="13716" bIns="13716" anchor="ctr">
            <a:spAutoFit/>
          </a:bodyPr>
          <a:lstStyle/>
          <a:p>
            <a:pPr>
              <a:spcAft>
                <a:spcPts val="0"/>
              </a:spcAft>
              <a:defRPr sz="1200" b="1">
                <a:solidFill>
                  <a:srgbClr val="48C9C3"/>
                </a:solidFill>
                <a:latin typeface="Aptos"/>
              </a:defRPr>
            </a:pPr>
            <a:r>
              <a:t>GENERATION</a:t>
            </a:r>
          </a:p>
        </p:txBody>
      </p:sp>
      <p:sp>
        <p:nvSpPr>
          <p:cNvPr id="14" name="TextBox 13"/>
          <p:cNvSpPr txBox="1"/>
          <p:nvPr/>
        </p:nvSpPr>
        <p:spPr>
          <a:xfrm>
            <a:off x="6592824" y="4398264"/>
            <a:ext cx="2331720" cy="566928"/>
          </a:xfrm>
          <a:prstGeom prst="rect">
            <a:avLst/>
          </a:prstGeom>
          <a:noFill/>
        </p:spPr>
        <p:txBody>
          <a:bodyPr wrap="square" lIns="36576" rIns="36576" tIns="13716" bIns="13716" anchor="ctr">
            <a:spAutoFit/>
          </a:bodyPr>
          <a:lstStyle/>
          <a:p>
            <a:pPr>
              <a:spcAft>
                <a:spcPts val="0"/>
              </a:spcAft>
              <a:defRPr sz="1300" b="0">
                <a:solidFill>
                  <a:srgbClr val="FFFFFF"/>
                </a:solidFill>
                <a:latin typeface="Aptos"/>
              </a:defRPr>
            </a:pPr>
            <a:r>
              <a:t>Groq → Article-grounded answer</a:t>
            </a:r>
          </a:p>
        </p:txBody>
      </p:sp>
      <p:sp>
        <p:nvSpPr>
          <p:cNvPr id="15" name="Rounded Rectangle 14"/>
          <p:cNvSpPr/>
          <p:nvPr/>
        </p:nvSpPr>
        <p:spPr>
          <a:xfrm>
            <a:off x="9272016" y="3822191"/>
            <a:ext cx="2606040" cy="1307592"/>
          </a:xfrm>
          <a:prstGeom prst="roundRect">
            <a:avLst>
              <a:gd name="adj" fmla="val 16000"/>
            </a:avLst>
          </a:prstGeom>
          <a:solidFill>
            <a:srgbClr val="183552"/>
          </a:solidFill>
          <a:ln w="12700">
            <a:solidFill>
              <a:srgbClr val="2E51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09176" y="3986784"/>
            <a:ext cx="2331720" cy="283464"/>
          </a:xfrm>
          <a:prstGeom prst="rect">
            <a:avLst/>
          </a:prstGeom>
          <a:noFill/>
        </p:spPr>
        <p:txBody>
          <a:bodyPr wrap="square" lIns="36576" rIns="36576" tIns="13716" bIns="13716" anchor="ctr">
            <a:spAutoFit/>
          </a:bodyPr>
          <a:lstStyle/>
          <a:p>
            <a:pPr>
              <a:spcAft>
                <a:spcPts val="0"/>
              </a:spcAft>
              <a:defRPr sz="1200" b="1">
                <a:solidFill>
                  <a:srgbClr val="48C9C3"/>
                </a:solidFill>
                <a:latin typeface="Aptos"/>
              </a:defRPr>
            </a:pPr>
            <a:r>
              <a:t>EVALUATION</a:t>
            </a:r>
          </a:p>
        </p:txBody>
      </p:sp>
      <p:sp>
        <p:nvSpPr>
          <p:cNvPr id="17" name="TextBox 16"/>
          <p:cNvSpPr txBox="1"/>
          <p:nvPr/>
        </p:nvSpPr>
        <p:spPr>
          <a:xfrm>
            <a:off x="9409176" y="4398264"/>
            <a:ext cx="2331720" cy="566928"/>
          </a:xfrm>
          <a:prstGeom prst="rect">
            <a:avLst/>
          </a:prstGeom>
          <a:noFill/>
        </p:spPr>
        <p:txBody>
          <a:bodyPr wrap="square" lIns="36576" rIns="36576" tIns="13716" bIns="13716" anchor="ctr">
            <a:spAutoFit/>
          </a:bodyPr>
          <a:lstStyle/>
          <a:p>
            <a:pPr>
              <a:spcAft>
                <a:spcPts val="0"/>
              </a:spcAft>
              <a:defRPr sz="1300" b="0">
                <a:solidFill>
                  <a:srgbClr val="FFFFFF"/>
                </a:solidFill>
                <a:latin typeface="Aptos"/>
              </a:defRPr>
            </a:pPr>
            <a:r>
              <a:t>Hit@K + context and mention checks</a:t>
            </a:r>
          </a:p>
        </p:txBody>
      </p:sp>
      <p:sp>
        <p:nvSpPr>
          <p:cNvPr id="18" name="TextBox 17"/>
          <p:cNvSpPr txBox="1"/>
          <p:nvPr/>
        </p:nvSpPr>
        <p:spPr>
          <a:xfrm>
            <a:off x="841248" y="6035040"/>
            <a:ext cx="10607040" cy="329184"/>
          </a:xfrm>
          <a:prstGeom prst="rect">
            <a:avLst/>
          </a:prstGeom>
          <a:noFill/>
        </p:spPr>
        <p:txBody>
          <a:bodyPr wrap="square" lIns="36576" rIns="36576" tIns="13716" bIns="13716" anchor="ctr">
            <a:spAutoFit/>
          </a:bodyPr>
          <a:lstStyle/>
          <a:p>
            <a:pPr>
              <a:spcAft>
                <a:spcPts val="0"/>
              </a:spcAft>
              <a:defRPr sz="1500" b="0">
                <a:solidFill>
                  <a:srgbClr val="B8D2E0"/>
                </a:solidFill>
                <a:latin typeface="Aptos"/>
              </a:defRPr>
            </a:pPr>
            <a:r>
              <a:t>Project repository: github.com/SaurabRauniyar/eu-ai-act-rag-assistant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19456"/>
            <a:ext cx="10881360" cy="219456"/>
          </a:xfrm>
          <a:prstGeom prst="rect">
            <a:avLst/>
          </a:prstGeom>
          <a:noFill/>
        </p:spPr>
        <p:txBody>
          <a:bodyPr wrap="square" lIns="36576" rIns="36576" tIns="13716" bIns="13716" anchor="ctr">
            <a:spAutoFit/>
          </a:bodyPr>
          <a:lstStyle/>
          <a:p>
            <a:pPr>
              <a:spcAft>
                <a:spcPts val="0"/>
              </a:spcAft>
              <a:defRPr sz="1000" b="1">
                <a:solidFill>
                  <a:srgbClr val="00A99D"/>
                </a:solidFill>
                <a:latin typeface="Aptos"/>
              </a:defRPr>
            </a:pPr>
            <a:r>
              <a:t>BACKUP / REPRODUCIBILITY</a:t>
            </a:r>
          </a:p>
        </p:txBody>
      </p:sp>
      <p:sp>
        <p:nvSpPr>
          <p:cNvPr id="5" name="TextBox 4"/>
          <p:cNvSpPr txBox="1"/>
          <p:nvPr/>
        </p:nvSpPr>
        <p:spPr>
          <a:xfrm>
            <a:off x="502920" y="530352"/>
            <a:ext cx="11201400" cy="557784"/>
          </a:xfrm>
          <a:prstGeom prst="rect">
            <a:avLst/>
          </a:prstGeom>
          <a:noFill/>
        </p:spPr>
        <p:txBody>
          <a:bodyPr wrap="square" lIns="36576" rIns="36576" tIns="13716" bIns="13716" anchor="ctr">
            <a:spAutoFit/>
          </a:bodyPr>
          <a:lstStyle/>
          <a:p>
            <a:pPr>
              <a:spcAft>
                <a:spcPts val="0"/>
              </a:spcAft>
              <a:defRPr sz="2800" b="1">
                <a:solidFill>
                  <a:srgbClr val="10253F"/>
                </a:solidFill>
                <a:latin typeface="Aptos"/>
              </a:defRPr>
            </a:pPr>
            <a:r>
              <a:t>Appendix  |  Repository map</a:t>
            </a:r>
          </a:p>
        </p:txBody>
      </p:sp>
      <p:sp>
        <p:nvSpPr>
          <p:cNvPr id="6" name="TextBox 5"/>
          <p:cNvSpPr txBox="1"/>
          <p:nvPr/>
        </p:nvSpPr>
        <p:spPr>
          <a:xfrm>
            <a:off x="521207" y="1133856"/>
            <a:ext cx="11064240" cy="393192"/>
          </a:xfrm>
          <a:prstGeom prst="rect">
            <a:avLst/>
          </a:prstGeom>
          <a:noFill/>
        </p:spPr>
        <p:txBody>
          <a:bodyPr wrap="square" lIns="36576" rIns="36576" tIns="13716" bIns="13716" anchor="ctr">
            <a:spAutoFit/>
          </a:bodyPr>
          <a:lstStyle/>
          <a:p>
            <a:pPr>
              <a:spcAft>
                <a:spcPts val="0"/>
              </a:spcAft>
              <a:defRPr sz="1400" b="0">
                <a:solidFill>
                  <a:srgbClr val="61758A"/>
                </a:solidFill>
                <a:latin typeface="Aptos"/>
              </a:defRPr>
            </a:pPr>
            <a:r>
              <a:t>Core scripts are included for a reproducible local demonstration.</a:t>
            </a:r>
          </a:p>
        </p:txBody>
      </p:sp>
      <p:sp>
        <p:nvSpPr>
          <p:cNvPr id="7" name="Rectangle 6"/>
          <p:cNvSpPr/>
          <p:nvPr/>
        </p:nvSpPr>
        <p:spPr>
          <a:xfrm>
            <a:off x="502920" y="6556248"/>
            <a:ext cx="11155680" cy="10972"/>
          </a:xfrm>
          <a:prstGeom prst="rect">
            <a:avLst/>
          </a:prstGeom>
          <a:solidFill>
            <a:srgbClr val="DC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0"/>
            <a:ext cx="8229600" cy="155448"/>
          </a:xfrm>
          <a:prstGeom prst="rect">
            <a:avLst/>
          </a:prstGeom>
          <a:noFill/>
        </p:spPr>
        <p:txBody>
          <a:bodyPr wrap="square" lIns="36576" rIns="36576" tIns="13716" bIns="13716" anchor="ctr">
            <a:spAutoFit/>
          </a:bodyPr>
          <a:lstStyle/>
          <a:p>
            <a:pPr>
              <a:spcAft>
                <a:spcPts val="0"/>
              </a:spcAft>
              <a:defRPr sz="800" b="0">
                <a:solidFill>
                  <a:srgbClr val="61758A"/>
                </a:solidFill>
                <a:latin typeface="Aptos"/>
              </a:defRPr>
            </a:pPr>
            <a:r>
              <a:t>EU AI ACT  •  RAG ENGINEERING PORTFOLIO</a:t>
            </a:r>
          </a:p>
        </p:txBody>
      </p:sp>
      <p:sp>
        <p:nvSpPr>
          <p:cNvPr id="9" name="TextBox 8"/>
          <p:cNvSpPr txBox="1"/>
          <p:nvPr/>
        </p:nvSpPr>
        <p:spPr>
          <a:xfrm>
            <a:off x="11082528" y="6565392"/>
            <a:ext cx="502920" cy="201168"/>
          </a:xfrm>
          <a:prstGeom prst="rect">
            <a:avLst/>
          </a:prstGeom>
          <a:noFill/>
        </p:spPr>
        <p:txBody>
          <a:bodyPr wrap="square" lIns="36576" rIns="36576" tIns="13716" bIns="13716" anchor="ctr">
            <a:spAutoFit/>
          </a:bodyPr>
          <a:lstStyle/>
          <a:p>
            <a:pPr algn="r">
              <a:spcAft>
                <a:spcPts val="0"/>
              </a:spcAft>
              <a:defRPr sz="900" b="1">
                <a:solidFill>
                  <a:srgbClr val="61758A"/>
                </a:solidFill>
                <a:latin typeface="Aptos"/>
              </a:defRPr>
            </a:pPr>
            <a:r>
              <a:t>22</a:t>
            </a:r>
          </a:p>
        </p:txBody>
      </p:sp>
      <p:sp>
        <p:nvSpPr>
          <p:cNvPr id="10" name="Rounded Rectangle 9"/>
          <p:cNvSpPr/>
          <p:nvPr/>
        </p:nvSpPr>
        <p:spPr>
          <a:xfrm>
            <a:off x="740664" y="1700784"/>
            <a:ext cx="10744200" cy="530352"/>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1783080"/>
            <a:ext cx="4572000" cy="356616"/>
          </a:xfrm>
          <a:prstGeom prst="rect">
            <a:avLst/>
          </a:prstGeom>
          <a:noFill/>
        </p:spPr>
        <p:txBody>
          <a:bodyPr wrap="square" lIns="36576" rIns="36576" tIns="13716" bIns="13716" anchor="ctr">
            <a:spAutoFit/>
          </a:bodyPr>
          <a:lstStyle/>
          <a:p>
            <a:pPr>
              <a:spcAft>
                <a:spcPts val="0"/>
              </a:spcAft>
              <a:defRPr sz="1400" b="1">
                <a:solidFill>
                  <a:srgbClr val="10253F"/>
                </a:solidFill>
                <a:latin typeface="Aptos Mono"/>
              </a:defRPr>
            </a:pPr>
            <a:r>
              <a:t>src/text_extraction.py</a:t>
            </a:r>
          </a:p>
        </p:txBody>
      </p:sp>
      <p:sp>
        <p:nvSpPr>
          <p:cNvPr id="12" name="TextBox 11"/>
          <p:cNvSpPr txBox="1"/>
          <p:nvPr/>
        </p:nvSpPr>
        <p:spPr>
          <a:xfrm>
            <a:off x="5669280" y="1783080"/>
            <a:ext cx="5486400" cy="356616"/>
          </a:xfrm>
          <a:prstGeom prst="rect">
            <a:avLst/>
          </a:prstGeom>
          <a:noFill/>
        </p:spPr>
        <p:txBody>
          <a:bodyPr wrap="square" lIns="36576" rIns="36576" tIns="13716" bIns="13716" anchor="ctr">
            <a:spAutoFit/>
          </a:bodyPr>
          <a:lstStyle/>
          <a:p>
            <a:pPr>
              <a:spcAft>
                <a:spcPts val="0"/>
              </a:spcAft>
              <a:defRPr sz="1400" b="0">
                <a:solidFill>
                  <a:srgbClr val="61758A"/>
                </a:solidFill>
                <a:latin typeface="Aptos"/>
              </a:defRPr>
            </a:pPr>
            <a:r>
              <a:t>PDF → text with PyMuPDF</a:t>
            </a:r>
          </a:p>
        </p:txBody>
      </p:sp>
      <p:sp>
        <p:nvSpPr>
          <p:cNvPr id="13" name="Rounded Rectangle 12"/>
          <p:cNvSpPr/>
          <p:nvPr/>
        </p:nvSpPr>
        <p:spPr>
          <a:xfrm>
            <a:off x="740664" y="2359152"/>
            <a:ext cx="10744200" cy="530352"/>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2441448"/>
            <a:ext cx="4572000" cy="356616"/>
          </a:xfrm>
          <a:prstGeom prst="rect">
            <a:avLst/>
          </a:prstGeom>
          <a:noFill/>
        </p:spPr>
        <p:txBody>
          <a:bodyPr wrap="square" lIns="36576" rIns="36576" tIns="13716" bIns="13716" anchor="ctr">
            <a:spAutoFit/>
          </a:bodyPr>
          <a:lstStyle/>
          <a:p>
            <a:pPr>
              <a:spcAft>
                <a:spcPts val="0"/>
              </a:spcAft>
              <a:defRPr sz="1400" b="1">
                <a:solidFill>
                  <a:srgbClr val="10253F"/>
                </a:solidFill>
                <a:latin typeface="Aptos Mono"/>
              </a:defRPr>
            </a:pPr>
            <a:r>
              <a:t>src/text_cleaning.py</a:t>
            </a:r>
          </a:p>
        </p:txBody>
      </p:sp>
      <p:sp>
        <p:nvSpPr>
          <p:cNvPr id="15" name="TextBox 14"/>
          <p:cNvSpPr txBox="1"/>
          <p:nvPr/>
        </p:nvSpPr>
        <p:spPr>
          <a:xfrm>
            <a:off x="5669280" y="2441448"/>
            <a:ext cx="5486400" cy="356616"/>
          </a:xfrm>
          <a:prstGeom prst="rect">
            <a:avLst/>
          </a:prstGeom>
          <a:noFill/>
        </p:spPr>
        <p:txBody>
          <a:bodyPr wrap="square" lIns="36576" rIns="36576" tIns="13716" bIns="13716" anchor="ctr">
            <a:spAutoFit/>
          </a:bodyPr>
          <a:lstStyle/>
          <a:p>
            <a:pPr>
              <a:spcAft>
                <a:spcPts val="0"/>
              </a:spcAft>
              <a:defRPr sz="1400" b="0">
                <a:solidFill>
                  <a:srgbClr val="61758A"/>
                </a:solidFill>
                <a:latin typeface="Aptos"/>
              </a:defRPr>
            </a:pPr>
            <a:r>
              <a:t>Clean formatting artefacts</a:t>
            </a:r>
          </a:p>
        </p:txBody>
      </p:sp>
      <p:sp>
        <p:nvSpPr>
          <p:cNvPr id="16" name="Rounded Rectangle 15"/>
          <p:cNvSpPr/>
          <p:nvPr/>
        </p:nvSpPr>
        <p:spPr>
          <a:xfrm>
            <a:off x="740664" y="3017520"/>
            <a:ext cx="10744200" cy="530352"/>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1832" y="3099815"/>
            <a:ext cx="4572000" cy="356616"/>
          </a:xfrm>
          <a:prstGeom prst="rect">
            <a:avLst/>
          </a:prstGeom>
          <a:noFill/>
        </p:spPr>
        <p:txBody>
          <a:bodyPr wrap="square" lIns="36576" rIns="36576" tIns="13716" bIns="13716" anchor="ctr">
            <a:spAutoFit/>
          </a:bodyPr>
          <a:lstStyle/>
          <a:p>
            <a:pPr>
              <a:spcAft>
                <a:spcPts val="0"/>
              </a:spcAft>
              <a:defRPr sz="1400" b="1">
                <a:solidFill>
                  <a:srgbClr val="10253F"/>
                </a:solidFill>
                <a:latin typeface="Aptos Mono"/>
              </a:defRPr>
            </a:pPr>
            <a:r>
              <a:t>src/text_chunking.py</a:t>
            </a:r>
          </a:p>
        </p:txBody>
      </p:sp>
      <p:sp>
        <p:nvSpPr>
          <p:cNvPr id="18" name="TextBox 17"/>
          <p:cNvSpPr txBox="1"/>
          <p:nvPr/>
        </p:nvSpPr>
        <p:spPr>
          <a:xfrm>
            <a:off x="5669280" y="3099815"/>
            <a:ext cx="5486400" cy="356616"/>
          </a:xfrm>
          <a:prstGeom prst="rect">
            <a:avLst/>
          </a:prstGeom>
          <a:noFill/>
        </p:spPr>
        <p:txBody>
          <a:bodyPr wrap="square" lIns="36576" rIns="36576" tIns="13716" bIns="13716" anchor="ctr">
            <a:spAutoFit/>
          </a:bodyPr>
          <a:lstStyle/>
          <a:p>
            <a:pPr>
              <a:spcAft>
                <a:spcPts val="0"/>
              </a:spcAft>
              <a:defRPr sz="1400" b="0">
                <a:solidFill>
                  <a:srgbClr val="61758A"/>
                </a:solidFill>
                <a:latin typeface="Aptos"/>
              </a:defRPr>
            </a:pPr>
            <a:r>
              <a:t>Article / Annex-aware chunks</a:t>
            </a:r>
          </a:p>
        </p:txBody>
      </p:sp>
      <p:sp>
        <p:nvSpPr>
          <p:cNvPr id="19" name="Rounded Rectangle 18"/>
          <p:cNvSpPr/>
          <p:nvPr/>
        </p:nvSpPr>
        <p:spPr>
          <a:xfrm>
            <a:off x="740664" y="3675888"/>
            <a:ext cx="10744200" cy="530352"/>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1832" y="3758184"/>
            <a:ext cx="4572000" cy="356616"/>
          </a:xfrm>
          <a:prstGeom prst="rect">
            <a:avLst/>
          </a:prstGeom>
          <a:noFill/>
        </p:spPr>
        <p:txBody>
          <a:bodyPr wrap="square" lIns="36576" rIns="36576" tIns="13716" bIns="13716" anchor="ctr">
            <a:spAutoFit/>
          </a:bodyPr>
          <a:lstStyle/>
          <a:p>
            <a:pPr>
              <a:spcAft>
                <a:spcPts val="0"/>
              </a:spcAft>
              <a:defRPr sz="1400" b="1">
                <a:solidFill>
                  <a:srgbClr val="10253F"/>
                </a:solidFill>
                <a:latin typeface="Aptos Mono"/>
              </a:defRPr>
            </a:pPr>
            <a:r>
              <a:t>src/create_bge_embeddings.py</a:t>
            </a:r>
          </a:p>
        </p:txBody>
      </p:sp>
      <p:sp>
        <p:nvSpPr>
          <p:cNvPr id="21" name="TextBox 20"/>
          <p:cNvSpPr txBox="1"/>
          <p:nvPr/>
        </p:nvSpPr>
        <p:spPr>
          <a:xfrm>
            <a:off x="5669280" y="3758184"/>
            <a:ext cx="5486400" cy="356616"/>
          </a:xfrm>
          <a:prstGeom prst="rect">
            <a:avLst/>
          </a:prstGeom>
          <a:noFill/>
        </p:spPr>
        <p:txBody>
          <a:bodyPr wrap="square" lIns="36576" rIns="36576" tIns="13716" bIns="13716" anchor="ctr">
            <a:spAutoFit/>
          </a:bodyPr>
          <a:lstStyle/>
          <a:p>
            <a:pPr>
              <a:spcAft>
                <a:spcPts val="0"/>
              </a:spcAft>
              <a:defRPr sz="1400" b="0">
                <a:solidFill>
                  <a:srgbClr val="61758A"/>
                </a:solidFill>
                <a:latin typeface="Aptos"/>
              </a:defRPr>
            </a:pPr>
            <a:r>
              <a:t>160 × 384 embedding matrix</a:t>
            </a:r>
          </a:p>
        </p:txBody>
      </p:sp>
      <p:sp>
        <p:nvSpPr>
          <p:cNvPr id="22" name="Rounded Rectangle 21"/>
          <p:cNvSpPr/>
          <p:nvPr/>
        </p:nvSpPr>
        <p:spPr>
          <a:xfrm>
            <a:off x="740664" y="4334256"/>
            <a:ext cx="10744200" cy="530352"/>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1832" y="4416552"/>
            <a:ext cx="4572000" cy="356616"/>
          </a:xfrm>
          <a:prstGeom prst="rect">
            <a:avLst/>
          </a:prstGeom>
          <a:noFill/>
        </p:spPr>
        <p:txBody>
          <a:bodyPr wrap="square" lIns="36576" rIns="36576" tIns="13716" bIns="13716" anchor="ctr">
            <a:spAutoFit/>
          </a:bodyPr>
          <a:lstStyle/>
          <a:p>
            <a:pPr>
              <a:spcAft>
                <a:spcPts val="0"/>
              </a:spcAft>
              <a:defRPr sz="1400" b="1">
                <a:solidFill>
                  <a:srgbClr val="10253F"/>
                </a:solidFill>
                <a:latin typeface="Aptos Mono"/>
              </a:defRPr>
            </a:pPr>
            <a:r>
              <a:t>src/create_bge_faiss_index.py</a:t>
            </a:r>
          </a:p>
        </p:txBody>
      </p:sp>
      <p:sp>
        <p:nvSpPr>
          <p:cNvPr id="24" name="TextBox 23"/>
          <p:cNvSpPr txBox="1"/>
          <p:nvPr/>
        </p:nvSpPr>
        <p:spPr>
          <a:xfrm>
            <a:off x="5669280" y="4416552"/>
            <a:ext cx="5486400" cy="356616"/>
          </a:xfrm>
          <a:prstGeom prst="rect">
            <a:avLst/>
          </a:prstGeom>
          <a:noFill/>
        </p:spPr>
        <p:txBody>
          <a:bodyPr wrap="square" lIns="36576" rIns="36576" tIns="13716" bIns="13716" anchor="ctr">
            <a:spAutoFit/>
          </a:bodyPr>
          <a:lstStyle/>
          <a:p>
            <a:pPr>
              <a:spcAft>
                <a:spcPts val="0"/>
              </a:spcAft>
              <a:defRPr sz="1400" b="0">
                <a:solidFill>
                  <a:srgbClr val="61758A"/>
                </a:solidFill>
                <a:latin typeface="Aptos"/>
              </a:defRPr>
            </a:pPr>
            <a:r>
              <a:t>Normalized FAISS index</a:t>
            </a:r>
          </a:p>
        </p:txBody>
      </p:sp>
      <p:sp>
        <p:nvSpPr>
          <p:cNvPr id="25" name="Rounded Rectangle 24"/>
          <p:cNvSpPr/>
          <p:nvPr/>
        </p:nvSpPr>
        <p:spPr>
          <a:xfrm>
            <a:off x="740664" y="4992624"/>
            <a:ext cx="10744200" cy="530352"/>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1832" y="5074920"/>
            <a:ext cx="4572000" cy="356616"/>
          </a:xfrm>
          <a:prstGeom prst="rect">
            <a:avLst/>
          </a:prstGeom>
          <a:noFill/>
        </p:spPr>
        <p:txBody>
          <a:bodyPr wrap="square" lIns="36576" rIns="36576" tIns="13716" bIns="13716" anchor="ctr">
            <a:spAutoFit/>
          </a:bodyPr>
          <a:lstStyle/>
          <a:p>
            <a:pPr>
              <a:spcAft>
                <a:spcPts val="0"/>
              </a:spcAft>
              <a:defRPr sz="1400" b="1">
                <a:solidFill>
                  <a:srgbClr val="10253F"/>
                </a:solidFill>
                <a:latin typeface="Aptos Mono"/>
              </a:defRPr>
            </a:pPr>
            <a:r>
              <a:t>src/rag_pipeline.py</a:t>
            </a:r>
          </a:p>
        </p:txBody>
      </p:sp>
      <p:sp>
        <p:nvSpPr>
          <p:cNvPr id="27" name="TextBox 26"/>
          <p:cNvSpPr txBox="1"/>
          <p:nvPr/>
        </p:nvSpPr>
        <p:spPr>
          <a:xfrm>
            <a:off x="5669280" y="5074920"/>
            <a:ext cx="5486400" cy="356616"/>
          </a:xfrm>
          <a:prstGeom prst="rect">
            <a:avLst/>
          </a:prstGeom>
          <a:noFill/>
        </p:spPr>
        <p:txBody>
          <a:bodyPr wrap="square" lIns="36576" rIns="36576" tIns="13716" bIns="13716" anchor="ctr">
            <a:spAutoFit/>
          </a:bodyPr>
          <a:lstStyle/>
          <a:p>
            <a:pPr>
              <a:spcAft>
                <a:spcPts val="0"/>
              </a:spcAft>
              <a:defRPr sz="1400" b="0">
                <a:solidFill>
                  <a:srgbClr val="61758A"/>
                </a:solidFill>
                <a:latin typeface="Aptos"/>
              </a:defRPr>
            </a:pPr>
            <a:r>
              <a:t>Retrieve, expand, generate, evaluate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19456"/>
            <a:ext cx="10881360" cy="219456"/>
          </a:xfrm>
          <a:prstGeom prst="rect">
            <a:avLst/>
          </a:prstGeom>
          <a:noFill/>
        </p:spPr>
        <p:txBody>
          <a:bodyPr wrap="square" lIns="36576" rIns="36576" tIns="13716" bIns="13716" anchor="ctr">
            <a:spAutoFit/>
          </a:bodyPr>
          <a:lstStyle/>
          <a:p>
            <a:pPr>
              <a:spcAft>
                <a:spcPts val="0"/>
              </a:spcAft>
              <a:defRPr sz="1000" b="1">
                <a:solidFill>
                  <a:srgbClr val="00A99D"/>
                </a:solidFill>
                <a:latin typeface="Aptos"/>
              </a:defRPr>
            </a:pPr>
            <a:r>
              <a:t>BACKUP / LIVE DEMO</a:t>
            </a:r>
          </a:p>
        </p:txBody>
      </p:sp>
      <p:sp>
        <p:nvSpPr>
          <p:cNvPr id="5" name="TextBox 4"/>
          <p:cNvSpPr txBox="1"/>
          <p:nvPr/>
        </p:nvSpPr>
        <p:spPr>
          <a:xfrm>
            <a:off x="502920" y="530352"/>
            <a:ext cx="11201400" cy="557784"/>
          </a:xfrm>
          <a:prstGeom prst="rect">
            <a:avLst/>
          </a:prstGeom>
          <a:noFill/>
        </p:spPr>
        <p:txBody>
          <a:bodyPr wrap="square" lIns="36576" rIns="36576" tIns="13716" bIns="13716" anchor="ctr">
            <a:spAutoFit/>
          </a:bodyPr>
          <a:lstStyle/>
          <a:p>
            <a:pPr>
              <a:spcAft>
                <a:spcPts val="0"/>
              </a:spcAft>
              <a:defRPr sz="2800" b="1">
                <a:solidFill>
                  <a:srgbClr val="10253F"/>
                </a:solidFill>
                <a:latin typeface="Aptos"/>
              </a:defRPr>
            </a:pPr>
            <a:r>
              <a:t>Appendix  |  How to run it</a:t>
            </a:r>
          </a:p>
        </p:txBody>
      </p:sp>
      <p:sp>
        <p:nvSpPr>
          <p:cNvPr id="6" name="TextBox 5"/>
          <p:cNvSpPr txBox="1"/>
          <p:nvPr/>
        </p:nvSpPr>
        <p:spPr>
          <a:xfrm>
            <a:off x="521207" y="1133856"/>
            <a:ext cx="11064240" cy="393192"/>
          </a:xfrm>
          <a:prstGeom prst="rect">
            <a:avLst/>
          </a:prstGeom>
          <a:noFill/>
        </p:spPr>
        <p:txBody>
          <a:bodyPr wrap="square" lIns="36576" rIns="36576" tIns="13716" bIns="13716" anchor="ctr">
            <a:spAutoFit/>
          </a:bodyPr>
          <a:lstStyle/>
          <a:p>
            <a:pPr>
              <a:spcAft>
                <a:spcPts val="0"/>
              </a:spcAft>
              <a:defRPr sz="1400" b="0">
                <a:solidFill>
                  <a:srgbClr val="61758A"/>
                </a:solidFill>
                <a:latin typeface="Aptos"/>
              </a:defRPr>
            </a:pPr>
            <a:r>
              <a:t>Prepare the environment before an interview; do not expose your API key.</a:t>
            </a:r>
          </a:p>
        </p:txBody>
      </p:sp>
      <p:sp>
        <p:nvSpPr>
          <p:cNvPr id="7" name="Rectangle 6"/>
          <p:cNvSpPr/>
          <p:nvPr/>
        </p:nvSpPr>
        <p:spPr>
          <a:xfrm>
            <a:off x="502920" y="6556248"/>
            <a:ext cx="11155680" cy="10972"/>
          </a:xfrm>
          <a:prstGeom prst="rect">
            <a:avLst/>
          </a:prstGeom>
          <a:solidFill>
            <a:srgbClr val="DC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0"/>
            <a:ext cx="8229600" cy="155448"/>
          </a:xfrm>
          <a:prstGeom prst="rect">
            <a:avLst/>
          </a:prstGeom>
          <a:noFill/>
        </p:spPr>
        <p:txBody>
          <a:bodyPr wrap="square" lIns="36576" rIns="36576" tIns="13716" bIns="13716" anchor="ctr">
            <a:spAutoFit/>
          </a:bodyPr>
          <a:lstStyle/>
          <a:p>
            <a:pPr>
              <a:spcAft>
                <a:spcPts val="0"/>
              </a:spcAft>
              <a:defRPr sz="800" b="0">
                <a:solidFill>
                  <a:srgbClr val="61758A"/>
                </a:solidFill>
                <a:latin typeface="Aptos"/>
              </a:defRPr>
            </a:pPr>
            <a:r>
              <a:t>EU AI ACT  •  RAG ENGINEERING PORTFOLIO</a:t>
            </a:r>
          </a:p>
        </p:txBody>
      </p:sp>
      <p:sp>
        <p:nvSpPr>
          <p:cNvPr id="9" name="TextBox 8"/>
          <p:cNvSpPr txBox="1"/>
          <p:nvPr/>
        </p:nvSpPr>
        <p:spPr>
          <a:xfrm>
            <a:off x="11082528" y="6565392"/>
            <a:ext cx="502920" cy="201168"/>
          </a:xfrm>
          <a:prstGeom prst="rect">
            <a:avLst/>
          </a:prstGeom>
          <a:noFill/>
        </p:spPr>
        <p:txBody>
          <a:bodyPr wrap="square" lIns="36576" rIns="36576" tIns="13716" bIns="13716" anchor="ctr">
            <a:spAutoFit/>
          </a:bodyPr>
          <a:lstStyle/>
          <a:p>
            <a:pPr algn="r">
              <a:spcAft>
                <a:spcPts val="0"/>
              </a:spcAft>
              <a:defRPr sz="900" b="1">
                <a:solidFill>
                  <a:srgbClr val="61758A"/>
                </a:solidFill>
                <a:latin typeface="Aptos"/>
              </a:defRPr>
            </a:pPr>
            <a:r>
              <a:t>23</a:t>
            </a:r>
          </a:p>
        </p:txBody>
      </p:sp>
      <p:sp>
        <p:nvSpPr>
          <p:cNvPr id="10" name="Rounded Rectangle 9"/>
          <p:cNvSpPr/>
          <p:nvPr/>
        </p:nvSpPr>
        <p:spPr>
          <a:xfrm>
            <a:off x="768096" y="1792224"/>
            <a:ext cx="6967728" cy="3383280"/>
          </a:xfrm>
          <a:prstGeom prst="roundRect">
            <a:avLst>
              <a:gd name="adj" fmla="val 16000"/>
            </a:avLst>
          </a:prstGeom>
          <a:solidFill>
            <a:srgbClr val="10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78992" y="2084831"/>
            <a:ext cx="6355080" cy="384048"/>
          </a:xfrm>
          <a:prstGeom prst="rect">
            <a:avLst/>
          </a:prstGeom>
          <a:noFill/>
        </p:spPr>
        <p:txBody>
          <a:bodyPr wrap="square" lIns="36576" rIns="36576" tIns="13716" bIns="13716" anchor="ctr">
            <a:spAutoFit/>
          </a:bodyPr>
          <a:lstStyle/>
          <a:p>
            <a:pPr>
              <a:spcAft>
                <a:spcPts val="0"/>
              </a:spcAft>
              <a:defRPr sz="1800" b="0">
                <a:solidFill>
                  <a:srgbClr val="FFFFFF"/>
                </a:solidFill>
                <a:latin typeface="Aptos Mono"/>
              </a:defRPr>
            </a:pPr>
            <a:r>
              <a:t>cd ~/Desktop/eu_ai_act_rag</a:t>
            </a:r>
          </a:p>
        </p:txBody>
      </p:sp>
      <p:sp>
        <p:nvSpPr>
          <p:cNvPr id="12" name="TextBox 11"/>
          <p:cNvSpPr txBox="1"/>
          <p:nvPr/>
        </p:nvSpPr>
        <p:spPr>
          <a:xfrm>
            <a:off x="1078992" y="2523744"/>
            <a:ext cx="6355080" cy="384048"/>
          </a:xfrm>
          <a:prstGeom prst="rect">
            <a:avLst/>
          </a:prstGeom>
          <a:noFill/>
        </p:spPr>
        <p:txBody>
          <a:bodyPr wrap="square" lIns="36576" rIns="36576" tIns="13716" bIns="13716" anchor="ctr">
            <a:spAutoFit/>
          </a:bodyPr>
          <a:lstStyle/>
          <a:p>
            <a:pPr>
              <a:spcAft>
                <a:spcPts val="0"/>
              </a:spcAft>
              <a:defRPr sz="1800" b="0">
                <a:solidFill>
                  <a:srgbClr val="FFFFFF"/>
                </a:solidFill>
                <a:latin typeface="Aptos Mono"/>
              </a:defRPr>
            </a:pPr>
            <a:r>
              <a:t>source .venv/bin/activate</a:t>
            </a:r>
          </a:p>
        </p:txBody>
      </p:sp>
      <p:sp>
        <p:nvSpPr>
          <p:cNvPr id="13" name="TextBox 12"/>
          <p:cNvSpPr txBox="1"/>
          <p:nvPr/>
        </p:nvSpPr>
        <p:spPr>
          <a:xfrm>
            <a:off x="1078992" y="2962656"/>
            <a:ext cx="6355080" cy="384048"/>
          </a:xfrm>
          <a:prstGeom prst="rect">
            <a:avLst/>
          </a:prstGeom>
          <a:noFill/>
        </p:spPr>
        <p:txBody>
          <a:bodyPr wrap="square" lIns="36576" rIns="36576" tIns="13716" bIns="13716" anchor="ctr">
            <a:spAutoFit/>
          </a:bodyPr>
          <a:lstStyle/>
          <a:p>
            <a:pPr>
              <a:spcAft>
                <a:spcPts val="0"/>
              </a:spcAft>
              <a:defRPr sz="1800" b="1">
                <a:solidFill>
                  <a:srgbClr val="48C9C3"/>
                </a:solidFill>
                <a:latin typeface="Aptos Mono"/>
              </a:defRPr>
            </a:pPr>
            <a:r>
              <a:t>python src/rag_pipeline.py</a:t>
            </a:r>
          </a:p>
        </p:txBody>
      </p:sp>
      <p:sp>
        <p:nvSpPr>
          <p:cNvPr id="14" name="TextBox 13"/>
          <p:cNvSpPr txBox="1"/>
          <p:nvPr/>
        </p:nvSpPr>
        <p:spPr>
          <a:xfrm>
            <a:off x="1078992" y="3401568"/>
            <a:ext cx="6355080" cy="384048"/>
          </a:xfrm>
          <a:prstGeom prst="rect">
            <a:avLst/>
          </a:prstGeom>
          <a:noFill/>
        </p:spPr>
        <p:txBody>
          <a:bodyPr wrap="square" lIns="36576" rIns="36576" tIns="13716" bIns="13716" anchor="ctr">
            <a:spAutoFit/>
          </a:bodyPr>
          <a:lstStyle/>
          <a:p>
            <a:pPr>
              <a:spcAft>
                <a:spcPts val="0"/>
              </a:spcAft>
              <a:defRPr sz="1800" b="0">
                <a:solidFill>
                  <a:srgbClr val="FFFFFF"/>
                </a:solidFill>
                <a:latin typeface="Aptos Mono"/>
              </a:defRPr>
            </a:pPr>
          </a:p>
        </p:txBody>
      </p:sp>
      <p:sp>
        <p:nvSpPr>
          <p:cNvPr id="15" name="TextBox 14"/>
          <p:cNvSpPr txBox="1"/>
          <p:nvPr/>
        </p:nvSpPr>
        <p:spPr>
          <a:xfrm>
            <a:off x="1078992" y="3840479"/>
            <a:ext cx="6355080" cy="384048"/>
          </a:xfrm>
          <a:prstGeom prst="rect">
            <a:avLst/>
          </a:prstGeom>
          <a:noFill/>
        </p:spPr>
        <p:txBody>
          <a:bodyPr wrap="square" lIns="36576" rIns="36576" tIns="13716" bIns="13716" anchor="ctr">
            <a:spAutoFit/>
          </a:bodyPr>
          <a:lstStyle/>
          <a:p>
            <a:pPr>
              <a:spcAft>
                <a:spcPts val="0"/>
              </a:spcAft>
              <a:defRPr sz="1800" b="1">
                <a:solidFill>
                  <a:srgbClr val="48C9C3"/>
                </a:solidFill>
                <a:latin typeface="Aptos Mono"/>
              </a:defRPr>
            </a:pPr>
            <a:r>
              <a:t>1  -  Ask a question</a:t>
            </a:r>
          </a:p>
        </p:txBody>
      </p:sp>
      <p:sp>
        <p:nvSpPr>
          <p:cNvPr id="16" name="TextBox 15"/>
          <p:cNvSpPr txBox="1"/>
          <p:nvPr/>
        </p:nvSpPr>
        <p:spPr>
          <a:xfrm>
            <a:off x="1078992" y="4279392"/>
            <a:ext cx="6355080" cy="384048"/>
          </a:xfrm>
          <a:prstGeom prst="rect">
            <a:avLst/>
          </a:prstGeom>
          <a:noFill/>
        </p:spPr>
        <p:txBody>
          <a:bodyPr wrap="square" lIns="36576" rIns="36576" tIns="13716" bIns="13716" anchor="ctr">
            <a:spAutoFit/>
          </a:bodyPr>
          <a:lstStyle/>
          <a:p>
            <a:pPr>
              <a:spcAft>
                <a:spcPts val="0"/>
              </a:spcAft>
              <a:defRPr sz="1800" b="1">
                <a:solidFill>
                  <a:srgbClr val="48C9C3"/>
                </a:solidFill>
                <a:latin typeface="Aptos Mono"/>
              </a:defRPr>
            </a:pPr>
            <a:r>
              <a:t>2  -  Run RAG evaluation</a:t>
            </a:r>
          </a:p>
        </p:txBody>
      </p:sp>
      <p:sp>
        <p:nvSpPr>
          <p:cNvPr id="17" name="Rounded Rectangle 16"/>
          <p:cNvSpPr/>
          <p:nvPr/>
        </p:nvSpPr>
        <p:spPr>
          <a:xfrm>
            <a:off x="8028431" y="1792224"/>
            <a:ext cx="3438144" cy="1463040"/>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28431" y="1792224"/>
            <a:ext cx="59436" cy="146304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1920240"/>
            <a:ext cx="3026663" cy="384048"/>
          </a:xfrm>
          <a:prstGeom prst="rect">
            <a:avLst/>
          </a:prstGeom>
          <a:noFill/>
        </p:spPr>
        <p:txBody>
          <a:bodyPr wrap="square" lIns="36576" rIns="36576" tIns="13716" bIns="13716" anchor="ctr">
            <a:spAutoFit/>
          </a:bodyPr>
          <a:lstStyle/>
          <a:p>
            <a:pPr>
              <a:spcAft>
                <a:spcPts val="0"/>
              </a:spcAft>
              <a:defRPr sz="1500" b="1">
                <a:solidFill>
                  <a:srgbClr val="10253F"/>
                </a:solidFill>
                <a:latin typeface="Aptos"/>
              </a:defRPr>
            </a:pPr>
            <a:r>
              <a:t>DEPENDENCIES</a:t>
            </a:r>
          </a:p>
        </p:txBody>
      </p:sp>
      <p:sp>
        <p:nvSpPr>
          <p:cNvPr id="20" name="TextBox 19"/>
          <p:cNvSpPr txBox="1"/>
          <p:nvPr/>
        </p:nvSpPr>
        <p:spPr>
          <a:xfrm>
            <a:off x="8229600" y="2386584"/>
            <a:ext cx="2999232" cy="731520"/>
          </a:xfrm>
          <a:prstGeom prst="rect">
            <a:avLst/>
          </a:prstGeom>
          <a:noFill/>
        </p:spPr>
        <p:txBody>
          <a:bodyPr wrap="square" lIns="36576" rIns="36576" tIns="13716" bIns="13716" anchor="t">
            <a:spAutoFit/>
          </a:bodyPr>
          <a:lstStyle/>
          <a:p>
            <a:pPr>
              <a:spcAft>
                <a:spcPts val="0"/>
              </a:spcAft>
              <a:defRPr sz="1200" b="0">
                <a:solidFill>
                  <a:srgbClr val="61758A"/>
                </a:solidFill>
                <a:latin typeface="Aptos"/>
              </a:defRPr>
            </a:pPr>
            <a:r>
              <a:t>PyMuPDF, sentence-transformers, numpy&lt;2, faiss-cpu, groq, python-dotenv</a:t>
            </a:r>
          </a:p>
        </p:txBody>
      </p:sp>
      <p:sp>
        <p:nvSpPr>
          <p:cNvPr id="21" name="Rounded Rectangle 20"/>
          <p:cNvSpPr/>
          <p:nvPr/>
        </p:nvSpPr>
        <p:spPr>
          <a:xfrm>
            <a:off x="8028431" y="3529584"/>
            <a:ext cx="3438144" cy="1645920"/>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28431" y="3529584"/>
            <a:ext cx="59436" cy="1645920"/>
          </a:xfrm>
          <a:prstGeom prst="rect">
            <a:avLst/>
          </a:prstGeom>
          <a:solidFill>
            <a:srgbClr val="F4B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3657600"/>
            <a:ext cx="3026663" cy="384048"/>
          </a:xfrm>
          <a:prstGeom prst="rect">
            <a:avLst/>
          </a:prstGeom>
          <a:noFill/>
        </p:spPr>
        <p:txBody>
          <a:bodyPr wrap="square" lIns="36576" rIns="36576" tIns="13716" bIns="13716" anchor="ctr">
            <a:spAutoFit/>
          </a:bodyPr>
          <a:lstStyle/>
          <a:p>
            <a:pPr>
              <a:spcAft>
                <a:spcPts val="0"/>
              </a:spcAft>
              <a:defRPr sz="1500" b="1">
                <a:solidFill>
                  <a:srgbClr val="10253F"/>
                </a:solidFill>
                <a:latin typeface="Aptos"/>
              </a:defRPr>
            </a:pPr>
            <a:r>
              <a:t>SECURITY</a:t>
            </a:r>
          </a:p>
        </p:txBody>
      </p:sp>
      <p:sp>
        <p:nvSpPr>
          <p:cNvPr id="24" name="TextBox 23"/>
          <p:cNvSpPr txBox="1"/>
          <p:nvPr/>
        </p:nvSpPr>
        <p:spPr>
          <a:xfrm>
            <a:off x="8229600" y="4123944"/>
            <a:ext cx="2999232" cy="914400"/>
          </a:xfrm>
          <a:prstGeom prst="rect">
            <a:avLst/>
          </a:prstGeom>
          <a:noFill/>
        </p:spPr>
        <p:txBody>
          <a:bodyPr wrap="square" lIns="36576" rIns="36576" tIns="13716" bIns="13716" anchor="t">
            <a:spAutoFit/>
          </a:bodyPr>
          <a:lstStyle/>
          <a:p>
            <a:pPr>
              <a:spcAft>
                <a:spcPts val="0"/>
              </a:spcAft>
              <a:defRPr sz="1400" b="0">
                <a:solidFill>
                  <a:srgbClr val="61758A"/>
                </a:solidFill>
                <a:latin typeface="Aptos"/>
              </a:defRPr>
            </a:pPr>
            <a:r>
              <a:t>GROQ_API_KEY in .env; .env is excluded from GitHub.</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19456"/>
            <a:ext cx="10881360" cy="219456"/>
          </a:xfrm>
          <a:prstGeom prst="rect">
            <a:avLst/>
          </a:prstGeom>
          <a:noFill/>
        </p:spPr>
        <p:txBody>
          <a:bodyPr wrap="square" lIns="36576" rIns="36576" tIns="13716" bIns="13716" anchor="ctr">
            <a:spAutoFit/>
          </a:bodyPr>
          <a:lstStyle/>
          <a:p>
            <a:pPr>
              <a:spcAft>
                <a:spcPts val="0"/>
              </a:spcAft>
              <a:defRPr sz="1000" b="1">
                <a:solidFill>
                  <a:srgbClr val="00A99D"/>
                </a:solidFill>
                <a:latin typeface="Aptos"/>
              </a:defRPr>
            </a:pPr>
            <a:r>
              <a:t>BACKUP / QUICK DEFINITIONS</a:t>
            </a:r>
          </a:p>
        </p:txBody>
      </p:sp>
      <p:sp>
        <p:nvSpPr>
          <p:cNvPr id="5" name="TextBox 4"/>
          <p:cNvSpPr txBox="1"/>
          <p:nvPr/>
        </p:nvSpPr>
        <p:spPr>
          <a:xfrm>
            <a:off x="502920" y="530352"/>
            <a:ext cx="11201400" cy="557784"/>
          </a:xfrm>
          <a:prstGeom prst="rect">
            <a:avLst/>
          </a:prstGeom>
          <a:noFill/>
        </p:spPr>
        <p:txBody>
          <a:bodyPr wrap="square" lIns="36576" rIns="36576" tIns="13716" bIns="13716" anchor="ctr">
            <a:spAutoFit/>
          </a:bodyPr>
          <a:lstStyle/>
          <a:p>
            <a:pPr>
              <a:spcAft>
                <a:spcPts val="0"/>
              </a:spcAft>
              <a:defRPr sz="2800" b="1">
                <a:solidFill>
                  <a:srgbClr val="10253F"/>
                </a:solidFill>
                <a:latin typeface="Aptos"/>
              </a:defRPr>
            </a:pPr>
            <a:r>
              <a:t>Appendix  |  Technical glossary</a:t>
            </a:r>
          </a:p>
        </p:txBody>
      </p:sp>
      <p:sp>
        <p:nvSpPr>
          <p:cNvPr id="6" name="TextBox 5"/>
          <p:cNvSpPr txBox="1"/>
          <p:nvPr/>
        </p:nvSpPr>
        <p:spPr>
          <a:xfrm>
            <a:off x="521207" y="1133856"/>
            <a:ext cx="11064240" cy="393192"/>
          </a:xfrm>
          <a:prstGeom prst="rect">
            <a:avLst/>
          </a:prstGeom>
          <a:noFill/>
        </p:spPr>
        <p:txBody>
          <a:bodyPr wrap="square" lIns="36576" rIns="36576" tIns="13716" bIns="13716" anchor="ctr">
            <a:spAutoFit/>
          </a:bodyPr>
          <a:lstStyle/>
          <a:p>
            <a:pPr>
              <a:spcAft>
                <a:spcPts val="0"/>
              </a:spcAft>
              <a:defRPr sz="1400" b="0">
                <a:solidFill>
                  <a:srgbClr val="61758A"/>
                </a:solidFill>
                <a:latin typeface="Aptos"/>
              </a:defRPr>
            </a:pPr>
            <a:r>
              <a:t>Short explanations for non-specialist interviewers.</a:t>
            </a:r>
          </a:p>
        </p:txBody>
      </p:sp>
      <p:sp>
        <p:nvSpPr>
          <p:cNvPr id="7" name="Rectangle 6"/>
          <p:cNvSpPr/>
          <p:nvPr/>
        </p:nvSpPr>
        <p:spPr>
          <a:xfrm>
            <a:off x="502920" y="6556248"/>
            <a:ext cx="11155680" cy="10972"/>
          </a:xfrm>
          <a:prstGeom prst="rect">
            <a:avLst/>
          </a:prstGeom>
          <a:solidFill>
            <a:srgbClr val="DC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0"/>
            <a:ext cx="8229600" cy="155448"/>
          </a:xfrm>
          <a:prstGeom prst="rect">
            <a:avLst/>
          </a:prstGeom>
          <a:noFill/>
        </p:spPr>
        <p:txBody>
          <a:bodyPr wrap="square" lIns="36576" rIns="36576" tIns="13716" bIns="13716" anchor="ctr">
            <a:spAutoFit/>
          </a:bodyPr>
          <a:lstStyle/>
          <a:p>
            <a:pPr>
              <a:spcAft>
                <a:spcPts val="0"/>
              </a:spcAft>
              <a:defRPr sz="800" b="0">
                <a:solidFill>
                  <a:srgbClr val="61758A"/>
                </a:solidFill>
                <a:latin typeface="Aptos"/>
              </a:defRPr>
            </a:pPr>
            <a:r>
              <a:t>EU AI ACT  •  RAG ENGINEERING PORTFOLIO</a:t>
            </a:r>
          </a:p>
        </p:txBody>
      </p:sp>
      <p:sp>
        <p:nvSpPr>
          <p:cNvPr id="9" name="TextBox 8"/>
          <p:cNvSpPr txBox="1"/>
          <p:nvPr/>
        </p:nvSpPr>
        <p:spPr>
          <a:xfrm>
            <a:off x="11082528" y="6565392"/>
            <a:ext cx="502920" cy="201168"/>
          </a:xfrm>
          <a:prstGeom prst="rect">
            <a:avLst/>
          </a:prstGeom>
          <a:noFill/>
        </p:spPr>
        <p:txBody>
          <a:bodyPr wrap="square" lIns="36576" rIns="36576" tIns="13716" bIns="13716" anchor="ctr">
            <a:spAutoFit/>
          </a:bodyPr>
          <a:lstStyle/>
          <a:p>
            <a:pPr algn="r">
              <a:spcAft>
                <a:spcPts val="0"/>
              </a:spcAft>
              <a:defRPr sz="900" b="1">
                <a:solidFill>
                  <a:srgbClr val="61758A"/>
                </a:solidFill>
                <a:latin typeface="Aptos"/>
              </a:defRPr>
            </a:pPr>
            <a:r>
              <a:t>24</a:t>
            </a:r>
          </a:p>
        </p:txBody>
      </p:sp>
      <p:sp>
        <p:nvSpPr>
          <p:cNvPr id="10" name="Rounded Rectangle 9"/>
          <p:cNvSpPr/>
          <p:nvPr/>
        </p:nvSpPr>
        <p:spPr>
          <a:xfrm>
            <a:off x="731520" y="1673352"/>
            <a:ext cx="10698480" cy="438912"/>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1709928"/>
            <a:ext cx="2441448" cy="338328"/>
          </a:xfrm>
          <a:prstGeom prst="rect">
            <a:avLst/>
          </a:prstGeom>
          <a:noFill/>
        </p:spPr>
        <p:txBody>
          <a:bodyPr wrap="square" lIns="36576" rIns="36576" tIns="13716" bIns="13716" anchor="ctr">
            <a:spAutoFit/>
          </a:bodyPr>
          <a:lstStyle/>
          <a:p>
            <a:pPr>
              <a:spcAft>
                <a:spcPts val="0"/>
              </a:spcAft>
              <a:defRPr sz="1400" b="1">
                <a:solidFill>
                  <a:srgbClr val="10253F"/>
                </a:solidFill>
                <a:latin typeface="Aptos"/>
              </a:defRPr>
            </a:pPr>
            <a:r>
              <a:t>Chunk</a:t>
            </a:r>
          </a:p>
        </p:txBody>
      </p:sp>
      <p:sp>
        <p:nvSpPr>
          <p:cNvPr id="12" name="TextBox 11"/>
          <p:cNvSpPr txBox="1"/>
          <p:nvPr/>
        </p:nvSpPr>
        <p:spPr>
          <a:xfrm>
            <a:off x="3474720" y="1709928"/>
            <a:ext cx="7589520" cy="338328"/>
          </a:xfrm>
          <a:prstGeom prst="rect">
            <a:avLst/>
          </a:prstGeom>
          <a:noFill/>
        </p:spPr>
        <p:txBody>
          <a:bodyPr wrap="square" lIns="36576" rIns="36576" tIns="13716" bIns="13716" anchor="ctr">
            <a:spAutoFit/>
          </a:bodyPr>
          <a:lstStyle/>
          <a:p>
            <a:pPr>
              <a:spcAft>
                <a:spcPts val="0"/>
              </a:spcAft>
              <a:defRPr sz="1300" b="0">
                <a:solidFill>
                  <a:srgbClr val="61758A"/>
                </a:solidFill>
                <a:latin typeface="Aptos"/>
              </a:defRPr>
            </a:pPr>
            <a:r>
              <a:t>A smaller labelled piece of a longer document.</a:t>
            </a:r>
          </a:p>
        </p:txBody>
      </p:sp>
      <p:sp>
        <p:nvSpPr>
          <p:cNvPr id="13" name="Rounded Rectangle 12"/>
          <p:cNvSpPr/>
          <p:nvPr/>
        </p:nvSpPr>
        <p:spPr>
          <a:xfrm>
            <a:off x="731520" y="2194560"/>
            <a:ext cx="10698480" cy="438912"/>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 y="2231136"/>
            <a:ext cx="2441448" cy="338328"/>
          </a:xfrm>
          <a:prstGeom prst="rect">
            <a:avLst/>
          </a:prstGeom>
          <a:noFill/>
        </p:spPr>
        <p:txBody>
          <a:bodyPr wrap="square" lIns="36576" rIns="36576" tIns="13716" bIns="13716" anchor="ctr">
            <a:spAutoFit/>
          </a:bodyPr>
          <a:lstStyle/>
          <a:p>
            <a:pPr>
              <a:spcAft>
                <a:spcPts val="0"/>
              </a:spcAft>
              <a:defRPr sz="1400" b="1">
                <a:solidFill>
                  <a:srgbClr val="10253F"/>
                </a:solidFill>
                <a:latin typeface="Aptos"/>
              </a:defRPr>
            </a:pPr>
            <a:r>
              <a:t>Embedding</a:t>
            </a:r>
          </a:p>
        </p:txBody>
      </p:sp>
      <p:sp>
        <p:nvSpPr>
          <p:cNvPr id="15" name="TextBox 14"/>
          <p:cNvSpPr txBox="1"/>
          <p:nvPr/>
        </p:nvSpPr>
        <p:spPr>
          <a:xfrm>
            <a:off x="3474720" y="2231136"/>
            <a:ext cx="7589520" cy="338328"/>
          </a:xfrm>
          <a:prstGeom prst="rect">
            <a:avLst/>
          </a:prstGeom>
          <a:noFill/>
        </p:spPr>
        <p:txBody>
          <a:bodyPr wrap="square" lIns="36576" rIns="36576" tIns="13716" bIns="13716" anchor="ctr">
            <a:spAutoFit/>
          </a:bodyPr>
          <a:lstStyle/>
          <a:p>
            <a:pPr>
              <a:spcAft>
                <a:spcPts val="0"/>
              </a:spcAft>
              <a:defRPr sz="1300" b="0">
                <a:solidFill>
                  <a:srgbClr val="61758A"/>
                </a:solidFill>
                <a:latin typeface="Aptos"/>
              </a:defRPr>
            </a:pPr>
            <a:r>
              <a:t>A vector of numbers representing text meaning.</a:t>
            </a:r>
          </a:p>
        </p:txBody>
      </p:sp>
      <p:sp>
        <p:nvSpPr>
          <p:cNvPr id="16" name="Rounded Rectangle 15"/>
          <p:cNvSpPr/>
          <p:nvPr/>
        </p:nvSpPr>
        <p:spPr>
          <a:xfrm>
            <a:off x="731520" y="2715768"/>
            <a:ext cx="10698480" cy="438912"/>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0976" y="2752344"/>
            <a:ext cx="2441448" cy="338328"/>
          </a:xfrm>
          <a:prstGeom prst="rect">
            <a:avLst/>
          </a:prstGeom>
          <a:noFill/>
        </p:spPr>
        <p:txBody>
          <a:bodyPr wrap="square" lIns="36576" rIns="36576" tIns="13716" bIns="13716" anchor="ctr">
            <a:spAutoFit/>
          </a:bodyPr>
          <a:lstStyle/>
          <a:p>
            <a:pPr>
              <a:spcAft>
                <a:spcPts val="0"/>
              </a:spcAft>
              <a:defRPr sz="1400" b="1">
                <a:solidFill>
                  <a:srgbClr val="10253F"/>
                </a:solidFill>
                <a:latin typeface="Aptos"/>
              </a:defRPr>
            </a:pPr>
            <a:r>
              <a:t>FAISS</a:t>
            </a:r>
          </a:p>
        </p:txBody>
      </p:sp>
      <p:sp>
        <p:nvSpPr>
          <p:cNvPr id="18" name="TextBox 17"/>
          <p:cNvSpPr txBox="1"/>
          <p:nvPr/>
        </p:nvSpPr>
        <p:spPr>
          <a:xfrm>
            <a:off x="3474720" y="2752344"/>
            <a:ext cx="7589520" cy="338328"/>
          </a:xfrm>
          <a:prstGeom prst="rect">
            <a:avLst/>
          </a:prstGeom>
          <a:noFill/>
        </p:spPr>
        <p:txBody>
          <a:bodyPr wrap="square" lIns="36576" rIns="36576" tIns="13716" bIns="13716" anchor="ctr">
            <a:spAutoFit/>
          </a:bodyPr>
          <a:lstStyle/>
          <a:p>
            <a:pPr>
              <a:spcAft>
                <a:spcPts val="0"/>
              </a:spcAft>
              <a:defRPr sz="1300" b="0">
                <a:solidFill>
                  <a:srgbClr val="61758A"/>
                </a:solidFill>
                <a:latin typeface="Aptos"/>
              </a:defRPr>
            </a:pPr>
            <a:r>
              <a:t>A library for finding similar vectors quickly.</a:t>
            </a:r>
          </a:p>
        </p:txBody>
      </p:sp>
      <p:sp>
        <p:nvSpPr>
          <p:cNvPr id="19" name="Rounded Rectangle 18"/>
          <p:cNvSpPr/>
          <p:nvPr/>
        </p:nvSpPr>
        <p:spPr>
          <a:xfrm>
            <a:off x="731520" y="3236976"/>
            <a:ext cx="10698480" cy="438912"/>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3273552"/>
            <a:ext cx="2441448" cy="338328"/>
          </a:xfrm>
          <a:prstGeom prst="rect">
            <a:avLst/>
          </a:prstGeom>
          <a:noFill/>
        </p:spPr>
        <p:txBody>
          <a:bodyPr wrap="square" lIns="36576" rIns="36576" tIns="13716" bIns="13716" anchor="ctr">
            <a:spAutoFit/>
          </a:bodyPr>
          <a:lstStyle/>
          <a:p>
            <a:pPr>
              <a:spcAft>
                <a:spcPts val="0"/>
              </a:spcAft>
              <a:defRPr sz="1400" b="1">
                <a:solidFill>
                  <a:srgbClr val="10253F"/>
                </a:solidFill>
                <a:latin typeface="Aptos"/>
              </a:defRPr>
            </a:pPr>
            <a:r>
              <a:t>Top-K</a:t>
            </a:r>
          </a:p>
        </p:txBody>
      </p:sp>
      <p:sp>
        <p:nvSpPr>
          <p:cNvPr id="21" name="TextBox 20"/>
          <p:cNvSpPr txBox="1"/>
          <p:nvPr/>
        </p:nvSpPr>
        <p:spPr>
          <a:xfrm>
            <a:off x="3474720" y="3273552"/>
            <a:ext cx="7589520" cy="338328"/>
          </a:xfrm>
          <a:prstGeom prst="rect">
            <a:avLst/>
          </a:prstGeom>
          <a:noFill/>
        </p:spPr>
        <p:txBody>
          <a:bodyPr wrap="square" lIns="36576" rIns="36576" tIns="13716" bIns="13716" anchor="ctr">
            <a:spAutoFit/>
          </a:bodyPr>
          <a:lstStyle/>
          <a:p>
            <a:pPr>
              <a:spcAft>
                <a:spcPts val="0"/>
              </a:spcAft>
              <a:defRPr sz="1300" b="0">
                <a:solidFill>
                  <a:srgbClr val="61758A"/>
                </a:solidFill>
                <a:latin typeface="Aptos"/>
              </a:defRPr>
            </a:pPr>
            <a:r>
              <a:t>The K highest-ranked search matches.</a:t>
            </a:r>
          </a:p>
        </p:txBody>
      </p:sp>
      <p:sp>
        <p:nvSpPr>
          <p:cNvPr id="22" name="Rounded Rectangle 21"/>
          <p:cNvSpPr/>
          <p:nvPr/>
        </p:nvSpPr>
        <p:spPr>
          <a:xfrm>
            <a:off x="731520" y="3758183"/>
            <a:ext cx="10698480" cy="438912"/>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976" y="3794759"/>
            <a:ext cx="2441448" cy="338328"/>
          </a:xfrm>
          <a:prstGeom prst="rect">
            <a:avLst/>
          </a:prstGeom>
          <a:noFill/>
        </p:spPr>
        <p:txBody>
          <a:bodyPr wrap="square" lIns="36576" rIns="36576" tIns="13716" bIns="13716" anchor="ctr">
            <a:spAutoFit/>
          </a:bodyPr>
          <a:lstStyle/>
          <a:p>
            <a:pPr>
              <a:spcAft>
                <a:spcPts val="0"/>
              </a:spcAft>
              <a:defRPr sz="1400" b="1">
                <a:solidFill>
                  <a:srgbClr val="10253F"/>
                </a:solidFill>
                <a:latin typeface="Aptos"/>
              </a:defRPr>
            </a:pPr>
            <a:r>
              <a:t>Section expansion</a:t>
            </a:r>
          </a:p>
        </p:txBody>
      </p:sp>
      <p:sp>
        <p:nvSpPr>
          <p:cNvPr id="24" name="TextBox 23"/>
          <p:cNvSpPr txBox="1"/>
          <p:nvPr/>
        </p:nvSpPr>
        <p:spPr>
          <a:xfrm>
            <a:off x="3474720" y="3794759"/>
            <a:ext cx="7589520" cy="338328"/>
          </a:xfrm>
          <a:prstGeom prst="rect">
            <a:avLst/>
          </a:prstGeom>
          <a:noFill/>
        </p:spPr>
        <p:txBody>
          <a:bodyPr wrap="square" lIns="36576" rIns="36576" tIns="13716" bIns="13716" anchor="ctr">
            <a:spAutoFit/>
          </a:bodyPr>
          <a:lstStyle/>
          <a:p>
            <a:pPr>
              <a:spcAft>
                <a:spcPts val="0"/>
              </a:spcAft>
              <a:defRPr sz="1300" b="0">
                <a:solidFill>
                  <a:srgbClr val="61758A"/>
                </a:solidFill>
                <a:latin typeface="Aptos"/>
              </a:defRPr>
            </a:pPr>
            <a:r>
              <a:t>Adding the rest of a retrieved Article’s chunks.</a:t>
            </a:r>
          </a:p>
        </p:txBody>
      </p:sp>
      <p:sp>
        <p:nvSpPr>
          <p:cNvPr id="25" name="Rounded Rectangle 24"/>
          <p:cNvSpPr/>
          <p:nvPr/>
        </p:nvSpPr>
        <p:spPr>
          <a:xfrm>
            <a:off x="731520" y="4279392"/>
            <a:ext cx="10698480" cy="438912"/>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0976" y="4315968"/>
            <a:ext cx="2441448" cy="338328"/>
          </a:xfrm>
          <a:prstGeom prst="rect">
            <a:avLst/>
          </a:prstGeom>
          <a:noFill/>
        </p:spPr>
        <p:txBody>
          <a:bodyPr wrap="square" lIns="36576" rIns="36576" tIns="13716" bIns="13716" anchor="ctr">
            <a:spAutoFit/>
          </a:bodyPr>
          <a:lstStyle/>
          <a:p>
            <a:pPr>
              <a:spcAft>
                <a:spcPts val="0"/>
              </a:spcAft>
              <a:defRPr sz="1400" b="1">
                <a:solidFill>
                  <a:srgbClr val="10253F"/>
                </a:solidFill>
                <a:latin typeface="Aptos"/>
              </a:defRPr>
            </a:pPr>
            <a:r>
              <a:t>Context</a:t>
            </a:r>
          </a:p>
        </p:txBody>
      </p:sp>
      <p:sp>
        <p:nvSpPr>
          <p:cNvPr id="27" name="TextBox 26"/>
          <p:cNvSpPr txBox="1"/>
          <p:nvPr/>
        </p:nvSpPr>
        <p:spPr>
          <a:xfrm>
            <a:off x="3474720" y="4315968"/>
            <a:ext cx="7589520" cy="338328"/>
          </a:xfrm>
          <a:prstGeom prst="rect">
            <a:avLst/>
          </a:prstGeom>
          <a:noFill/>
        </p:spPr>
        <p:txBody>
          <a:bodyPr wrap="square" lIns="36576" rIns="36576" tIns="13716" bIns="13716" anchor="ctr">
            <a:spAutoFit/>
          </a:bodyPr>
          <a:lstStyle/>
          <a:p>
            <a:pPr>
              <a:spcAft>
                <a:spcPts val="0"/>
              </a:spcAft>
              <a:defRPr sz="1300" b="0">
                <a:solidFill>
                  <a:srgbClr val="61758A"/>
                </a:solidFill>
                <a:latin typeface="Aptos"/>
              </a:defRPr>
            </a:pPr>
            <a:r>
              <a:t>The evidence text supplied to the LLM.</a:t>
            </a:r>
          </a:p>
        </p:txBody>
      </p:sp>
      <p:sp>
        <p:nvSpPr>
          <p:cNvPr id="28" name="Rounded Rectangle 27"/>
          <p:cNvSpPr/>
          <p:nvPr/>
        </p:nvSpPr>
        <p:spPr>
          <a:xfrm>
            <a:off x="731520" y="4800600"/>
            <a:ext cx="10698480" cy="438912"/>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976" y="4837176"/>
            <a:ext cx="2441448" cy="338328"/>
          </a:xfrm>
          <a:prstGeom prst="rect">
            <a:avLst/>
          </a:prstGeom>
          <a:noFill/>
        </p:spPr>
        <p:txBody>
          <a:bodyPr wrap="square" lIns="36576" rIns="36576" tIns="13716" bIns="13716" anchor="ctr">
            <a:spAutoFit/>
          </a:bodyPr>
          <a:lstStyle/>
          <a:p>
            <a:pPr>
              <a:spcAft>
                <a:spcPts val="0"/>
              </a:spcAft>
              <a:defRPr sz="1400" b="1">
                <a:solidFill>
                  <a:srgbClr val="10253F"/>
                </a:solidFill>
                <a:latin typeface="Aptos"/>
              </a:defRPr>
            </a:pPr>
            <a:r>
              <a:t>Hit@K</a:t>
            </a:r>
          </a:p>
        </p:txBody>
      </p:sp>
      <p:sp>
        <p:nvSpPr>
          <p:cNvPr id="30" name="TextBox 29"/>
          <p:cNvSpPr txBox="1"/>
          <p:nvPr/>
        </p:nvSpPr>
        <p:spPr>
          <a:xfrm>
            <a:off x="3474720" y="4837176"/>
            <a:ext cx="7589520" cy="338328"/>
          </a:xfrm>
          <a:prstGeom prst="rect">
            <a:avLst/>
          </a:prstGeom>
          <a:noFill/>
        </p:spPr>
        <p:txBody>
          <a:bodyPr wrap="square" lIns="36576" rIns="36576" tIns="13716" bIns="13716" anchor="ctr">
            <a:spAutoFit/>
          </a:bodyPr>
          <a:lstStyle/>
          <a:p>
            <a:pPr>
              <a:spcAft>
                <a:spcPts val="0"/>
              </a:spcAft>
              <a:defRPr sz="1300" b="0">
                <a:solidFill>
                  <a:srgbClr val="61758A"/>
                </a:solidFill>
                <a:latin typeface="Aptos"/>
              </a:defRPr>
            </a:pPr>
            <a:r>
              <a:t>Whether the expected Article appears in the first K results.</a:t>
            </a:r>
          </a:p>
        </p:txBody>
      </p:sp>
      <p:sp>
        <p:nvSpPr>
          <p:cNvPr id="31" name="Rounded Rectangle 30"/>
          <p:cNvSpPr/>
          <p:nvPr/>
        </p:nvSpPr>
        <p:spPr>
          <a:xfrm>
            <a:off x="731520" y="5321808"/>
            <a:ext cx="10698480" cy="438912"/>
          </a:xfrm>
          <a:prstGeom prst="roundRect">
            <a:avLst>
              <a:gd name="adj" fmla="val 16000"/>
            </a:avLst>
          </a:prstGeom>
          <a:solidFill>
            <a:srgbClr val="FFFFFF"/>
          </a:solidFill>
          <a:ln w="12700">
            <a:solidFill>
              <a:srgbClr val="DC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50976" y="5358384"/>
            <a:ext cx="2441448" cy="338328"/>
          </a:xfrm>
          <a:prstGeom prst="rect">
            <a:avLst/>
          </a:prstGeom>
          <a:noFill/>
        </p:spPr>
        <p:txBody>
          <a:bodyPr wrap="square" lIns="36576" rIns="36576" tIns="13716" bIns="13716" anchor="ctr">
            <a:spAutoFit/>
          </a:bodyPr>
          <a:lstStyle/>
          <a:p>
            <a:pPr>
              <a:spcAft>
                <a:spcPts val="0"/>
              </a:spcAft>
              <a:defRPr sz="1400" b="1">
                <a:solidFill>
                  <a:srgbClr val="10253F"/>
                </a:solidFill>
                <a:latin typeface="Aptos"/>
              </a:defRPr>
            </a:pPr>
            <a:r>
              <a:t>Grounding</a:t>
            </a:r>
          </a:p>
        </p:txBody>
      </p:sp>
      <p:sp>
        <p:nvSpPr>
          <p:cNvPr id="33" name="TextBox 32"/>
          <p:cNvSpPr txBox="1"/>
          <p:nvPr/>
        </p:nvSpPr>
        <p:spPr>
          <a:xfrm>
            <a:off x="3474720" y="5358384"/>
            <a:ext cx="7589520" cy="338328"/>
          </a:xfrm>
          <a:prstGeom prst="rect">
            <a:avLst/>
          </a:prstGeom>
          <a:noFill/>
        </p:spPr>
        <p:txBody>
          <a:bodyPr wrap="square" lIns="36576" rIns="36576" tIns="13716" bIns="13716" anchor="ctr">
            <a:spAutoFit/>
          </a:bodyPr>
          <a:lstStyle/>
          <a:p>
            <a:pPr>
              <a:spcAft>
                <a:spcPts val="0"/>
              </a:spcAft>
              <a:defRPr sz="1300" b="0">
                <a:solidFill>
                  <a:srgbClr val="61758A"/>
                </a:solidFill>
                <a:latin typeface="Aptos"/>
              </a:defRPr>
            </a:pPr>
            <a:r>
              <a:t>Instructing the LLM to base its answer on supplied sources.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EU AI Act RAG Assistant — Technical Interview Presentation</dc:title>
  <dc:subject>RAG pipeline, retrieval evaluation, case studies and engineering decisions</dc:subject>
  <dc:creator/>
  <cp:keywords>RAG, FAISS, BGE, EU AI Act, Groq, NLP</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